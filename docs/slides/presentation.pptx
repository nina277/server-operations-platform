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自宅サーバーの運用を、人が見ていない時間帯でも安全に進める仕組みを作りました。実装だけでなく、実際に配置して検証した過程で分かったことを中心に話します。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個人や小規模でサーバーを運用すると、この4つが同時に起きます。監視基盤は検知までは解決しますが、その後の判断と復旧は人に残ります。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全自動で何でも直すことは目指していません。間違った自動操作は障害より重い被害を出すためです。このシステムの中心は、自動化の範囲をどう絞るかという設計にあります。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外部に開くのは8080の1ポートだけです。Dockerへの経路はSocket Proxyに限り、webとapiにはdocker.sockを渡していません。apiは認証と参照だけを担い、収集と復旧の実行はworkerが行います。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ここからが設計の中心です。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に診断させる以上、応答が操作につながる経路は攻撃対象になります。そこで実行できる操作を4つに固定し、この一覧にないアクションIDは受け付けないようにしました。危険なコマンドを弾くのではなく、通す経路そのものを作らない形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自動復旧が動くのは、この6つをすべて満たすときだけです。1つでも欠ければ実行せず、止めた理由を監査に残します。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収集した値をルールで判定し、当たらなかったものだけAIへ回します。費用と情報漏れを抑えるためです。同じ障害は障害署名で1件に集約します。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検証は2層に分けました。自動試験は判断の筋道までしか保証しません。この分離は結果的に正しく、780件が全部緑の状態で配置すると起動しない不具合が4件ありました。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検証専用VMでの通し実行で、成功基準9項目すべてを達成しました。数値の突き合わせも目視ではなく判定に落としています。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ここからが、この研究で最も価値があると考えている部分です。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配置して初めて出た4件です。いずれも起動しない種類で、1件でも残ればシステムは動きません。自動試験はこれらを1つも見ていませんでした。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ログ抜粋は停止したコンテナからしか取っておらず、動き続けたままエラーを出すコンテナは永久に読まれませんでした。修正しましたが、ここから自動復旧は呼びません。ログは監視対象が自由に書ける値だから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これが一番重い発見です。基準6は一度も注入を試さずに達成と出ていました。守りを1つ入れただけでは足りず、どの判定がどの材料に依っているかを個別に確かめる必要がありました。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healthcheckは検知しますが、Docker Composeはunhealthyなコンテナを再起動しません。つまり他のサービスのハングは直せても、自分自身のハングからは自力で戻れません。自律運用システムとしての構造的な限界です。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自動試験は判断の筋道しか保証しません。さらに、検証そのものが空振りしていても気づけませんでした。自律的に運用を支援するシステムを作るうえで、確かめたつもりをどう潰すかが機能を増やすことより重要で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付録です。質疑で技術選定を聞かれた場合に使います。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付録です。質疑で不具合の詳細を聞かれた場合に使います。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E2B"/>
        </a:solidFill>
      </p:bgPr>
    </p:bg>
    <p:spTree>
      <p:nvGrpSpPr>
        <p:cNvPr id="1" name=""/>
        <p:cNvGrpSpPr/>
        <p:nvPr/>
      </p:nvGrpSpPr>
      <p:grpSpPr>
        <a:xfrm>
          <a:off x="0" y="0"/>
          <a:ext cx="0" cy="0"/>
          <a:chOff x="0" y="0"/>
          <a:chExt cx="0" cy="0"/>
        </a:xfrm>
      </p:grpSpPr>
      <p:sp>
        <p:nvSpPr>
          <p:cNvPr id="2" name="Text 0"/>
          <p:cNvSpPr/>
          <p:nvPr/>
        </p:nvSpPr>
        <p:spPr>
          <a:xfrm>
            <a:off x="640080" y="1965960"/>
            <a:ext cx="10515600" cy="91440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自律型サーバー運用支援システム</a:t>
            </a:r>
            <a:endParaRPr lang="en-US" sz="4000" dirty="0"/>
          </a:p>
        </p:txBody>
      </p:sp>
      <p:sp>
        <p:nvSpPr>
          <p:cNvPr id="3" name="Text 1"/>
          <p:cNvSpPr/>
          <p:nvPr/>
        </p:nvSpPr>
        <p:spPr>
          <a:xfrm>
            <a:off x="640080" y="2971800"/>
            <a:ext cx="10058400" cy="457200"/>
          </a:xfrm>
          <a:prstGeom prst="rect">
            <a:avLst/>
          </a:prstGeom>
          <a:noFill/>
          <a:ln/>
        </p:spPr>
        <p:txBody>
          <a:bodyPr wrap="square" lIns="0" tIns="0" rIns="0" bIns="0" rtlCol="0" anchor="ctr"/>
          <a:lstStyle/>
          <a:p>
            <a:pPr indent="0" marL="0">
              <a:buNone/>
            </a:pPr>
            <a:r>
              <a:rPr lang="en-US" sz="1500" dirty="0">
                <a:solidFill>
                  <a:srgbClr val="A9BCCC"/>
                </a:solidFill>
                <a:latin typeface="Meiryo" pitchFamily="34" charset="0"/>
                <a:ea typeface="Meiryo" pitchFamily="34" charset="-122"/>
                <a:cs typeface="Meiryo" pitchFamily="34" charset="-120"/>
              </a:rPr>
              <a:t>Dockerを中心とする自宅サーバーの、検知から復旧までを安全な範囲で自動化する</a:t>
            </a:r>
            <a:endParaRPr lang="en-US" sz="1500" dirty="0"/>
          </a:p>
        </p:txBody>
      </p:sp>
      <p:sp>
        <p:nvSpPr>
          <p:cNvPr id="4" name="Text 2"/>
          <p:cNvSpPr/>
          <p:nvPr/>
        </p:nvSpPr>
        <p:spPr>
          <a:xfrm>
            <a:off x="640080" y="4160520"/>
            <a:ext cx="2377440" cy="640080"/>
          </a:xfrm>
          <a:prstGeom prst="rect">
            <a:avLst/>
          </a:prstGeom>
          <a:noFill/>
          <a:ln/>
        </p:spPr>
        <p:txBody>
          <a:bodyPr wrap="square" lIns="0" tIns="0" rIns="0" bIns="0" rtlCol="0" anchor="ctr"/>
          <a:lstStyle/>
          <a:p>
            <a:pPr indent="0" marL="0">
              <a:buNone/>
            </a:pPr>
            <a:r>
              <a:rPr lang="en-US" sz="3200" b="1" dirty="0">
                <a:solidFill>
                  <a:srgbClr val="FFFFFF"/>
                </a:solidFill>
                <a:latin typeface="Meiryo" pitchFamily="34" charset="0"/>
                <a:ea typeface="Meiryo" pitchFamily="34" charset="-122"/>
                <a:cs typeface="Meiryo" pitchFamily="34" charset="-120"/>
              </a:rPr>
              <a:t>811</a:t>
            </a:r>
            <a:endParaRPr lang="en-US" sz="3200" dirty="0"/>
          </a:p>
        </p:txBody>
      </p:sp>
      <p:sp>
        <p:nvSpPr>
          <p:cNvPr id="5" name="Text 3"/>
          <p:cNvSpPr/>
          <p:nvPr/>
        </p:nvSpPr>
        <p:spPr>
          <a:xfrm>
            <a:off x="640080" y="4800600"/>
            <a:ext cx="2377440" cy="320040"/>
          </a:xfrm>
          <a:prstGeom prst="rect">
            <a:avLst/>
          </a:prstGeom>
          <a:noFill/>
          <a:ln/>
        </p:spPr>
        <p:txBody>
          <a:bodyPr wrap="square" lIns="0" tIns="0" rIns="0" bIns="0" rtlCol="0" anchor="ctr"/>
          <a:lstStyle/>
          <a:p>
            <a:pPr indent="0" marL="0">
              <a:buNone/>
            </a:pPr>
            <a:r>
              <a:rPr lang="en-US" sz="1100" dirty="0">
                <a:solidFill>
                  <a:srgbClr val="8DA2B5"/>
                </a:solidFill>
                <a:latin typeface="Meiryo" pitchFamily="34" charset="0"/>
                <a:ea typeface="Meiryo" pitchFamily="34" charset="-122"/>
                <a:cs typeface="Meiryo" pitchFamily="34" charset="-120"/>
              </a:rPr>
              <a:t>サーバー試験</a:t>
            </a:r>
            <a:endParaRPr lang="en-US" sz="1100" dirty="0"/>
          </a:p>
        </p:txBody>
      </p:sp>
      <p:sp>
        <p:nvSpPr>
          <p:cNvPr id="6" name="Text 4"/>
          <p:cNvSpPr/>
          <p:nvPr/>
        </p:nvSpPr>
        <p:spPr>
          <a:xfrm>
            <a:off x="3246120" y="4160520"/>
            <a:ext cx="2377440" cy="640080"/>
          </a:xfrm>
          <a:prstGeom prst="rect">
            <a:avLst/>
          </a:prstGeom>
          <a:noFill/>
          <a:ln/>
        </p:spPr>
        <p:txBody>
          <a:bodyPr wrap="square" lIns="0" tIns="0" rIns="0" bIns="0" rtlCol="0" anchor="ctr"/>
          <a:lstStyle/>
          <a:p>
            <a:pPr indent="0" marL="0">
              <a:buNone/>
            </a:pPr>
            <a:r>
              <a:rPr lang="en-US" sz="3200" b="1" dirty="0">
                <a:solidFill>
                  <a:srgbClr val="FFFFFF"/>
                </a:solidFill>
                <a:latin typeface="Meiryo" pitchFamily="34" charset="0"/>
                <a:ea typeface="Meiryo" pitchFamily="34" charset="-122"/>
                <a:cs typeface="Meiryo" pitchFamily="34" charset="-120"/>
              </a:rPr>
              <a:t>278</a:t>
            </a:r>
            <a:endParaRPr lang="en-US" sz="3200" dirty="0"/>
          </a:p>
        </p:txBody>
      </p:sp>
      <p:sp>
        <p:nvSpPr>
          <p:cNvPr id="7" name="Text 5"/>
          <p:cNvSpPr/>
          <p:nvPr/>
        </p:nvSpPr>
        <p:spPr>
          <a:xfrm>
            <a:off x="3246120" y="4800600"/>
            <a:ext cx="2377440" cy="320040"/>
          </a:xfrm>
          <a:prstGeom prst="rect">
            <a:avLst/>
          </a:prstGeom>
          <a:noFill/>
          <a:ln/>
        </p:spPr>
        <p:txBody>
          <a:bodyPr wrap="square" lIns="0" tIns="0" rIns="0" bIns="0" rtlCol="0" anchor="ctr"/>
          <a:lstStyle/>
          <a:p>
            <a:pPr indent="0" marL="0">
              <a:buNone/>
            </a:pPr>
            <a:r>
              <a:rPr lang="en-US" sz="1100" dirty="0">
                <a:solidFill>
                  <a:srgbClr val="8DA2B5"/>
                </a:solidFill>
                <a:latin typeface="Meiryo" pitchFamily="34" charset="0"/>
                <a:ea typeface="Meiryo" pitchFamily="34" charset="-122"/>
                <a:cs typeface="Meiryo" pitchFamily="34" charset="-120"/>
              </a:rPr>
              <a:t>画面試験</a:t>
            </a:r>
            <a:endParaRPr lang="en-US" sz="1100" dirty="0"/>
          </a:p>
        </p:txBody>
      </p:sp>
      <p:sp>
        <p:nvSpPr>
          <p:cNvPr id="8" name="Text 6"/>
          <p:cNvSpPr/>
          <p:nvPr/>
        </p:nvSpPr>
        <p:spPr>
          <a:xfrm>
            <a:off x="5852160" y="4160520"/>
            <a:ext cx="2377440" cy="640080"/>
          </a:xfrm>
          <a:prstGeom prst="rect">
            <a:avLst/>
          </a:prstGeom>
          <a:noFill/>
          <a:ln/>
        </p:spPr>
        <p:txBody>
          <a:bodyPr wrap="square" lIns="0" tIns="0" rIns="0" bIns="0" rtlCol="0" anchor="ctr"/>
          <a:lstStyle/>
          <a:p>
            <a:pPr indent="0" marL="0">
              <a:buNone/>
            </a:pPr>
            <a:r>
              <a:rPr lang="en-US" sz="3200" b="1" dirty="0">
                <a:solidFill>
                  <a:srgbClr val="FFFFFF"/>
                </a:solidFill>
                <a:latin typeface="Meiryo" pitchFamily="34" charset="0"/>
                <a:ea typeface="Meiryo" pitchFamily="34" charset="-122"/>
                <a:cs typeface="Meiryo" pitchFamily="34" charset="-120"/>
              </a:rPr>
              <a:t>9 / 9</a:t>
            </a:r>
            <a:endParaRPr lang="en-US" sz="3200" dirty="0"/>
          </a:p>
        </p:txBody>
      </p:sp>
      <p:sp>
        <p:nvSpPr>
          <p:cNvPr id="9" name="Text 7"/>
          <p:cNvSpPr/>
          <p:nvPr/>
        </p:nvSpPr>
        <p:spPr>
          <a:xfrm>
            <a:off x="5852160" y="4800600"/>
            <a:ext cx="2377440" cy="320040"/>
          </a:xfrm>
          <a:prstGeom prst="rect">
            <a:avLst/>
          </a:prstGeom>
          <a:noFill/>
          <a:ln/>
        </p:spPr>
        <p:txBody>
          <a:bodyPr wrap="square" lIns="0" tIns="0" rIns="0" bIns="0" rtlCol="0" anchor="ctr"/>
          <a:lstStyle/>
          <a:p>
            <a:pPr indent="0" marL="0">
              <a:buNone/>
            </a:pPr>
            <a:r>
              <a:rPr lang="en-US" sz="1100" dirty="0">
                <a:solidFill>
                  <a:srgbClr val="8DA2B5"/>
                </a:solidFill>
                <a:latin typeface="Meiryo" pitchFamily="34" charset="0"/>
                <a:ea typeface="Meiryo" pitchFamily="34" charset="-122"/>
                <a:cs typeface="Meiryo" pitchFamily="34" charset="-120"/>
              </a:rPr>
              <a:t>成功基準</a:t>
            </a:r>
            <a:endParaRPr lang="en-US" sz="1100" dirty="0"/>
          </a:p>
        </p:txBody>
      </p:sp>
      <p:sp>
        <p:nvSpPr>
          <p:cNvPr id="10" name="Text 8"/>
          <p:cNvSpPr/>
          <p:nvPr/>
        </p:nvSpPr>
        <p:spPr>
          <a:xfrm>
            <a:off x="8458200" y="4160520"/>
            <a:ext cx="2377440" cy="640080"/>
          </a:xfrm>
          <a:prstGeom prst="rect">
            <a:avLst/>
          </a:prstGeom>
          <a:noFill/>
          <a:ln/>
        </p:spPr>
        <p:txBody>
          <a:bodyPr wrap="square" lIns="0" tIns="0" rIns="0" bIns="0" rtlCol="0" anchor="ctr"/>
          <a:lstStyle/>
          <a:p>
            <a:pPr indent="0" marL="0">
              <a:buNone/>
            </a:pPr>
            <a:r>
              <a:rPr lang="en-US" sz="3200" b="1" dirty="0">
                <a:solidFill>
                  <a:srgbClr val="C4471F"/>
                </a:solidFill>
                <a:latin typeface="Meiryo" pitchFamily="34" charset="0"/>
                <a:ea typeface="Meiryo" pitchFamily="34" charset="-122"/>
                <a:cs typeface="Meiryo" pitchFamily="34" charset="-120"/>
              </a:rPr>
              <a:t>10</a:t>
            </a:r>
            <a:endParaRPr lang="en-US" sz="3200" dirty="0"/>
          </a:p>
        </p:txBody>
      </p:sp>
      <p:sp>
        <p:nvSpPr>
          <p:cNvPr id="11" name="Text 9"/>
          <p:cNvSpPr/>
          <p:nvPr/>
        </p:nvSpPr>
        <p:spPr>
          <a:xfrm>
            <a:off x="8458200" y="4800600"/>
            <a:ext cx="2377440" cy="320040"/>
          </a:xfrm>
          <a:prstGeom prst="rect">
            <a:avLst/>
          </a:prstGeom>
          <a:noFill/>
          <a:ln/>
        </p:spPr>
        <p:txBody>
          <a:bodyPr wrap="square" lIns="0" tIns="0" rIns="0" bIns="0" rtlCol="0" anchor="ctr"/>
          <a:lstStyle/>
          <a:p>
            <a:pPr indent="0" marL="0">
              <a:buNone/>
            </a:pPr>
            <a:r>
              <a:rPr lang="en-US" sz="1100" dirty="0">
                <a:solidFill>
                  <a:srgbClr val="8DA2B5"/>
                </a:solidFill>
                <a:latin typeface="Meiryo" pitchFamily="34" charset="0"/>
                <a:ea typeface="Meiryo" pitchFamily="34" charset="-122"/>
                <a:cs typeface="Meiryo" pitchFamily="34" charset="-120"/>
              </a:rPr>
              <a:t>実環境で見つけた不具合</a:t>
            </a:r>
            <a:endParaRPr lang="en-US" sz="1100" dirty="0"/>
          </a:p>
        </p:txBody>
      </p:sp>
      <p:sp>
        <p:nvSpPr>
          <p:cNvPr id="12" name="Text 10"/>
          <p:cNvSpPr/>
          <p:nvPr/>
        </p:nvSpPr>
        <p:spPr>
          <a:xfrm>
            <a:off x="640080" y="5943600"/>
            <a:ext cx="5486400" cy="274320"/>
          </a:xfrm>
          <a:prstGeom prst="rect">
            <a:avLst/>
          </a:prstGeom>
          <a:noFill/>
          <a:ln/>
        </p:spPr>
        <p:txBody>
          <a:bodyPr wrap="square" lIns="0" tIns="0" rIns="0" bIns="0" rtlCol="0" anchor="ctr"/>
          <a:lstStyle/>
          <a:p>
            <a:pPr indent="0" marL="0">
              <a:buNone/>
            </a:pPr>
            <a:r>
              <a:rPr lang="en-US" sz="1200" dirty="0">
                <a:solidFill>
                  <a:srgbClr val="6C8296"/>
                </a:solidFill>
                <a:latin typeface="Meiryo" pitchFamily="34" charset="0"/>
                <a:ea typeface="Meiryo" pitchFamily="34" charset="-122"/>
                <a:cs typeface="Meiryo" pitchFamily="34" charset="-120"/>
              </a:rPr>
              <a:t>卒業制作</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7315200" cy="274320"/>
          </a:xfrm>
          <a:prstGeom prst="rect">
            <a:avLst/>
          </a:prstGeom>
          <a:noFill/>
          <a:ln/>
        </p:spPr>
        <p:txBody>
          <a:bodyPr wrap="square" lIns="0" tIns="0" rIns="0" bIns="0" rtlCol="0" anchor="ctr"/>
          <a:lstStyle/>
          <a:p>
            <a:pPr indent="0" marL="0">
              <a:buNone/>
            </a:pPr>
            <a:r>
              <a:rPr lang="en-US" sz="1200" b="1" spc="200" kern="0" dirty="0">
                <a:solidFill>
                  <a:srgbClr val="C4471F"/>
                </a:solidFill>
                <a:latin typeface="Meiryo" pitchFamily="34" charset="0"/>
                <a:ea typeface="Meiryo" pitchFamily="34" charset="-122"/>
                <a:cs typeface="Meiryo" pitchFamily="34" charset="-120"/>
              </a:rPr>
              <a:t>背景</a:t>
            </a:r>
            <a:endParaRPr lang="en-US" sz="12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3000" b="1" dirty="0">
                <a:solidFill>
                  <a:srgbClr val="0F1E2B"/>
                </a:solidFill>
                <a:latin typeface="Meiryo" pitchFamily="34" charset="0"/>
                <a:ea typeface="Meiryo" pitchFamily="34" charset="-122"/>
                <a:cs typeface="Meiryo" pitchFamily="34" charset="-120"/>
              </a:rPr>
              <a:t>個人が運用するサーバーで、同時に起きること</a:t>
            </a:r>
            <a:endParaRPr lang="en-US" sz="3000" dirty="0"/>
          </a:p>
        </p:txBody>
      </p:sp>
      <p:sp>
        <p:nvSpPr>
          <p:cNvPr id="4" name="Shape 2"/>
          <p:cNvSpPr/>
          <p:nvPr/>
        </p:nvSpPr>
        <p:spPr>
          <a:xfrm>
            <a:off x="640080" y="1691640"/>
            <a:ext cx="420624" cy="420624"/>
          </a:xfrm>
          <a:prstGeom prst="ellipse">
            <a:avLst/>
          </a:prstGeom>
          <a:solidFill>
            <a:srgbClr val="FBE9E2"/>
          </a:solidFill>
          <a:ln w="12700">
            <a:solidFill>
              <a:srgbClr val="FBE9E2"/>
            </a:solidFill>
            <a:prstDash val="solid"/>
          </a:ln>
        </p:spPr>
      </p:sp>
      <p:sp>
        <p:nvSpPr>
          <p:cNvPr id="5" name="Text 3"/>
          <p:cNvSpPr/>
          <p:nvPr/>
        </p:nvSpPr>
        <p:spPr>
          <a:xfrm>
            <a:off x="640080" y="1691640"/>
            <a:ext cx="420624" cy="420624"/>
          </a:xfrm>
          <a:prstGeom prst="rect">
            <a:avLst/>
          </a:prstGeom>
          <a:noFill/>
          <a:ln/>
        </p:spPr>
        <p:txBody>
          <a:bodyPr wrap="square" lIns="0" tIns="0" rIns="0" bIns="0" rtlCol="0" anchor="ctr"/>
          <a:lstStyle/>
          <a:p>
            <a:pPr algn="ctr" indent="0" marL="0">
              <a:buNone/>
            </a:pPr>
            <a:r>
              <a:rPr lang="en-US" sz="1400" b="1" dirty="0">
                <a:solidFill>
                  <a:srgbClr val="C4471F"/>
                </a:solidFill>
                <a:latin typeface="Meiryo" pitchFamily="34" charset="0"/>
                <a:ea typeface="Meiryo" pitchFamily="34" charset="-122"/>
                <a:cs typeface="Meiryo" pitchFamily="34" charset="-120"/>
              </a:rPr>
              <a:t>1</a:t>
            </a:r>
            <a:endParaRPr lang="en-US" sz="1400" dirty="0"/>
          </a:p>
        </p:txBody>
      </p:sp>
      <p:sp>
        <p:nvSpPr>
          <p:cNvPr id="6" name="Text 4"/>
          <p:cNvSpPr/>
          <p:nvPr/>
        </p:nvSpPr>
        <p:spPr>
          <a:xfrm>
            <a:off x="1298448" y="1664208"/>
            <a:ext cx="5669280" cy="320040"/>
          </a:xfrm>
          <a:prstGeom prst="rect">
            <a:avLst/>
          </a:prstGeom>
          <a:noFill/>
          <a:ln/>
        </p:spPr>
        <p:txBody>
          <a:bodyPr wrap="square" lIns="0" tIns="0" rIns="0" bIns="0" rtlCol="0" anchor="ctr"/>
          <a:lstStyle/>
          <a:p>
            <a:pPr indent="0" marL="0">
              <a:buNone/>
            </a:pPr>
            <a:r>
              <a:rPr lang="en-US" sz="1600" b="1" dirty="0">
                <a:solidFill>
                  <a:srgbClr val="0F1E2B"/>
                </a:solidFill>
                <a:latin typeface="Meiryo" pitchFamily="34" charset="0"/>
                <a:ea typeface="Meiryo" pitchFamily="34" charset="-122"/>
                <a:cs typeface="Meiryo" pitchFamily="34" charset="-120"/>
              </a:rPr>
              <a:t>見ていない時間が長い</a:t>
            </a:r>
            <a:endParaRPr lang="en-US" sz="1600" dirty="0"/>
          </a:p>
        </p:txBody>
      </p:sp>
      <p:sp>
        <p:nvSpPr>
          <p:cNvPr id="7" name="Text 5"/>
          <p:cNvSpPr/>
          <p:nvPr/>
        </p:nvSpPr>
        <p:spPr>
          <a:xfrm>
            <a:off x="1298448" y="1965960"/>
            <a:ext cx="5669280" cy="292608"/>
          </a:xfrm>
          <a:prstGeom prst="rect">
            <a:avLst/>
          </a:prstGeom>
          <a:noFill/>
          <a:ln/>
        </p:spPr>
        <p:txBody>
          <a:bodyPr wrap="square" lIns="0" tIns="0" rIns="0" bIns="0" rtlCol="0" anchor="ctr"/>
          <a:lstStyle/>
          <a:p>
            <a:pPr indent="0" marL="0">
              <a:buNone/>
            </a:pPr>
            <a:r>
              <a:rPr lang="en-US" sz="1200" dirty="0">
                <a:solidFill>
                  <a:srgbClr val="5E7183"/>
                </a:solidFill>
                <a:latin typeface="Meiryo" pitchFamily="34" charset="0"/>
                <a:ea typeface="Meiryo" pitchFamily="34" charset="-122"/>
                <a:cs typeface="Meiryo" pitchFamily="34" charset="-120"/>
              </a:rPr>
              <a:t>常時監視する人手が無い</a:t>
            </a:r>
            <a:endParaRPr lang="en-US" sz="1200" dirty="0"/>
          </a:p>
        </p:txBody>
      </p:sp>
      <p:sp>
        <p:nvSpPr>
          <p:cNvPr id="8" name="Shape 6"/>
          <p:cNvSpPr/>
          <p:nvPr/>
        </p:nvSpPr>
        <p:spPr>
          <a:xfrm>
            <a:off x="640080" y="2587752"/>
            <a:ext cx="420624" cy="420624"/>
          </a:xfrm>
          <a:prstGeom prst="ellipse">
            <a:avLst/>
          </a:prstGeom>
          <a:solidFill>
            <a:srgbClr val="FBE9E2"/>
          </a:solidFill>
          <a:ln w="12700">
            <a:solidFill>
              <a:srgbClr val="FBE9E2"/>
            </a:solidFill>
            <a:prstDash val="solid"/>
          </a:ln>
        </p:spPr>
      </p:sp>
      <p:sp>
        <p:nvSpPr>
          <p:cNvPr id="9" name="Text 7"/>
          <p:cNvSpPr/>
          <p:nvPr/>
        </p:nvSpPr>
        <p:spPr>
          <a:xfrm>
            <a:off x="640080" y="2587752"/>
            <a:ext cx="420624" cy="420624"/>
          </a:xfrm>
          <a:prstGeom prst="rect">
            <a:avLst/>
          </a:prstGeom>
          <a:noFill/>
          <a:ln/>
        </p:spPr>
        <p:txBody>
          <a:bodyPr wrap="square" lIns="0" tIns="0" rIns="0" bIns="0" rtlCol="0" anchor="ctr"/>
          <a:lstStyle/>
          <a:p>
            <a:pPr algn="ctr" indent="0" marL="0">
              <a:buNone/>
            </a:pPr>
            <a:r>
              <a:rPr lang="en-US" sz="1400" b="1" dirty="0">
                <a:solidFill>
                  <a:srgbClr val="C4471F"/>
                </a:solidFill>
                <a:latin typeface="Meiryo" pitchFamily="34" charset="0"/>
                <a:ea typeface="Meiryo" pitchFamily="34" charset="-122"/>
                <a:cs typeface="Meiryo" pitchFamily="34" charset="-120"/>
              </a:rPr>
              <a:t>2</a:t>
            </a:r>
            <a:endParaRPr lang="en-US" sz="1400" dirty="0"/>
          </a:p>
        </p:txBody>
      </p:sp>
      <p:sp>
        <p:nvSpPr>
          <p:cNvPr id="10" name="Text 8"/>
          <p:cNvSpPr/>
          <p:nvPr/>
        </p:nvSpPr>
        <p:spPr>
          <a:xfrm>
            <a:off x="1298448" y="2560320"/>
            <a:ext cx="5669280" cy="320040"/>
          </a:xfrm>
          <a:prstGeom prst="rect">
            <a:avLst/>
          </a:prstGeom>
          <a:noFill/>
          <a:ln/>
        </p:spPr>
        <p:txBody>
          <a:bodyPr wrap="square" lIns="0" tIns="0" rIns="0" bIns="0" rtlCol="0" anchor="ctr"/>
          <a:lstStyle/>
          <a:p>
            <a:pPr indent="0" marL="0">
              <a:buNone/>
            </a:pPr>
            <a:r>
              <a:rPr lang="en-US" sz="1600" b="1" dirty="0">
                <a:solidFill>
                  <a:srgbClr val="0F1E2B"/>
                </a:solidFill>
                <a:latin typeface="Meiryo" pitchFamily="34" charset="0"/>
                <a:ea typeface="Meiryo" pitchFamily="34" charset="-122"/>
                <a:cs typeface="Meiryo" pitchFamily="34" charset="-120"/>
              </a:rPr>
              <a:t>落ちても気づかない</a:t>
            </a:r>
            <a:endParaRPr lang="en-US" sz="1600" dirty="0"/>
          </a:p>
        </p:txBody>
      </p:sp>
      <p:sp>
        <p:nvSpPr>
          <p:cNvPr id="11" name="Text 9"/>
          <p:cNvSpPr/>
          <p:nvPr/>
        </p:nvSpPr>
        <p:spPr>
          <a:xfrm>
            <a:off x="1298448" y="2862072"/>
            <a:ext cx="5669280" cy="292608"/>
          </a:xfrm>
          <a:prstGeom prst="rect">
            <a:avLst/>
          </a:prstGeom>
          <a:noFill/>
          <a:ln/>
        </p:spPr>
        <p:txBody>
          <a:bodyPr wrap="square" lIns="0" tIns="0" rIns="0" bIns="0" rtlCol="0" anchor="ctr"/>
          <a:lstStyle/>
          <a:p>
            <a:pPr indent="0" marL="0">
              <a:buNone/>
            </a:pPr>
            <a:r>
              <a:rPr lang="en-US" sz="1200" dirty="0">
                <a:solidFill>
                  <a:srgbClr val="5E7183"/>
                </a:solidFill>
                <a:latin typeface="Meiryo" pitchFamily="34" charset="0"/>
                <a:ea typeface="Meiryo" pitchFamily="34" charset="-122"/>
                <a:cs typeface="Meiryo" pitchFamily="34" charset="-120"/>
              </a:rPr>
              <a:t>気づくのは使おうとしたとき。それまで止まったまま</a:t>
            </a:r>
            <a:endParaRPr lang="en-US" sz="1200" dirty="0"/>
          </a:p>
        </p:txBody>
      </p:sp>
      <p:sp>
        <p:nvSpPr>
          <p:cNvPr id="12" name="Shape 10"/>
          <p:cNvSpPr/>
          <p:nvPr/>
        </p:nvSpPr>
        <p:spPr>
          <a:xfrm>
            <a:off x="640080" y="3483864"/>
            <a:ext cx="420624" cy="420624"/>
          </a:xfrm>
          <a:prstGeom prst="ellipse">
            <a:avLst/>
          </a:prstGeom>
          <a:solidFill>
            <a:srgbClr val="FBE9E2"/>
          </a:solidFill>
          <a:ln w="12700">
            <a:solidFill>
              <a:srgbClr val="FBE9E2"/>
            </a:solidFill>
            <a:prstDash val="solid"/>
          </a:ln>
        </p:spPr>
      </p:sp>
      <p:sp>
        <p:nvSpPr>
          <p:cNvPr id="13" name="Text 11"/>
          <p:cNvSpPr/>
          <p:nvPr/>
        </p:nvSpPr>
        <p:spPr>
          <a:xfrm>
            <a:off x="640080" y="3483864"/>
            <a:ext cx="420624" cy="420624"/>
          </a:xfrm>
          <a:prstGeom prst="rect">
            <a:avLst/>
          </a:prstGeom>
          <a:noFill/>
          <a:ln/>
        </p:spPr>
        <p:txBody>
          <a:bodyPr wrap="square" lIns="0" tIns="0" rIns="0" bIns="0" rtlCol="0" anchor="ctr"/>
          <a:lstStyle/>
          <a:p>
            <a:pPr algn="ctr" indent="0" marL="0">
              <a:buNone/>
            </a:pPr>
            <a:r>
              <a:rPr lang="en-US" sz="1400" b="1" dirty="0">
                <a:solidFill>
                  <a:srgbClr val="C4471F"/>
                </a:solidFill>
                <a:latin typeface="Meiryo" pitchFamily="34" charset="0"/>
                <a:ea typeface="Meiryo" pitchFamily="34" charset="-122"/>
                <a:cs typeface="Meiryo" pitchFamily="34" charset="-120"/>
              </a:rPr>
              <a:t>3</a:t>
            </a:r>
            <a:endParaRPr lang="en-US" sz="1400" dirty="0"/>
          </a:p>
        </p:txBody>
      </p:sp>
      <p:sp>
        <p:nvSpPr>
          <p:cNvPr id="14" name="Text 12"/>
          <p:cNvSpPr/>
          <p:nvPr/>
        </p:nvSpPr>
        <p:spPr>
          <a:xfrm>
            <a:off x="1298448" y="3456432"/>
            <a:ext cx="5669280" cy="320040"/>
          </a:xfrm>
          <a:prstGeom prst="rect">
            <a:avLst/>
          </a:prstGeom>
          <a:noFill/>
          <a:ln/>
        </p:spPr>
        <p:txBody>
          <a:bodyPr wrap="square" lIns="0" tIns="0" rIns="0" bIns="0" rtlCol="0" anchor="ctr"/>
          <a:lstStyle/>
          <a:p>
            <a:pPr indent="0" marL="0">
              <a:buNone/>
            </a:pPr>
            <a:r>
              <a:rPr lang="en-US" sz="1600" b="1" dirty="0">
                <a:solidFill>
                  <a:srgbClr val="0F1E2B"/>
                </a:solidFill>
                <a:latin typeface="Meiryo" pitchFamily="34" charset="0"/>
                <a:ea typeface="Meiryo" pitchFamily="34" charset="-122"/>
                <a:cs typeface="Meiryo" pitchFamily="34" charset="-120"/>
              </a:rPr>
              <a:t>原因を調べる知識と時間が要る</a:t>
            </a:r>
            <a:endParaRPr lang="en-US" sz="1600" dirty="0"/>
          </a:p>
        </p:txBody>
      </p:sp>
      <p:sp>
        <p:nvSpPr>
          <p:cNvPr id="15" name="Text 13"/>
          <p:cNvSpPr/>
          <p:nvPr/>
        </p:nvSpPr>
        <p:spPr>
          <a:xfrm>
            <a:off x="1298448" y="3758184"/>
            <a:ext cx="5669280" cy="292608"/>
          </a:xfrm>
          <a:prstGeom prst="rect">
            <a:avLst/>
          </a:prstGeom>
          <a:noFill/>
          <a:ln/>
        </p:spPr>
        <p:txBody>
          <a:bodyPr wrap="square" lIns="0" tIns="0" rIns="0" bIns="0" rtlCol="0" anchor="ctr"/>
          <a:lstStyle/>
          <a:p>
            <a:pPr indent="0" marL="0">
              <a:buNone/>
            </a:pPr>
            <a:r>
              <a:rPr lang="en-US" sz="1200" dirty="0">
                <a:solidFill>
                  <a:srgbClr val="5E7183"/>
                </a:solidFill>
                <a:latin typeface="Meiryo" pitchFamily="34" charset="0"/>
                <a:ea typeface="Meiryo" pitchFamily="34" charset="-122"/>
                <a:cs typeface="Meiryo" pitchFamily="34" charset="-120"/>
              </a:rPr>
              <a:t>ログを読み、何が起きたかを判断する必要がある</a:t>
            </a:r>
            <a:endParaRPr lang="en-US" sz="1200" dirty="0"/>
          </a:p>
        </p:txBody>
      </p:sp>
      <p:sp>
        <p:nvSpPr>
          <p:cNvPr id="16" name="Shape 14"/>
          <p:cNvSpPr/>
          <p:nvPr/>
        </p:nvSpPr>
        <p:spPr>
          <a:xfrm>
            <a:off x="640080" y="4379976"/>
            <a:ext cx="420624" cy="420624"/>
          </a:xfrm>
          <a:prstGeom prst="ellipse">
            <a:avLst/>
          </a:prstGeom>
          <a:solidFill>
            <a:srgbClr val="FBE9E2"/>
          </a:solidFill>
          <a:ln w="12700">
            <a:solidFill>
              <a:srgbClr val="FBE9E2"/>
            </a:solidFill>
            <a:prstDash val="solid"/>
          </a:ln>
        </p:spPr>
      </p:sp>
      <p:sp>
        <p:nvSpPr>
          <p:cNvPr id="17" name="Text 15"/>
          <p:cNvSpPr/>
          <p:nvPr/>
        </p:nvSpPr>
        <p:spPr>
          <a:xfrm>
            <a:off x="640080" y="4379976"/>
            <a:ext cx="420624" cy="420624"/>
          </a:xfrm>
          <a:prstGeom prst="rect">
            <a:avLst/>
          </a:prstGeom>
          <a:noFill/>
          <a:ln/>
        </p:spPr>
        <p:txBody>
          <a:bodyPr wrap="square" lIns="0" tIns="0" rIns="0" bIns="0" rtlCol="0" anchor="ctr"/>
          <a:lstStyle/>
          <a:p>
            <a:pPr algn="ctr" indent="0" marL="0">
              <a:buNone/>
            </a:pPr>
            <a:r>
              <a:rPr lang="en-US" sz="1400" b="1" dirty="0">
                <a:solidFill>
                  <a:srgbClr val="C4471F"/>
                </a:solidFill>
                <a:latin typeface="Meiryo" pitchFamily="34" charset="0"/>
                <a:ea typeface="Meiryo" pitchFamily="34" charset="-122"/>
                <a:cs typeface="Meiryo" pitchFamily="34" charset="-120"/>
              </a:rPr>
              <a:t>4</a:t>
            </a:r>
            <a:endParaRPr lang="en-US" sz="1400" dirty="0"/>
          </a:p>
        </p:txBody>
      </p:sp>
      <p:sp>
        <p:nvSpPr>
          <p:cNvPr id="18" name="Text 16"/>
          <p:cNvSpPr/>
          <p:nvPr/>
        </p:nvSpPr>
        <p:spPr>
          <a:xfrm>
            <a:off x="1298448" y="4352544"/>
            <a:ext cx="5669280" cy="320040"/>
          </a:xfrm>
          <a:prstGeom prst="rect">
            <a:avLst/>
          </a:prstGeom>
          <a:noFill/>
          <a:ln/>
        </p:spPr>
        <p:txBody>
          <a:bodyPr wrap="square" lIns="0" tIns="0" rIns="0" bIns="0" rtlCol="0" anchor="ctr"/>
          <a:lstStyle/>
          <a:p>
            <a:pPr indent="0" marL="0">
              <a:buNone/>
            </a:pPr>
            <a:r>
              <a:rPr lang="en-US" sz="1600" b="1" dirty="0">
                <a:solidFill>
                  <a:srgbClr val="0F1E2B"/>
                </a:solidFill>
                <a:latin typeface="Meiryo" pitchFamily="34" charset="0"/>
                <a:ea typeface="Meiryo" pitchFamily="34" charset="-122"/>
                <a:cs typeface="Meiryo" pitchFamily="34" charset="-120"/>
              </a:rPr>
              <a:t>同じ障害が繰り返される</a:t>
            </a:r>
            <a:endParaRPr lang="en-US" sz="1600" dirty="0"/>
          </a:p>
        </p:txBody>
      </p:sp>
      <p:sp>
        <p:nvSpPr>
          <p:cNvPr id="19" name="Text 17"/>
          <p:cNvSpPr/>
          <p:nvPr/>
        </p:nvSpPr>
        <p:spPr>
          <a:xfrm>
            <a:off x="1298448" y="4654296"/>
            <a:ext cx="5669280" cy="292608"/>
          </a:xfrm>
          <a:prstGeom prst="rect">
            <a:avLst/>
          </a:prstGeom>
          <a:noFill/>
          <a:ln/>
        </p:spPr>
        <p:txBody>
          <a:bodyPr wrap="square" lIns="0" tIns="0" rIns="0" bIns="0" rtlCol="0" anchor="ctr"/>
          <a:lstStyle/>
          <a:p>
            <a:pPr indent="0" marL="0">
              <a:buNone/>
            </a:pPr>
            <a:r>
              <a:rPr lang="en-US" sz="1200" dirty="0">
                <a:solidFill>
                  <a:srgbClr val="5E7183"/>
                </a:solidFill>
                <a:latin typeface="Meiryo" pitchFamily="34" charset="0"/>
                <a:ea typeface="Meiryo" pitchFamily="34" charset="-122"/>
                <a:cs typeface="Meiryo" pitchFamily="34" charset="-120"/>
              </a:rPr>
              <a:t>前回どう直したかが残らない</a:t>
            </a:r>
            <a:endParaRPr lang="en-US" sz="1200" dirty="0"/>
          </a:p>
        </p:txBody>
      </p:sp>
      <p:sp>
        <p:nvSpPr>
          <p:cNvPr id="20" name="Shape 18"/>
          <p:cNvSpPr/>
          <p:nvPr/>
        </p:nvSpPr>
        <p:spPr>
          <a:xfrm>
            <a:off x="6949440" y="1691640"/>
            <a:ext cx="4572000" cy="3200400"/>
          </a:xfrm>
          <a:prstGeom prst="roundRect">
            <a:avLst>
              <a:gd name="adj" fmla="val 1714"/>
            </a:avLst>
          </a:prstGeom>
          <a:solidFill>
            <a:srgbClr val="EEF2F6"/>
          </a:solidFill>
          <a:ln w="12700">
            <a:solidFill>
              <a:srgbClr val="EEF2F6"/>
            </a:solidFill>
            <a:prstDash val="solid"/>
          </a:ln>
        </p:spPr>
      </p:sp>
      <p:sp>
        <p:nvSpPr>
          <p:cNvPr id="21" name="Text 19"/>
          <p:cNvSpPr/>
          <p:nvPr/>
        </p:nvSpPr>
        <p:spPr>
          <a:xfrm>
            <a:off x="7269480" y="1920240"/>
            <a:ext cx="3931920" cy="320040"/>
          </a:xfrm>
          <a:prstGeom prst="rect">
            <a:avLst/>
          </a:prstGeom>
          <a:noFill/>
          <a:ln/>
        </p:spPr>
        <p:txBody>
          <a:bodyPr wrap="square" lIns="0" tIns="0" rIns="0" bIns="0" rtlCol="0" anchor="ctr"/>
          <a:lstStyle/>
          <a:p>
            <a:pPr indent="0" marL="0">
              <a:buNone/>
            </a:pPr>
            <a:r>
              <a:rPr lang="en-US" sz="1400" b="1" dirty="0">
                <a:solidFill>
                  <a:srgbClr val="0F1E2B"/>
                </a:solidFill>
                <a:latin typeface="Meiryo" pitchFamily="34" charset="0"/>
                <a:ea typeface="Meiryo" pitchFamily="34" charset="-122"/>
                <a:cs typeface="Meiryo" pitchFamily="34" charset="-120"/>
              </a:rPr>
              <a:t>既存の監視基盤との違い</a:t>
            </a:r>
            <a:endParaRPr lang="en-US" sz="1400" dirty="0"/>
          </a:p>
        </p:txBody>
      </p:sp>
      <p:sp>
        <p:nvSpPr>
          <p:cNvPr id="22" name="Text 20"/>
          <p:cNvSpPr/>
          <p:nvPr/>
        </p:nvSpPr>
        <p:spPr>
          <a:xfrm>
            <a:off x="7269480" y="2377440"/>
            <a:ext cx="3931920" cy="1783080"/>
          </a:xfrm>
          <a:prstGeom prst="rect">
            <a:avLst/>
          </a:prstGeom>
          <a:noFill/>
          <a:ln/>
        </p:spPr>
        <p:txBody>
          <a:bodyPr wrap="square" lIns="0" tIns="0" rIns="0" bIns="0" rtlCol="0" anchor="ctr"/>
          <a:lstStyle/>
          <a:p>
            <a:pPr indent="0" marL="0">
              <a:lnSpc>
                <a:spcPts val="2000"/>
              </a:lnSpc>
              <a:buNone/>
            </a:pPr>
            <a:r>
              <a:rPr lang="en-US" sz="1250" dirty="0">
                <a:solidFill>
                  <a:srgbClr val="1B3346"/>
                </a:solidFill>
                <a:latin typeface="Meiryo" pitchFamily="34" charset="0"/>
                <a:ea typeface="Meiryo" pitchFamily="34" charset="-122"/>
                <a:cs typeface="Meiryo" pitchFamily="34" charset="-120"/>
              </a:rPr>
              <a:t>Zabbix や Prometheus は「検知」までを解決する。</a:t>
            </a:r>
            <a:endParaRPr lang="en-US" sz="1250" dirty="0"/>
          </a:p>
          <a:p>
            <a:pPr indent="0" marL="0">
              <a:lnSpc>
                <a:spcPts val="2000"/>
              </a:lnSpc>
              <a:buNone/>
            </a:pPr>
            <a:endParaRPr lang="en-US" sz="1250" dirty="0"/>
          </a:p>
          <a:p>
            <a:pPr indent="0" marL="0">
              <a:lnSpc>
                <a:spcPts val="2000"/>
              </a:lnSpc>
              <a:buNone/>
            </a:pPr>
            <a:r>
              <a:rPr lang="en-US" sz="1250" dirty="0">
                <a:solidFill>
                  <a:srgbClr val="1B3346"/>
                </a:solidFill>
                <a:latin typeface="Meiryo" pitchFamily="34" charset="0"/>
                <a:ea typeface="Meiryo" pitchFamily="34" charset="-122"/>
                <a:cs typeface="Meiryo" pitchFamily="34" charset="-120"/>
              </a:rPr>
              <a:t>しかし検知の後 ——</a:t>
            </a:r>
            <a:endParaRPr lang="en-US" sz="1250" dirty="0"/>
          </a:p>
          <a:p>
            <a:pPr indent="0" marL="0">
              <a:lnSpc>
                <a:spcPts val="2000"/>
              </a:lnSpc>
              <a:buNone/>
            </a:pPr>
            <a:r>
              <a:rPr lang="en-US" sz="1250" dirty="0">
                <a:solidFill>
                  <a:srgbClr val="1B3346"/>
                </a:solidFill>
                <a:latin typeface="Meiryo" pitchFamily="34" charset="0"/>
                <a:ea typeface="Meiryo" pitchFamily="34" charset="-122"/>
                <a:cs typeface="Meiryo" pitchFamily="34" charset="-120"/>
              </a:rPr>
              <a:t>何が起きているかを判断し、安全に直すところは人に残る。</a:t>
            </a:r>
            <a:endParaRPr lang="en-US" sz="1250" dirty="0"/>
          </a:p>
        </p:txBody>
      </p:sp>
      <p:sp>
        <p:nvSpPr>
          <p:cNvPr id="23" name="Text 21"/>
          <p:cNvSpPr/>
          <p:nvPr/>
        </p:nvSpPr>
        <p:spPr>
          <a:xfrm>
            <a:off x="7269480" y="4343400"/>
            <a:ext cx="3931920" cy="320040"/>
          </a:xfrm>
          <a:prstGeom prst="rect">
            <a:avLst/>
          </a:prstGeom>
          <a:noFill/>
          <a:ln/>
        </p:spPr>
        <p:txBody>
          <a:bodyPr wrap="square" lIns="0" tIns="0" rIns="0" bIns="0" rtlCol="0" anchor="ctr"/>
          <a:lstStyle/>
          <a:p>
            <a:pPr indent="0" marL="0">
              <a:buNone/>
            </a:pPr>
            <a:r>
              <a:rPr lang="en-US" sz="1300" b="1" dirty="0">
                <a:solidFill>
                  <a:srgbClr val="C4471F"/>
                </a:solidFill>
                <a:latin typeface="Meiryo" pitchFamily="34" charset="0"/>
                <a:ea typeface="Meiryo" pitchFamily="34" charset="-122"/>
                <a:cs typeface="Meiryo" pitchFamily="34" charset="-120"/>
              </a:rPr>
              <a:t>本システムはここを扱う</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7315200" cy="274320"/>
          </a:xfrm>
          <a:prstGeom prst="rect">
            <a:avLst/>
          </a:prstGeom>
          <a:noFill/>
          <a:ln/>
        </p:spPr>
        <p:txBody>
          <a:bodyPr wrap="square" lIns="0" tIns="0" rIns="0" bIns="0" rtlCol="0" anchor="ctr"/>
          <a:lstStyle/>
          <a:p>
            <a:pPr indent="0" marL="0">
              <a:buNone/>
            </a:pPr>
            <a:r>
              <a:rPr lang="en-US" sz="1200" b="1" spc="200" kern="0" dirty="0">
                <a:solidFill>
                  <a:srgbClr val="C4471F"/>
                </a:solidFill>
                <a:latin typeface="Meiryo" pitchFamily="34" charset="0"/>
                <a:ea typeface="Meiryo" pitchFamily="34" charset="-122"/>
                <a:cs typeface="Meiryo" pitchFamily="34" charset="-120"/>
              </a:rPr>
              <a:t>目的</a:t>
            </a:r>
            <a:endParaRPr lang="en-US" sz="12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3000" b="1" dirty="0">
                <a:solidFill>
                  <a:srgbClr val="0F1E2B"/>
                </a:solidFill>
                <a:latin typeface="Meiryo" pitchFamily="34" charset="0"/>
                <a:ea typeface="Meiryo" pitchFamily="34" charset="-122"/>
                <a:cs typeface="Meiryo" pitchFamily="34" charset="-120"/>
              </a:rPr>
              <a:t>検知から復旧までを、人が見ていない時間でも進める</a:t>
            </a:r>
            <a:endParaRPr lang="en-US" sz="3000" dirty="0"/>
          </a:p>
        </p:txBody>
      </p:sp>
      <p:sp>
        <p:nvSpPr>
          <p:cNvPr id="4" name="Text 2"/>
          <p:cNvSpPr/>
          <p:nvPr/>
        </p:nvSpPr>
        <p:spPr>
          <a:xfrm>
            <a:off x="640080" y="1645920"/>
            <a:ext cx="5120640" cy="320040"/>
          </a:xfrm>
          <a:prstGeom prst="rect">
            <a:avLst/>
          </a:prstGeom>
          <a:noFill/>
          <a:ln/>
        </p:spPr>
        <p:txBody>
          <a:bodyPr wrap="square" lIns="0" tIns="0" rIns="0" bIns="0" rtlCol="0" anchor="ctr"/>
          <a:lstStyle/>
          <a:p>
            <a:pPr indent="0" marL="0">
              <a:buNone/>
            </a:pPr>
            <a:r>
              <a:rPr lang="en-US" sz="1500" b="1" dirty="0">
                <a:solidFill>
                  <a:srgbClr val="0F1E2B"/>
                </a:solidFill>
                <a:latin typeface="Meiryo" pitchFamily="34" charset="0"/>
                <a:ea typeface="Meiryo" pitchFamily="34" charset="-122"/>
                <a:cs typeface="Meiryo" pitchFamily="34" charset="-120"/>
              </a:rPr>
              <a:t>目指したこと</a:t>
            </a:r>
            <a:endParaRPr lang="en-US" sz="1500" dirty="0"/>
          </a:p>
        </p:txBody>
      </p:sp>
      <p:sp>
        <p:nvSpPr>
          <p:cNvPr id="5" name="Text 3"/>
          <p:cNvSpPr/>
          <p:nvPr/>
        </p:nvSpPr>
        <p:spPr>
          <a:xfrm>
            <a:off x="640080" y="2057400"/>
            <a:ext cx="5120640" cy="2377440"/>
          </a:xfrm>
          <a:prstGeom prst="rect">
            <a:avLst/>
          </a:prstGeom>
          <a:noFill/>
          <a:ln/>
        </p:spPr>
        <p:txBody>
          <a:bodyPr wrap="square" lIns="0" tIns="0" rIns="0" bIns="0" rtlCol="0" anchor="ctr"/>
          <a:lstStyle/>
          <a:p>
            <a:pPr marL="342900" indent="-342900">
              <a:spcAft>
                <a:spcPts val="1000"/>
              </a:spcAft>
              <a:buSzPct val="100000"/>
              <a:buChar char="•"/>
            </a:pPr>
            <a:r>
              <a:rPr lang="en-US" sz="1300" dirty="0">
                <a:solidFill>
                  <a:srgbClr val="1B3346"/>
                </a:solidFill>
                <a:latin typeface="Meiryo" pitchFamily="34" charset="0"/>
                <a:ea typeface="Meiryo" pitchFamily="34" charset="-122"/>
                <a:cs typeface="Meiryo" pitchFamily="34" charset="-120"/>
              </a:rPr>
              <a:t>状態を定期的に収集する(コンテナ・HTTP・ホスト資源)</a:t>
            </a:r>
            <a:endParaRPr lang="en-US" sz="1300" dirty="0"/>
          </a:p>
          <a:p>
            <a:pPr marL="342900" indent="-342900">
              <a:spcAft>
                <a:spcPts val="1000"/>
              </a:spcAft>
              <a:buSzPct val="100000"/>
              <a:buChar char="•"/>
            </a:pPr>
            <a:r>
              <a:rPr lang="en-US" sz="1300" dirty="0">
                <a:solidFill>
                  <a:srgbClr val="1B3346"/>
                </a:solidFill>
                <a:latin typeface="Meiryo" pitchFamily="34" charset="0"/>
                <a:ea typeface="Meiryo" pitchFamily="34" charset="-122"/>
                <a:cs typeface="Meiryo" pitchFamily="34" charset="-120"/>
              </a:rPr>
              <a:t>障害を検知し、根拠つきで分類する</a:t>
            </a:r>
            <a:endParaRPr lang="en-US" sz="1300" dirty="0"/>
          </a:p>
          <a:p>
            <a:pPr marL="342900" indent="-342900">
              <a:spcAft>
                <a:spcPts val="1000"/>
              </a:spcAft>
              <a:buSzPct val="100000"/>
              <a:buChar char="•"/>
            </a:pPr>
            <a:r>
              <a:rPr lang="en-US" sz="1300" dirty="0">
                <a:solidFill>
                  <a:srgbClr val="1B3346"/>
                </a:solidFill>
                <a:latin typeface="Meiryo" pitchFamily="34" charset="0"/>
                <a:ea typeface="Meiryo" pitchFamily="34" charset="-122"/>
                <a:cs typeface="Meiryo" pitchFamily="34" charset="-120"/>
              </a:rPr>
              <a:t>ルールで判断できないものだけ外部AIへ回す</a:t>
            </a:r>
            <a:endParaRPr lang="en-US" sz="1300" dirty="0"/>
          </a:p>
          <a:p>
            <a:pPr marL="342900" indent="-342900">
              <a:spcAft>
                <a:spcPts val="1000"/>
              </a:spcAft>
              <a:buSzPct val="100000"/>
              <a:buChar char="•"/>
            </a:pPr>
            <a:r>
              <a:rPr lang="en-US" sz="1300" dirty="0">
                <a:solidFill>
                  <a:srgbClr val="1B3346"/>
                </a:solidFill>
                <a:latin typeface="Meiryo" pitchFamily="34" charset="0"/>
                <a:ea typeface="Meiryo" pitchFamily="34" charset="-122"/>
                <a:cs typeface="Meiryo" pitchFamily="34" charset="-120"/>
              </a:rPr>
              <a:t>安全条件をすべて満たす場合だけ自動で復旧する</a:t>
            </a:r>
            <a:endParaRPr lang="en-US" sz="1300" dirty="0"/>
          </a:p>
          <a:p>
            <a:pPr marL="342900" indent="-342900">
              <a:spcAft>
                <a:spcPts val="1000"/>
              </a:spcAft>
              <a:buSzPct val="100000"/>
              <a:buChar char="•"/>
            </a:pPr>
            <a:r>
              <a:rPr lang="en-US" sz="1300" dirty="0">
                <a:solidFill>
                  <a:srgbClr val="1B3346"/>
                </a:solidFill>
                <a:latin typeface="Meiryo" pitchFamily="34" charset="0"/>
                <a:ea typeface="Meiryo" pitchFamily="34" charset="-122"/>
                <a:cs typeface="Meiryo" pitchFamily="34" charset="-120"/>
              </a:rPr>
              <a:t>危険な操作は人の承認を求め、すべて監査に残す</a:t>
            </a:r>
            <a:endParaRPr lang="en-US" sz="1300" dirty="0"/>
          </a:p>
        </p:txBody>
      </p:sp>
      <p:sp>
        <p:nvSpPr>
          <p:cNvPr id="6" name="Shape 4"/>
          <p:cNvSpPr/>
          <p:nvPr/>
        </p:nvSpPr>
        <p:spPr>
          <a:xfrm>
            <a:off x="6492240" y="1600200"/>
            <a:ext cx="5029200" cy="3291840"/>
          </a:xfrm>
          <a:prstGeom prst="roundRect">
            <a:avLst>
              <a:gd name="adj" fmla="val 1667"/>
            </a:avLst>
          </a:prstGeom>
          <a:solidFill>
            <a:srgbClr val="0F1E2B"/>
          </a:solidFill>
          <a:ln w="12700">
            <a:solidFill>
              <a:srgbClr val="0F1E2B"/>
            </a:solidFill>
            <a:prstDash val="solid"/>
          </a:ln>
        </p:spPr>
      </p:sp>
      <p:sp>
        <p:nvSpPr>
          <p:cNvPr id="7" name="Text 5"/>
          <p:cNvSpPr/>
          <p:nvPr/>
        </p:nvSpPr>
        <p:spPr>
          <a:xfrm>
            <a:off x="6812280" y="1874520"/>
            <a:ext cx="4389120" cy="320040"/>
          </a:xfrm>
          <a:prstGeom prst="rect">
            <a:avLst/>
          </a:prstGeom>
          <a:noFill/>
          <a:ln/>
        </p:spPr>
        <p:txBody>
          <a:bodyPr wrap="square" lIns="0" tIns="0" rIns="0" bIns="0" rtlCol="0" anchor="ctr"/>
          <a:lstStyle/>
          <a:p>
            <a:pPr indent="0" marL="0">
              <a:buNone/>
            </a:pPr>
            <a:r>
              <a:rPr lang="en-US" sz="1500" b="1" dirty="0">
                <a:solidFill>
                  <a:srgbClr val="FFB59E"/>
                </a:solidFill>
                <a:latin typeface="Meiryo" pitchFamily="34" charset="0"/>
                <a:ea typeface="Meiryo" pitchFamily="34" charset="-122"/>
                <a:cs typeface="Meiryo" pitchFamily="34" charset="-120"/>
              </a:rPr>
              <a:t>目指さなかったこと</a:t>
            </a:r>
            <a:endParaRPr lang="en-US" sz="1500" dirty="0"/>
          </a:p>
        </p:txBody>
      </p:sp>
      <p:sp>
        <p:nvSpPr>
          <p:cNvPr id="8" name="Text 6"/>
          <p:cNvSpPr/>
          <p:nvPr/>
        </p:nvSpPr>
        <p:spPr>
          <a:xfrm>
            <a:off x="6812280" y="2331720"/>
            <a:ext cx="4389120" cy="457200"/>
          </a:xfrm>
          <a:prstGeom prst="rect">
            <a:avLst/>
          </a:prstGeom>
          <a:noFill/>
          <a:ln/>
        </p:spPr>
        <p:txBody>
          <a:bodyPr wrap="square" lIns="0" tIns="0" rIns="0" bIns="0" rtlCol="0" anchor="ctr"/>
          <a:lstStyle/>
          <a:p>
            <a:pPr indent="0" marL="0">
              <a:buNone/>
            </a:pPr>
            <a:r>
              <a:rPr lang="en-US" sz="2200" b="1" dirty="0">
                <a:solidFill>
                  <a:srgbClr val="FFFFFF"/>
                </a:solidFill>
                <a:latin typeface="Meiryo" pitchFamily="34" charset="0"/>
                <a:ea typeface="Meiryo" pitchFamily="34" charset="-122"/>
                <a:cs typeface="Meiryo" pitchFamily="34" charset="-120"/>
              </a:rPr>
              <a:t>「全自動で何でも直す」</a:t>
            </a:r>
            <a:endParaRPr lang="en-US" sz="2200" dirty="0"/>
          </a:p>
        </p:txBody>
      </p:sp>
      <p:sp>
        <p:nvSpPr>
          <p:cNvPr id="9" name="Text 7"/>
          <p:cNvSpPr/>
          <p:nvPr/>
        </p:nvSpPr>
        <p:spPr>
          <a:xfrm>
            <a:off x="6812280" y="2926080"/>
            <a:ext cx="4389120" cy="1828800"/>
          </a:xfrm>
          <a:prstGeom prst="rect">
            <a:avLst/>
          </a:prstGeom>
          <a:noFill/>
          <a:ln/>
        </p:spPr>
        <p:txBody>
          <a:bodyPr wrap="square" lIns="0" tIns="0" rIns="0" bIns="0" rtlCol="0" anchor="ctr"/>
          <a:lstStyle/>
          <a:p>
            <a:pPr indent="0" marL="0">
              <a:lnSpc>
                <a:spcPts val="2000"/>
              </a:lnSpc>
              <a:buNone/>
            </a:pPr>
            <a:r>
              <a:rPr lang="en-US" sz="1300" dirty="0">
                <a:solidFill>
                  <a:srgbClr val="C6D4E0"/>
                </a:solidFill>
                <a:latin typeface="Meiryo" pitchFamily="34" charset="0"/>
                <a:ea typeface="Meiryo" pitchFamily="34" charset="-122"/>
                <a:cs typeface="Meiryo" pitchFamily="34" charset="-120"/>
              </a:rPr>
              <a:t>間違った自動操作は、障害そのものより重い被害を出す。</a:t>
            </a:r>
            <a:endParaRPr lang="en-US" sz="1300" dirty="0"/>
          </a:p>
          <a:p>
            <a:pPr indent="0" marL="0">
              <a:lnSpc>
                <a:spcPts val="2000"/>
              </a:lnSpc>
              <a:buNone/>
            </a:pPr>
            <a:endParaRPr lang="en-US" sz="1300" dirty="0"/>
          </a:p>
          <a:p>
            <a:pPr indent="0" marL="0">
              <a:lnSpc>
                <a:spcPts val="2000"/>
              </a:lnSpc>
              <a:buNone/>
            </a:pPr>
            <a:r>
              <a:rPr lang="en-US" sz="1300" dirty="0">
                <a:solidFill>
                  <a:srgbClr val="C6D4E0"/>
                </a:solidFill>
                <a:latin typeface="Meiryo" pitchFamily="34" charset="0"/>
                <a:ea typeface="Meiryo" pitchFamily="34" charset="-122"/>
                <a:cs typeface="Meiryo" pitchFamily="34" charset="-120"/>
              </a:rPr>
              <a:t>そのため本システムの中心は、</a:t>
            </a:r>
            <a:endParaRPr lang="en-US" sz="1300" dirty="0"/>
          </a:p>
          <a:p>
            <a:pPr indent="0" marL="0">
              <a:lnSpc>
                <a:spcPts val="2000"/>
              </a:lnSpc>
              <a:buNone/>
            </a:pPr>
            <a:r>
              <a:rPr lang="en-US" sz="1300" dirty="0">
                <a:solidFill>
                  <a:srgbClr val="C6D4E0"/>
                </a:solidFill>
                <a:latin typeface="Meiryo" pitchFamily="34" charset="0"/>
                <a:ea typeface="Meiryo" pitchFamily="34" charset="-122"/>
                <a:cs typeface="Meiryo" pitchFamily="34" charset="-120"/>
              </a:rPr>
              <a:t>機能の多さではなく</a:t>
            </a:r>
            <a:endParaRPr lang="en-US" sz="1300" dirty="0"/>
          </a:p>
          <a:p>
            <a:pPr indent="0" marL="0">
              <a:lnSpc>
                <a:spcPts val="2000"/>
              </a:lnSpc>
              <a:buNone/>
            </a:pPr>
            <a:r>
              <a:rPr lang="en-US" sz="1300" dirty="0">
                <a:solidFill>
                  <a:srgbClr val="C6D4E0"/>
                </a:solidFill>
                <a:latin typeface="Meiryo" pitchFamily="34" charset="0"/>
                <a:ea typeface="Meiryo" pitchFamily="34" charset="-122"/>
                <a:cs typeface="Meiryo" pitchFamily="34" charset="-120"/>
              </a:rPr>
              <a:t>「自動化の範囲をどう絞るか」にある。</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7315200" cy="274320"/>
          </a:xfrm>
          <a:prstGeom prst="rect">
            <a:avLst/>
          </a:prstGeom>
          <a:noFill/>
          <a:ln/>
        </p:spPr>
        <p:txBody>
          <a:bodyPr wrap="square" lIns="0" tIns="0" rIns="0" bIns="0" rtlCol="0" anchor="ctr"/>
          <a:lstStyle/>
          <a:p>
            <a:pPr indent="0" marL="0">
              <a:buNone/>
            </a:pPr>
            <a:r>
              <a:rPr lang="en-US" sz="1200" b="1" spc="200" kern="0" dirty="0">
                <a:solidFill>
                  <a:srgbClr val="C4471F"/>
                </a:solidFill>
                <a:latin typeface="Meiryo" pitchFamily="34" charset="0"/>
                <a:ea typeface="Meiryo" pitchFamily="34" charset="-122"/>
                <a:cs typeface="Meiryo" pitchFamily="34" charset="-120"/>
              </a:rPr>
              <a:t>システム構成</a:t>
            </a:r>
            <a:endParaRPr lang="en-US" sz="12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3000" b="1" dirty="0">
                <a:solidFill>
                  <a:srgbClr val="0F1E2B"/>
                </a:solidFill>
                <a:latin typeface="Meiryo" pitchFamily="34" charset="0"/>
                <a:ea typeface="Meiryo" pitchFamily="34" charset="-122"/>
                <a:cs typeface="Meiryo" pitchFamily="34" charset="-120"/>
              </a:rPr>
              <a:t>LAN内で完結し、外部に開くのは1ポートだけ</a:t>
            </a:r>
            <a:endParaRPr lang="en-US" sz="3000" dirty="0"/>
          </a:p>
        </p:txBody>
      </p:sp>
      <p:sp>
        <p:nvSpPr>
          <p:cNvPr id="4" name="Shape 2"/>
          <p:cNvSpPr/>
          <p:nvPr/>
        </p:nvSpPr>
        <p:spPr>
          <a:xfrm>
            <a:off x="777240" y="1691640"/>
            <a:ext cx="1828800" cy="566928"/>
          </a:xfrm>
          <a:prstGeom prst="roundRect">
            <a:avLst>
              <a:gd name="adj" fmla="val 9677"/>
            </a:avLst>
          </a:prstGeom>
          <a:solidFill>
            <a:srgbClr val="EEF2F6"/>
          </a:solidFill>
          <a:ln w="12700">
            <a:solidFill>
              <a:srgbClr val="EEF2F6"/>
            </a:solidFill>
            <a:prstDash val="solid"/>
          </a:ln>
        </p:spPr>
      </p:sp>
      <p:sp>
        <p:nvSpPr>
          <p:cNvPr id="5" name="Text 3"/>
          <p:cNvSpPr/>
          <p:nvPr/>
        </p:nvSpPr>
        <p:spPr>
          <a:xfrm>
            <a:off x="777240" y="1691640"/>
            <a:ext cx="1828800" cy="566928"/>
          </a:xfrm>
          <a:prstGeom prst="rect">
            <a:avLst/>
          </a:prstGeom>
          <a:noFill/>
          <a:ln/>
        </p:spPr>
        <p:txBody>
          <a:bodyPr wrap="square" lIns="0" tIns="0" rIns="0" bIns="0" rtlCol="0" anchor="ctr"/>
          <a:lstStyle/>
          <a:p>
            <a:pPr algn="ctr" indent="0" marL="0">
              <a:buNone/>
            </a:pPr>
            <a:r>
              <a:rPr lang="en-US" sz="1300" b="1" dirty="0">
                <a:solidFill>
                  <a:srgbClr val="0F1E2B"/>
                </a:solidFill>
                <a:latin typeface="Meiryo" pitchFamily="34" charset="0"/>
                <a:ea typeface="Meiryo" pitchFamily="34" charset="-122"/>
                <a:cs typeface="Meiryo" pitchFamily="34" charset="-120"/>
              </a:rPr>
              <a:t>ブラウザ</a:t>
            </a:r>
            <a:endParaRPr lang="en-US" sz="1300" dirty="0"/>
          </a:p>
        </p:txBody>
      </p:sp>
      <p:sp>
        <p:nvSpPr>
          <p:cNvPr id="6" name="Shape 4"/>
          <p:cNvSpPr/>
          <p:nvPr/>
        </p:nvSpPr>
        <p:spPr>
          <a:xfrm>
            <a:off x="1691640" y="2258568"/>
            <a:ext cx="0" cy="457200"/>
          </a:xfrm>
          <a:prstGeom prst="line">
            <a:avLst/>
          </a:prstGeom>
          <a:noFill/>
          <a:ln w="15875">
            <a:solidFill>
              <a:srgbClr val="5E7183"/>
            </a:solidFill>
            <a:prstDash val="solid"/>
            <a:tailEnd type="triangle"/>
          </a:ln>
        </p:spPr>
      </p:sp>
      <p:sp>
        <p:nvSpPr>
          <p:cNvPr id="7" name="Text 5"/>
          <p:cNvSpPr/>
          <p:nvPr/>
        </p:nvSpPr>
        <p:spPr>
          <a:xfrm>
            <a:off x="1783080" y="2331720"/>
            <a:ext cx="1371600" cy="274320"/>
          </a:xfrm>
          <a:prstGeom prst="rect">
            <a:avLst/>
          </a:prstGeom>
          <a:noFill/>
          <a:ln/>
        </p:spPr>
        <p:txBody>
          <a:bodyPr wrap="square" lIns="0" tIns="0" rIns="0" bIns="0" rtlCol="0" anchor="ctr"/>
          <a:lstStyle/>
          <a:p>
            <a:pPr indent="0" marL="0">
              <a:buNone/>
            </a:pPr>
            <a:r>
              <a:rPr lang="en-US" sz="950" b="1" dirty="0">
                <a:solidFill>
                  <a:srgbClr val="C4471F"/>
                </a:solidFill>
                <a:latin typeface="Meiryo" pitchFamily="34" charset="0"/>
                <a:ea typeface="Meiryo" pitchFamily="34" charset="-122"/>
                <a:cs typeface="Meiryo" pitchFamily="34" charset="-120"/>
              </a:rPr>
              <a:t>HTTP 8080</a:t>
            </a:r>
            <a:endParaRPr lang="en-US" sz="950" dirty="0"/>
          </a:p>
        </p:txBody>
      </p:sp>
      <p:sp>
        <p:nvSpPr>
          <p:cNvPr id="8" name="Shape 6"/>
          <p:cNvSpPr/>
          <p:nvPr/>
        </p:nvSpPr>
        <p:spPr>
          <a:xfrm>
            <a:off x="777240" y="2715768"/>
            <a:ext cx="1828800" cy="713232"/>
          </a:xfrm>
          <a:prstGeom prst="roundRect">
            <a:avLst>
              <a:gd name="adj" fmla="val 7692"/>
            </a:avLst>
          </a:prstGeom>
          <a:solidFill>
            <a:srgbClr val="0F1E2B"/>
          </a:solidFill>
          <a:ln w="12700">
            <a:solidFill>
              <a:srgbClr val="0F1E2B"/>
            </a:solidFill>
            <a:prstDash val="solid"/>
          </a:ln>
        </p:spPr>
      </p:sp>
      <p:sp>
        <p:nvSpPr>
          <p:cNvPr id="9" name="Text 7"/>
          <p:cNvSpPr/>
          <p:nvPr/>
        </p:nvSpPr>
        <p:spPr>
          <a:xfrm>
            <a:off x="777240" y="2807208"/>
            <a:ext cx="1828800"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nginx</a:t>
            </a:r>
            <a:endParaRPr lang="en-US" sz="1300" dirty="0"/>
          </a:p>
        </p:txBody>
      </p:sp>
      <p:sp>
        <p:nvSpPr>
          <p:cNvPr id="10" name="Text 8"/>
          <p:cNvSpPr/>
          <p:nvPr/>
        </p:nvSpPr>
        <p:spPr>
          <a:xfrm>
            <a:off x="777240" y="3099816"/>
            <a:ext cx="1828800" cy="256032"/>
          </a:xfrm>
          <a:prstGeom prst="rect">
            <a:avLst/>
          </a:prstGeom>
          <a:noFill/>
          <a:ln/>
        </p:spPr>
        <p:txBody>
          <a:bodyPr wrap="square" lIns="0" tIns="0" rIns="0" bIns="0" rtlCol="0" anchor="ctr"/>
          <a:lstStyle/>
          <a:p>
            <a:pPr algn="ctr" indent="0" marL="0">
              <a:buNone/>
            </a:pPr>
            <a:r>
              <a:rPr lang="en-US" sz="950" dirty="0">
                <a:solidFill>
                  <a:srgbClr val="A9BCCC"/>
                </a:solidFill>
                <a:latin typeface="Meiryo" pitchFamily="34" charset="0"/>
                <a:ea typeface="Meiryo" pitchFamily="34" charset="-122"/>
                <a:cs typeface="Meiryo" pitchFamily="34" charset="-120"/>
              </a:rPr>
              <a:t>唯一の公開口</a:t>
            </a:r>
            <a:endParaRPr lang="en-US" sz="950" dirty="0"/>
          </a:p>
        </p:txBody>
      </p:sp>
      <p:sp>
        <p:nvSpPr>
          <p:cNvPr id="11" name="Shape 9"/>
          <p:cNvSpPr/>
          <p:nvPr/>
        </p:nvSpPr>
        <p:spPr>
          <a:xfrm>
            <a:off x="2606040" y="3072384"/>
            <a:ext cx="548640" cy="0"/>
          </a:xfrm>
          <a:prstGeom prst="line">
            <a:avLst/>
          </a:prstGeom>
          <a:noFill/>
          <a:ln w="15875">
            <a:solidFill>
              <a:srgbClr val="5E7183"/>
            </a:solidFill>
            <a:prstDash val="solid"/>
            <a:tailEnd type="triangle"/>
          </a:ln>
        </p:spPr>
      </p:sp>
      <p:sp>
        <p:nvSpPr>
          <p:cNvPr id="12" name="Shape 10"/>
          <p:cNvSpPr/>
          <p:nvPr/>
        </p:nvSpPr>
        <p:spPr>
          <a:xfrm>
            <a:off x="3154680" y="2057400"/>
            <a:ext cx="1737360" cy="713232"/>
          </a:xfrm>
          <a:prstGeom prst="roundRect">
            <a:avLst>
              <a:gd name="adj" fmla="val 7692"/>
            </a:avLst>
          </a:prstGeom>
          <a:solidFill>
            <a:srgbClr val="EEF2F6"/>
          </a:solidFill>
          <a:ln w="12700">
            <a:solidFill>
              <a:srgbClr val="EEF2F6"/>
            </a:solidFill>
            <a:prstDash val="solid"/>
          </a:ln>
        </p:spPr>
      </p:sp>
      <p:sp>
        <p:nvSpPr>
          <p:cNvPr id="13" name="Text 11"/>
          <p:cNvSpPr/>
          <p:nvPr/>
        </p:nvSpPr>
        <p:spPr>
          <a:xfrm>
            <a:off x="3154680" y="2148840"/>
            <a:ext cx="1737360" cy="292608"/>
          </a:xfrm>
          <a:prstGeom prst="rect">
            <a:avLst/>
          </a:prstGeom>
          <a:noFill/>
          <a:ln/>
        </p:spPr>
        <p:txBody>
          <a:bodyPr wrap="square" lIns="0" tIns="0" rIns="0" bIns="0" rtlCol="0" anchor="ctr"/>
          <a:lstStyle/>
          <a:p>
            <a:pPr algn="ctr" indent="0" marL="0">
              <a:buNone/>
            </a:pPr>
            <a:r>
              <a:rPr lang="en-US" sz="1300" b="1" dirty="0">
                <a:solidFill>
                  <a:srgbClr val="0F1E2B"/>
                </a:solidFill>
                <a:latin typeface="Meiryo" pitchFamily="34" charset="0"/>
                <a:ea typeface="Meiryo" pitchFamily="34" charset="-122"/>
                <a:cs typeface="Meiryo" pitchFamily="34" charset="-120"/>
              </a:rPr>
              <a:t>web</a:t>
            </a:r>
            <a:endParaRPr lang="en-US" sz="1300" dirty="0"/>
          </a:p>
        </p:txBody>
      </p:sp>
      <p:sp>
        <p:nvSpPr>
          <p:cNvPr id="14" name="Text 12"/>
          <p:cNvSpPr/>
          <p:nvPr/>
        </p:nvSpPr>
        <p:spPr>
          <a:xfrm>
            <a:off x="3154680" y="2441448"/>
            <a:ext cx="1737360" cy="256032"/>
          </a:xfrm>
          <a:prstGeom prst="rect">
            <a:avLst/>
          </a:prstGeom>
          <a:noFill/>
          <a:ln/>
        </p:spPr>
        <p:txBody>
          <a:bodyPr wrap="square" lIns="0" tIns="0" rIns="0" bIns="0" rtlCol="0" anchor="ctr"/>
          <a:lstStyle/>
          <a:p>
            <a:pPr algn="ctr" indent="0" marL="0">
              <a:buNone/>
            </a:pPr>
            <a:r>
              <a:rPr lang="en-US" sz="950" dirty="0">
                <a:solidFill>
                  <a:srgbClr val="5E7183"/>
                </a:solidFill>
                <a:latin typeface="Meiryo" pitchFamily="34" charset="0"/>
                <a:ea typeface="Meiryo" pitchFamily="34" charset="-122"/>
                <a:cs typeface="Meiryo" pitchFamily="34" charset="-120"/>
              </a:rPr>
              <a:t>Vue 3 SPA</a:t>
            </a:r>
            <a:endParaRPr lang="en-US" sz="950" dirty="0"/>
          </a:p>
        </p:txBody>
      </p:sp>
      <p:sp>
        <p:nvSpPr>
          <p:cNvPr id="15" name="Shape 13"/>
          <p:cNvSpPr/>
          <p:nvPr/>
        </p:nvSpPr>
        <p:spPr>
          <a:xfrm>
            <a:off x="3154680" y="3291840"/>
            <a:ext cx="1737360" cy="713232"/>
          </a:xfrm>
          <a:prstGeom prst="roundRect">
            <a:avLst>
              <a:gd name="adj" fmla="val 7692"/>
            </a:avLst>
          </a:prstGeom>
          <a:solidFill>
            <a:srgbClr val="EEF2F6"/>
          </a:solidFill>
          <a:ln w="12700">
            <a:solidFill>
              <a:srgbClr val="EEF2F6"/>
            </a:solidFill>
            <a:prstDash val="solid"/>
          </a:ln>
        </p:spPr>
      </p:sp>
      <p:sp>
        <p:nvSpPr>
          <p:cNvPr id="16" name="Text 14"/>
          <p:cNvSpPr/>
          <p:nvPr/>
        </p:nvSpPr>
        <p:spPr>
          <a:xfrm>
            <a:off x="3154680" y="3383280"/>
            <a:ext cx="1737360" cy="292608"/>
          </a:xfrm>
          <a:prstGeom prst="rect">
            <a:avLst/>
          </a:prstGeom>
          <a:noFill/>
          <a:ln/>
        </p:spPr>
        <p:txBody>
          <a:bodyPr wrap="square" lIns="0" tIns="0" rIns="0" bIns="0" rtlCol="0" anchor="ctr"/>
          <a:lstStyle/>
          <a:p>
            <a:pPr algn="ctr" indent="0" marL="0">
              <a:buNone/>
            </a:pPr>
            <a:r>
              <a:rPr lang="en-US" sz="1300" b="1" dirty="0">
                <a:solidFill>
                  <a:srgbClr val="0F1E2B"/>
                </a:solidFill>
                <a:latin typeface="Meiryo" pitchFamily="34" charset="0"/>
                <a:ea typeface="Meiryo" pitchFamily="34" charset="-122"/>
                <a:cs typeface="Meiryo" pitchFamily="34" charset="-120"/>
              </a:rPr>
              <a:t>api</a:t>
            </a:r>
            <a:endParaRPr lang="en-US" sz="1300" dirty="0"/>
          </a:p>
        </p:txBody>
      </p:sp>
      <p:sp>
        <p:nvSpPr>
          <p:cNvPr id="17" name="Text 15"/>
          <p:cNvSpPr/>
          <p:nvPr/>
        </p:nvSpPr>
        <p:spPr>
          <a:xfrm>
            <a:off x="3154680" y="3675888"/>
            <a:ext cx="1737360" cy="256032"/>
          </a:xfrm>
          <a:prstGeom prst="rect">
            <a:avLst/>
          </a:prstGeom>
          <a:noFill/>
          <a:ln/>
        </p:spPr>
        <p:txBody>
          <a:bodyPr wrap="square" lIns="0" tIns="0" rIns="0" bIns="0" rtlCol="0" anchor="ctr"/>
          <a:lstStyle/>
          <a:p>
            <a:pPr algn="ctr" indent="0" marL="0">
              <a:buNone/>
            </a:pPr>
            <a:r>
              <a:rPr lang="en-US" sz="950" dirty="0">
                <a:solidFill>
                  <a:srgbClr val="5E7183"/>
                </a:solidFill>
                <a:latin typeface="Meiryo" pitchFamily="34" charset="0"/>
                <a:ea typeface="Meiryo" pitchFamily="34" charset="-122"/>
                <a:cs typeface="Meiryo" pitchFamily="34" charset="-120"/>
              </a:rPr>
              <a:t>認証・参照</a:t>
            </a:r>
            <a:endParaRPr lang="en-US" sz="950" dirty="0"/>
          </a:p>
        </p:txBody>
      </p:sp>
      <p:sp>
        <p:nvSpPr>
          <p:cNvPr id="18" name="Shape 16"/>
          <p:cNvSpPr/>
          <p:nvPr/>
        </p:nvSpPr>
        <p:spPr>
          <a:xfrm>
            <a:off x="2606040" y="2414016"/>
            <a:ext cx="548640" cy="0"/>
          </a:xfrm>
          <a:prstGeom prst="line">
            <a:avLst/>
          </a:prstGeom>
          <a:noFill/>
          <a:ln w="15875">
            <a:solidFill>
              <a:srgbClr val="5E7183"/>
            </a:solidFill>
            <a:prstDash val="solid"/>
            <a:tailEnd type="triangle"/>
          </a:ln>
        </p:spPr>
      </p:sp>
      <p:sp>
        <p:nvSpPr>
          <p:cNvPr id="19" name="Shape 17"/>
          <p:cNvSpPr/>
          <p:nvPr/>
        </p:nvSpPr>
        <p:spPr>
          <a:xfrm>
            <a:off x="5486400" y="2670048"/>
            <a:ext cx="1737360" cy="804672"/>
          </a:xfrm>
          <a:prstGeom prst="roundRect">
            <a:avLst>
              <a:gd name="adj" fmla="val 6818"/>
            </a:avLst>
          </a:prstGeom>
          <a:solidFill>
            <a:srgbClr val="EEF2F6"/>
          </a:solidFill>
          <a:ln w="12700">
            <a:solidFill>
              <a:srgbClr val="EEF2F6"/>
            </a:solidFill>
            <a:prstDash val="solid"/>
          </a:ln>
        </p:spPr>
      </p:sp>
      <p:sp>
        <p:nvSpPr>
          <p:cNvPr id="20" name="Text 18"/>
          <p:cNvSpPr/>
          <p:nvPr/>
        </p:nvSpPr>
        <p:spPr>
          <a:xfrm>
            <a:off x="5486400" y="2761488"/>
            <a:ext cx="1737360" cy="292608"/>
          </a:xfrm>
          <a:prstGeom prst="rect">
            <a:avLst/>
          </a:prstGeom>
          <a:noFill/>
          <a:ln/>
        </p:spPr>
        <p:txBody>
          <a:bodyPr wrap="square" lIns="0" tIns="0" rIns="0" bIns="0" rtlCol="0" anchor="ctr"/>
          <a:lstStyle/>
          <a:p>
            <a:pPr algn="ctr" indent="0" marL="0">
              <a:buNone/>
            </a:pPr>
            <a:r>
              <a:rPr lang="en-US" sz="1300" b="1" dirty="0">
                <a:solidFill>
                  <a:srgbClr val="0F1E2B"/>
                </a:solidFill>
                <a:latin typeface="Meiryo" pitchFamily="34" charset="0"/>
                <a:ea typeface="Meiryo" pitchFamily="34" charset="-122"/>
                <a:cs typeface="Meiryo" pitchFamily="34" charset="-120"/>
              </a:rPr>
              <a:t>MySQL</a:t>
            </a:r>
            <a:endParaRPr lang="en-US" sz="1300" dirty="0"/>
          </a:p>
        </p:txBody>
      </p:sp>
      <p:sp>
        <p:nvSpPr>
          <p:cNvPr id="21" name="Text 19"/>
          <p:cNvSpPr/>
          <p:nvPr/>
        </p:nvSpPr>
        <p:spPr>
          <a:xfrm>
            <a:off x="5486400" y="3054096"/>
            <a:ext cx="1737360" cy="256032"/>
          </a:xfrm>
          <a:prstGeom prst="rect">
            <a:avLst/>
          </a:prstGeom>
          <a:noFill/>
          <a:ln/>
        </p:spPr>
        <p:txBody>
          <a:bodyPr wrap="square" lIns="0" tIns="0" rIns="0" bIns="0" rtlCol="0" anchor="ctr"/>
          <a:lstStyle/>
          <a:p>
            <a:pPr algn="ctr" indent="0" marL="0">
              <a:buNone/>
            </a:pPr>
            <a:r>
              <a:rPr lang="en-US" sz="950" dirty="0">
                <a:solidFill>
                  <a:srgbClr val="5E7183"/>
                </a:solidFill>
                <a:latin typeface="Meiryo" pitchFamily="34" charset="0"/>
                <a:ea typeface="Meiryo" pitchFamily="34" charset="-122"/>
                <a:cs typeface="Meiryo" pitchFamily="34" charset="-120"/>
              </a:rPr>
              <a:t>収集値・監査</a:t>
            </a:r>
            <a:endParaRPr lang="en-US" sz="950" dirty="0"/>
          </a:p>
        </p:txBody>
      </p:sp>
      <p:sp>
        <p:nvSpPr>
          <p:cNvPr id="22" name="Shape 20"/>
          <p:cNvSpPr/>
          <p:nvPr/>
        </p:nvSpPr>
        <p:spPr>
          <a:xfrm>
            <a:off x="7863840" y="2670048"/>
            <a:ext cx="1828800" cy="804672"/>
          </a:xfrm>
          <a:prstGeom prst="roundRect">
            <a:avLst>
              <a:gd name="adj" fmla="val 6818"/>
            </a:avLst>
          </a:prstGeom>
          <a:solidFill>
            <a:srgbClr val="1B3346"/>
          </a:solidFill>
          <a:ln w="12700">
            <a:solidFill>
              <a:srgbClr val="1B3346"/>
            </a:solidFill>
            <a:prstDash val="solid"/>
          </a:ln>
        </p:spPr>
      </p:sp>
      <p:sp>
        <p:nvSpPr>
          <p:cNvPr id="23" name="Text 21"/>
          <p:cNvSpPr/>
          <p:nvPr/>
        </p:nvSpPr>
        <p:spPr>
          <a:xfrm>
            <a:off x="7863840" y="2761488"/>
            <a:ext cx="1828800"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worker</a:t>
            </a:r>
            <a:endParaRPr lang="en-US" sz="1300" dirty="0"/>
          </a:p>
        </p:txBody>
      </p:sp>
      <p:sp>
        <p:nvSpPr>
          <p:cNvPr id="24" name="Text 22"/>
          <p:cNvSpPr/>
          <p:nvPr/>
        </p:nvSpPr>
        <p:spPr>
          <a:xfrm>
            <a:off x="7863840" y="3054096"/>
            <a:ext cx="1828800" cy="256032"/>
          </a:xfrm>
          <a:prstGeom prst="rect">
            <a:avLst/>
          </a:prstGeom>
          <a:noFill/>
          <a:ln/>
        </p:spPr>
        <p:txBody>
          <a:bodyPr wrap="square" lIns="0" tIns="0" rIns="0" bIns="0" rtlCol="0" anchor="ctr"/>
          <a:lstStyle/>
          <a:p>
            <a:pPr algn="ctr" indent="0" marL="0">
              <a:buNone/>
            </a:pPr>
            <a:r>
              <a:rPr lang="en-US" sz="950" dirty="0">
                <a:solidFill>
                  <a:srgbClr val="A9BCCC"/>
                </a:solidFill>
                <a:latin typeface="Meiryo" pitchFamily="34" charset="0"/>
                <a:ea typeface="Meiryo" pitchFamily="34" charset="-122"/>
                <a:cs typeface="Meiryo" pitchFamily="34" charset="-120"/>
              </a:rPr>
              <a:t>収集・復旧</a:t>
            </a:r>
            <a:endParaRPr lang="en-US" sz="950" dirty="0"/>
          </a:p>
        </p:txBody>
      </p:sp>
      <p:sp>
        <p:nvSpPr>
          <p:cNvPr id="25" name="Shape 23"/>
          <p:cNvSpPr/>
          <p:nvPr/>
        </p:nvSpPr>
        <p:spPr>
          <a:xfrm>
            <a:off x="4892040" y="3072384"/>
            <a:ext cx="594360" cy="0"/>
          </a:xfrm>
          <a:prstGeom prst="line">
            <a:avLst/>
          </a:prstGeom>
          <a:noFill/>
          <a:ln w="15875">
            <a:solidFill>
              <a:srgbClr val="5E7183"/>
            </a:solidFill>
            <a:prstDash val="solid"/>
            <a:tailEnd type="triangle"/>
          </a:ln>
        </p:spPr>
      </p:sp>
      <p:sp>
        <p:nvSpPr>
          <p:cNvPr id="26" name="Shape 24"/>
          <p:cNvSpPr/>
          <p:nvPr/>
        </p:nvSpPr>
        <p:spPr>
          <a:xfrm>
            <a:off x="7863840" y="3072384"/>
            <a:ext cx="-640080" cy="0"/>
          </a:xfrm>
          <a:prstGeom prst="line">
            <a:avLst/>
          </a:prstGeom>
          <a:noFill/>
          <a:ln w="15875">
            <a:solidFill>
              <a:srgbClr val="5E7183"/>
            </a:solidFill>
            <a:prstDash val="solid"/>
            <a:tailEnd type="triangle"/>
          </a:ln>
        </p:spPr>
      </p:sp>
      <p:sp>
        <p:nvSpPr>
          <p:cNvPr id="27" name="Shape 25"/>
          <p:cNvSpPr/>
          <p:nvPr/>
        </p:nvSpPr>
        <p:spPr>
          <a:xfrm>
            <a:off x="5486400" y="4160520"/>
            <a:ext cx="6035040" cy="1371600"/>
          </a:xfrm>
          <a:prstGeom prst="roundRect">
            <a:avLst>
              <a:gd name="adj" fmla="val 4000"/>
            </a:avLst>
          </a:prstGeom>
          <a:solidFill>
            <a:srgbClr val="F7FAFC"/>
          </a:solidFill>
          <a:ln w="12700">
            <a:solidFill>
              <a:srgbClr val="C9D4DE"/>
            </a:solidFill>
            <a:prstDash val="solid"/>
          </a:ln>
        </p:spPr>
      </p:sp>
      <p:sp>
        <p:nvSpPr>
          <p:cNvPr id="28" name="Text 26"/>
          <p:cNvSpPr/>
          <p:nvPr/>
        </p:nvSpPr>
        <p:spPr>
          <a:xfrm>
            <a:off x="5669280" y="4279392"/>
            <a:ext cx="1828800" cy="274320"/>
          </a:xfrm>
          <a:prstGeom prst="rect">
            <a:avLst/>
          </a:prstGeom>
          <a:noFill/>
          <a:ln/>
        </p:spPr>
        <p:txBody>
          <a:bodyPr wrap="square" lIns="0" tIns="0" rIns="0" bIns="0" rtlCol="0" anchor="ctr"/>
          <a:lstStyle/>
          <a:p>
            <a:pPr indent="0" marL="0">
              <a:buNone/>
            </a:pPr>
            <a:r>
              <a:rPr lang="en-US" sz="1100" b="1" dirty="0">
                <a:solidFill>
                  <a:srgbClr val="5E7183"/>
                </a:solidFill>
                <a:latin typeface="Meiryo" pitchFamily="34" charset="0"/>
                <a:ea typeface="Meiryo" pitchFamily="34" charset="-122"/>
                <a:cs typeface="Meiryo" pitchFamily="34" charset="-120"/>
              </a:rPr>
              <a:t>監視対象</a:t>
            </a:r>
            <a:endParaRPr lang="en-US" sz="1100" dirty="0"/>
          </a:p>
        </p:txBody>
      </p:sp>
      <p:sp>
        <p:nvSpPr>
          <p:cNvPr id="29" name="Shape 27"/>
          <p:cNvSpPr/>
          <p:nvPr/>
        </p:nvSpPr>
        <p:spPr>
          <a:xfrm>
            <a:off x="5715000" y="4617720"/>
            <a:ext cx="1783080" cy="658368"/>
          </a:xfrm>
          <a:prstGeom prst="roundRect">
            <a:avLst>
              <a:gd name="adj" fmla="val 8333"/>
            </a:avLst>
          </a:prstGeom>
          <a:solidFill>
            <a:srgbClr val="FFFFFF"/>
          </a:solidFill>
          <a:ln w="12700">
            <a:solidFill>
              <a:srgbClr val="C9D4DE"/>
            </a:solidFill>
            <a:prstDash val="solid"/>
          </a:ln>
        </p:spPr>
      </p:sp>
      <p:sp>
        <p:nvSpPr>
          <p:cNvPr id="30" name="Text 28"/>
          <p:cNvSpPr/>
          <p:nvPr/>
        </p:nvSpPr>
        <p:spPr>
          <a:xfrm>
            <a:off x="5715000" y="4709160"/>
            <a:ext cx="1783080" cy="292608"/>
          </a:xfrm>
          <a:prstGeom prst="rect">
            <a:avLst/>
          </a:prstGeom>
          <a:noFill/>
          <a:ln/>
        </p:spPr>
        <p:txBody>
          <a:bodyPr wrap="square" lIns="0" tIns="0" rIns="0" bIns="0" rtlCol="0" anchor="ctr"/>
          <a:lstStyle/>
          <a:p>
            <a:pPr algn="ctr" indent="0" marL="0">
              <a:buNone/>
            </a:pPr>
            <a:r>
              <a:rPr lang="en-US" sz="1300" b="1" dirty="0">
                <a:solidFill>
                  <a:srgbClr val="0F1E2B"/>
                </a:solidFill>
                <a:latin typeface="Meiryo" pitchFamily="34" charset="0"/>
                <a:ea typeface="Meiryo" pitchFamily="34" charset="-122"/>
                <a:cs typeface="Meiryo" pitchFamily="34" charset="-120"/>
              </a:rPr>
              <a:t>Socket Proxy</a:t>
            </a:r>
            <a:endParaRPr lang="en-US" sz="1300" dirty="0"/>
          </a:p>
        </p:txBody>
      </p:sp>
      <p:sp>
        <p:nvSpPr>
          <p:cNvPr id="31" name="Text 29"/>
          <p:cNvSpPr/>
          <p:nvPr/>
        </p:nvSpPr>
        <p:spPr>
          <a:xfrm>
            <a:off x="5715000" y="5001768"/>
            <a:ext cx="1783080" cy="256032"/>
          </a:xfrm>
          <a:prstGeom prst="rect">
            <a:avLst/>
          </a:prstGeom>
          <a:noFill/>
          <a:ln/>
        </p:spPr>
        <p:txBody>
          <a:bodyPr wrap="square" lIns="0" tIns="0" rIns="0" bIns="0" rtlCol="0" anchor="ctr"/>
          <a:lstStyle/>
          <a:p>
            <a:pPr algn="ctr" indent="0" marL="0">
              <a:buNone/>
            </a:pPr>
            <a:r>
              <a:rPr lang="en-US" sz="950" dirty="0">
                <a:solidFill>
                  <a:srgbClr val="5E7183"/>
                </a:solidFill>
                <a:latin typeface="Meiryo" pitchFamily="34" charset="0"/>
                <a:ea typeface="Meiryo" pitchFamily="34" charset="-122"/>
                <a:cs typeface="Meiryo" pitchFamily="34" charset="-120"/>
              </a:rPr>
              <a:t>Docker</a:t>
            </a:r>
            <a:endParaRPr lang="en-US" sz="950" dirty="0"/>
          </a:p>
        </p:txBody>
      </p:sp>
      <p:sp>
        <p:nvSpPr>
          <p:cNvPr id="32" name="Shape 30"/>
          <p:cNvSpPr/>
          <p:nvPr/>
        </p:nvSpPr>
        <p:spPr>
          <a:xfrm>
            <a:off x="7635240" y="4617720"/>
            <a:ext cx="1737360" cy="658368"/>
          </a:xfrm>
          <a:prstGeom prst="roundRect">
            <a:avLst>
              <a:gd name="adj" fmla="val 8333"/>
            </a:avLst>
          </a:prstGeom>
          <a:solidFill>
            <a:srgbClr val="FFFFFF"/>
          </a:solidFill>
          <a:ln w="12700">
            <a:solidFill>
              <a:srgbClr val="C9D4DE"/>
            </a:solidFill>
            <a:prstDash val="solid"/>
          </a:ln>
        </p:spPr>
      </p:sp>
      <p:sp>
        <p:nvSpPr>
          <p:cNvPr id="33" name="Text 31"/>
          <p:cNvSpPr/>
          <p:nvPr/>
        </p:nvSpPr>
        <p:spPr>
          <a:xfrm>
            <a:off x="7635240" y="4709160"/>
            <a:ext cx="1737360" cy="292608"/>
          </a:xfrm>
          <a:prstGeom prst="rect">
            <a:avLst/>
          </a:prstGeom>
          <a:noFill/>
          <a:ln/>
        </p:spPr>
        <p:txBody>
          <a:bodyPr wrap="square" lIns="0" tIns="0" rIns="0" bIns="0" rtlCol="0" anchor="ctr"/>
          <a:lstStyle/>
          <a:p>
            <a:pPr algn="ctr" indent="0" marL="0">
              <a:buNone/>
            </a:pPr>
            <a:r>
              <a:rPr lang="en-US" sz="1300" b="1" dirty="0">
                <a:solidFill>
                  <a:srgbClr val="0F1E2B"/>
                </a:solidFill>
                <a:latin typeface="Meiryo" pitchFamily="34" charset="0"/>
                <a:ea typeface="Meiryo" pitchFamily="34" charset="-122"/>
                <a:cs typeface="Meiryo" pitchFamily="34" charset="-120"/>
              </a:rPr>
              <a:t>HTTP</a:t>
            </a:r>
            <a:endParaRPr lang="en-US" sz="1300" dirty="0"/>
          </a:p>
        </p:txBody>
      </p:sp>
      <p:sp>
        <p:nvSpPr>
          <p:cNvPr id="34" name="Text 32"/>
          <p:cNvSpPr/>
          <p:nvPr/>
        </p:nvSpPr>
        <p:spPr>
          <a:xfrm>
            <a:off x="7635240" y="5001768"/>
            <a:ext cx="1737360" cy="256032"/>
          </a:xfrm>
          <a:prstGeom prst="rect">
            <a:avLst/>
          </a:prstGeom>
          <a:noFill/>
          <a:ln/>
        </p:spPr>
        <p:txBody>
          <a:bodyPr wrap="square" lIns="0" tIns="0" rIns="0" bIns="0" rtlCol="0" anchor="ctr"/>
          <a:lstStyle/>
          <a:p>
            <a:pPr algn="ctr" indent="0" marL="0">
              <a:buNone/>
            </a:pPr>
            <a:r>
              <a:rPr lang="en-US" sz="950" dirty="0">
                <a:solidFill>
                  <a:srgbClr val="5E7183"/>
                </a:solidFill>
                <a:latin typeface="Meiryo" pitchFamily="34" charset="0"/>
                <a:ea typeface="Meiryo" pitchFamily="34" charset="-122"/>
                <a:cs typeface="Meiryo" pitchFamily="34" charset="-120"/>
              </a:rPr>
              <a:t>死活・応答</a:t>
            </a:r>
            <a:endParaRPr lang="en-US" sz="950" dirty="0"/>
          </a:p>
        </p:txBody>
      </p:sp>
      <p:sp>
        <p:nvSpPr>
          <p:cNvPr id="35" name="Shape 33"/>
          <p:cNvSpPr/>
          <p:nvPr/>
        </p:nvSpPr>
        <p:spPr>
          <a:xfrm>
            <a:off x="9509760" y="4617720"/>
            <a:ext cx="1828800" cy="658368"/>
          </a:xfrm>
          <a:prstGeom prst="roundRect">
            <a:avLst>
              <a:gd name="adj" fmla="val 8333"/>
            </a:avLst>
          </a:prstGeom>
          <a:solidFill>
            <a:srgbClr val="FFFFFF"/>
          </a:solidFill>
          <a:ln w="12700">
            <a:solidFill>
              <a:srgbClr val="C9D4DE"/>
            </a:solidFill>
            <a:prstDash val="solid"/>
          </a:ln>
        </p:spPr>
      </p:sp>
      <p:sp>
        <p:nvSpPr>
          <p:cNvPr id="36" name="Text 34"/>
          <p:cNvSpPr/>
          <p:nvPr/>
        </p:nvSpPr>
        <p:spPr>
          <a:xfrm>
            <a:off x="9509760" y="4709160"/>
            <a:ext cx="1828800" cy="292608"/>
          </a:xfrm>
          <a:prstGeom prst="rect">
            <a:avLst/>
          </a:prstGeom>
          <a:noFill/>
          <a:ln/>
        </p:spPr>
        <p:txBody>
          <a:bodyPr wrap="square" lIns="0" tIns="0" rIns="0" bIns="0" rtlCol="0" anchor="ctr"/>
          <a:lstStyle/>
          <a:p>
            <a:pPr algn="ctr" indent="0" marL="0">
              <a:buNone/>
            </a:pPr>
            <a:r>
              <a:rPr lang="en-US" sz="1300" b="1" dirty="0">
                <a:solidFill>
                  <a:srgbClr val="0F1E2B"/>
                </a:solidFill>
                <a:latin typeface="Meiryo" pitchFamily="34" charset="0"/>
                <a:ea typeface="Meiryo" pitchFamily="34" charset="-122"/>
                <a:cs typeface="Meiryo" pitchFamily="34" charset="-120"/>
              </a:rPr>
              <a:t>node_exporter</a:t>
            </a:r>
            <a:endParaRPr lang="en-US" sz="1300" dirty="0"/>
          </a:p>
        </p:txBody>
      </p:sp>
      <p:sp>
        <p:nvSpPr>
          <p:cNvPr id="37" name="Text 35"/>
          <p:cNvSpPr/>
          <p:nvPr/>
        </p:nvSpPr>
        <p:spPr>
          <a:xfrm>
            <a:off x="9509760" y="5001768"/>
            <a:ext cx="1828800" cy="256032"/>
          </a:xfrm>
          <a:prstGeom prst="rect">
            <a:avLst/>
          </a:prstGeom>
          <a:noFill/>
          <a:ln/>
        </p:spPr>
        <p:txBody>
          <a:bodyPr wrap="square" lIns="0" tIns="0" rIns="0" bIns="0" rtlCol="0" anchor="ctr"/>
          <a:lstStyle/>
          <a:p>
            <a:pPr algn="ctr" indent="0" marL="0">
              <a:buNone/>
            </a:pPr>
            <a:r>
              <a:rPr lang="en-US" sz="950" dirty="0">
                <a:solidFill>
                  <a:srgbClr val="5E7183"/>
                </a:solidFill>
                <a:latin typeface="Meiryo" pitchFamily="34" charset="0"/>
                <a:ea typeface="Meiryo" pitchFamily="34" charset="-122"/>
                <a:cs typeface="Meiryo" pitchFamily="34" charset="-120"/>
              </a:rPr>
              <a:t>ディスク</a:t>
            </a:r>
            <a:endParaRPr lang="en-US" sz="950" dirty="0"/>
          </a:p>
        </p:txBody>
      </p:sp>
      <p:sp>
        <p:nvSpPr>
          <p:cNvPr id="38" name="Shape 36"/>
          <p:cNvSpPr/>
          <p:nvPr/>
        </p:nvSpPr>
        <p:spPr>
          <a:xfrm>
            <a:off x="8778240" y="3474720"/>
            <a:ext cx="0" cy="685800"/>
          </a:xfrm>
          <a:prstGeom prst="line">
            <a:avLst/>
          </a:prstGeom>
          <a:noFill/>
          <a:ln w="15875">
            <a:solidFill>
              <a:srgbClr val="5E7183"/>
            </a:solidFill>
            <a:prstDash val="solid"/>
            <a:tailEnd type="triangle"/>
          </a:ln>
        </p:spPr>
      </p:sp>
      <p:sp>
        <p:nvSpPr>
          <p:cNvPr id="39" name="Shape 37"/>
          <p:cNvSpPr/>
          <p:nvPr/>
        </p:nvSpPr>
        <p:spPr>
          <a:xfrm>
            <a:off x="777240" y="4160520"/>
            <a:ext cx="4206240" cy="1371600"/>
          </a:xfrm>
          <a:prstGeom prst="roundRect">
            <a:avLst>
              <a:gd name="adj" fmla="val 4000"/>
            </a:avLst>
          </a:prstGeom>
          <a:solidFill>
            <a:srgbClr val="FBE9E2"/>
          </a:solidFill>
          <a:ln w="12700">
            <a:solidFill>
              <a:srgbClr val="FBE9E2"/>
            </a:solidFill>
            <a:prstDash val="solid"/>
          </a:ln>
        </p:spPr>
      </p:sp>
      <p:sp>
        <p:nvSpPr>
          <p:cNvPr id="40" name="Text 38"/>
          <p:cNvSpPr/>
          <p:nvPr/>
        </p:nvSpPr>
        <p:spPr>
          <a:xfrm>
            <a:off x="1005840" y="4343400"/>
            <a:ext cx="3749040" cy="320040"/>
          </a:xfrm>
          <a:prstGeom prst="rect">
            <a:avLst/>
          </a:prstGeom>
          <a:noFill/>
          <a:ln/>
        </p:spPr>
        <p:txBody>
          <a:bodyPr wrap="square" lIns="0" tIns="0" rIns="0" bIns="0" rtlCol="0" anchor="ctr"/>
          <a:lstStyle/>
          <a:p>
            <a:pPr indent="0" marL="0">
              <a:buNone/>
            </a:pPr>
            <a:r>
              <a:rPr lang="en-US" sz="1250" b="1" dirty="0">
                <a:solidFill>
                  <a:srgbClr val="C4471F"/>
                </a:solidFill>
                <a:latin typeface="Meiryo" pitchFamily="34" charset="0"/>
                <a:ea typeface="Meiryo" pitchFamily="34" charset="-122"/>
                <a:cs typeface="Meiryo" pitchFamily="34" charset="-120"/>
              </a:rPr>
              <a:t>docker.sock は web/api に渡さない</a:t>
            </a:r>
            <a:endParaRPr lang="en-US" sz="1250" dirty="0"/>
          </a:p>
        </p:txBody>
      </p:sp>
      <p:sp>
        <p:nvSpPr>
          <p:cNvPr id="41" name="Text 39"/>
          <p:cNvSpPr/>
          <p:nvPr/>
        </p:nvSpPr>
        <p:spPr>
          <a:xfrm>
            <a:off x="1005840" y="4709160"/>
            <a:ext cx="3749040" cy="685800"/>
          </a:xfrm>
          <a:prstGeom prst="rect">
            <a:avLst/>
          </a:prstGeom>
          <a:noFill/>
          <a:ln/>
        </p:spPr>
        <p:txBody>
          <a:bodyPr wrap="square" lIns="0" tIns="0" rIns="0" bIns="0" rtlCol="0" anchor="ctr"/>
          <a:lstStyle/>
          <a:p>
            <a:pPr indent="0" marL="0">
              <a:lnSpc>
                <a:spcPts val="1700"/>
              </a:lnSpc>
              <a:buNone/>
            </a:pPr>
            <a:r>
              <a:rPr lang="en-US" sz="1150" dirty="0">
                <a:solidFill>
                  <a:srgbClr val="1B3346"/>
                </a:solidFill>
                <a:latin typeface="Meiryo" pitchFamily="34" charset="0"/>
                <a:ea typeface="Meiryo" pitchFamily="34" charset="-122"/>
                <a:cs typeface="Meiryo" pitchFamily="34" charset="-120"/>
              </a:rPr>
              <a:t>Dockerへの経路は Socket Proxy のみ。</a:t>
            </a:r>
            <a:endParaRPr lang="en-US" sz="1150" dirty="0"/>
          </a:p>
          <a:p>
            <a:pPr indent="0" marL="0">
              <a:lnSpc>
                <a:spcPts val="1700"/>
              </a:lnSpc>
              <a:buNone/>
            </a:pPr>
            <a:r>
              <a:rPr lang="en-US" sz="1150" dirty="0">
                <a:solidFill>
                  <a:srgbClr val="1B3346"/>
                </a:solidFill>
                <a:latin typeface="Meiryo" pitchFamily="34" charset="0"/>
                <a:ea typeface="Meiryo" pitchFamily="34" charset="-122"/>
                <a:cs typeface="Meiryo" pitchFamily="34" charset="-120"/>
              </a:rPr>
              <a:t>api は収集も復旧の実行も行わない。</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E2B"/>
        </a:solidFill>
      </p:bgPr>
    </p:bg>
    <p:spTree>
      <p:nvGrpSpPr>
        <p:cNvPr id="1" name=""/>
        <p:cNvGrpSpPr/>
        <p:nvPr/>
      </p:nvGrpSpPr>
      <p:grpSpPr>
        <a:xfrm>
          <a:off x="0" y="0"/>
          <a:ext cx="0" cy="0"/>
          <a:chOff x="0" y="0"/>
          <a:chExt cx="0" cy="0"/>
        </a:xfrm>
      </p:grpSpPr>
      <p:sp>
        <p:nvSpPr>
          <p:cNvPr id="2" name="Text 0"/>
          <p:cNvSpPr/>
          <p:nvPr/>
        </p:nvSpPr>
        <p:spPr>
          <a:xfrm>
            <a:off x="640080" y="2286000"/>
            <a:ext cx="5486400" cy="365760"/>
          </a:xfrm>
          <a:prstGeom prst="rect">
            <a:avLst/>
          </a:prstGeom>
          <a:noFill/>
          <a:ln/>
        </p:spPr>
        <p:txBody>
          <a:bodyPr wrap="square" lIns="0" tIns="0" rIns="0" bIns="0" rtlCol="0" anchor="ctr"/>
          <a:lstStyle/>
          <a:p>
            <a:pPr indent="0" marL="0">
              <a:buNone/>
            </a:pPr>
            <a:r>
              <a:rPr lang="en-US" sz="1300" b="1" spc="300" kern="0" dirty="0">
                <a:solidFill>
                  <a:srgbClr val="C4471F"/>
                </a:solidFill>
                <a:latin typeface="Meiryo" pitchFamily="34" charset="0"/>
                <a:ea typeface="Meiryo" pitchFamily="34" charset="-122"/>
                <a:cs typeface="Meiryo" pitchFamily="34" charset="-120"/>
              </a:rPr>
              <a:t>設計の中心</a:t>
            </a:r>
            <a:endParaRPr lang="en-US" sz="1300" dirty="0"/>
          </a:p>
        </p:txBody>
      </p:sp>
      <p:sp>
        <p:nvSpPr>
          <p:cNvPr id="3" name="Text 1"/>
          <p:cNvSpPr/>
          <p:nvPr/>
        </p:nvSpPr>
        <p:spPr>
          <a:xfrm>
            <a:off x="640080" y="2743200"/>
            <a:ext cx="10058400" cy="1463040"/>
          </a:xfrm>
          <a:prstGeom prst="rect">
            <a:avLst/>
          </a:prstGeom>
          <a:noFill/>
          <a:ln/>
        </p:spPr>
        <p:txBody>
          <a:bodyPr wrap="square" lIns="0" tIns="0" rIns="0" bIns="0" rtlCol="0" anchor="ctr"/>
          <a:lstStyle/>
          <a:p>
            <a:pPr indent="0" marL="0">
              <a:lnSpc>
                <a:spcPts val="4600"/>
              </a:lnSpc>
              <a:buNone/>
            </a:pPr>
            <a:r>
              <a:rPr lang="en-US" sz="3400" b="1" dirty="0">
                <a:solidFill>
                  <a:srgbClr val="FFFFFF"/>
                </a:solidFill>
                <a:latin typeface="Meiryo" pitchFamily="34" charset="0"/>
                <a:ea typeface="Meiryo" pitchFamily="34" charset="-122"/>
                <a:cs typeface="Meiryo" pitchFamily="34" charset="-120"/>
              </a:rPr>
              <a:t>どこまで自動でやるか、</a:t>
            </a:r>
            <a:endParaRPr lang="en-US" sz="3400" dirty="0"/>
          </a:p>
          <a:p>
            <a:pPr indent="0" marL="0">
              <a:lnSpc>
                <a:spcPts val="4600"/>
              </a:lnSpc>
              <a:buNone/>
            </a:pPr>
            <a:r>
              <a:rPr lang="en-US" sz="3400" b="1" dirty="0">
                <a:solidFill>
                  <a:srgbClr val="FFFFFF"/>
                </a:solidFill>
                <a:latin typeface="Meiryo" pitchFamily="34" charset="0"/>
                <a:ea typeface="Meiryo" pitchFamily="34" charset="-122"/>
                <a:cs typeface="Meiryo" pitchFamily="34" charset="-120"/>
              </a:rPr>
              <a:t>その線をどこに引いたか</a:t>
            </a:r>
            <a:endParaRPr lang="en-US" sz="3400" dirty="0"/>
          </a:p>
        </p:txBody>
      </p:sp>
      <p:sp>
        <p:nvSpPr>
          <p:cNvPr id="4" name="Text 2"/>
          <p:cNvSpPr/>
          <p:nvPr/>
        </p:nvSpPr>
        <p:spPr>
          <a:xfrm>
            <a:off x="640080" y="4434840"/>
            <a:ext cx="10058400" cy="365760"/>
          </a:xfrm>
          <a:prstGeom prst="rect">
            <a:avLst/>
          </a:prstGeom>
          <a:noFill/>
          <a:ln/>
        </p:spPr>
        <p:txBody>
          <a:bodyPr wrap="square" lIns="0" tIns="0" rIns="0" bIns="0" rtlCol="0" anchor="ctr"/>
          <a:lstStyle/>
          <a:p>
            <a:pPr indent="0" marL="0">
              <a:buNone/>
            </a:pPr>
            <a:r>
              <a:rPr lang="en-US" sz="1400" dirty="0">
                <a:solidFill>
                  <a:srgbClr val="93A9BC"/>
                </a:solidFill>
                <a:latin typeface="Meiryo" pitchFamily="34" charset="0"/>
                <a:ea typeface="Meiryo" pitchFamily="34" charset="-122"/>
                <a:cs typeface="Meiryo" pitchFamily="34" charset="-120"/>
              </a:rPr>
              <a:t>このシステムの本体は「監視」ではなく、自動化の範囲を絞る設計にある</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7315200" cy="274320"/>
          </a:xfrm>
          <a:prstGeom prst="rect">
            <a:avLst/>
          </a:prstGeom>
          <a:noFill/>
          <a:ln/>
        </p:spPr>
        <p:txBody>
          <a:bodyPr wrap="square" lIns="0" tIns="0" rIns="0" bIns="0" rtlCol="0" anchor="ctr"/>
          <a:lstStyle/>
          <a:p>
            <a:pPr indent="0" marL="0">
              <a:buNone/>
            </a:pPr>
            <a:r>
              <a:rPr lang="en-US" sz="1200" b="1" spc="200" kern="0" dirty="0">
                <a:solidFill>
                  <a:srgbClr val="C4471F"/>
                </a:solidFill>
                <a:latin typeface="Meiryo" pitchFamily="34" charset="0"/>
                <a:ea typeface="Meiryo" pitchFamily="34" charset="-122"/>
                <a:cs typeface="Meiryo" pitchFamily="34" charset="-120"/>
              </a:rPr>
              <a:t>設計 1</a:t>
            </a:r>
            <a:endParaRPr lang="en-US" sz="12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3000" b="1" dirty="0">
                <a:solidFill>
                  <a:srgbClr val="0F1E2B"/>
                </a:solidFill>
                <a:latin typeface="Meiryo" pitchFamily="34" charset="0"/>
                <a:ea typeface="Meiryo" pitchFamily="34" charset="-122"/>
                <a:cs typeface="Meiryo" pitchFamily="34" charset="-120"/>
              </a:rPr>
              <a:t>実行できる操作を、あらかじめ4つに固定した</a:t>
            </a:r>
            <a:endParaRPr lang="en-US" sz="3000" dirty="0"/>
          </a:p>
        </p:txBody>
      </p:sp>
      <p:sp>
        <p:nvSpPr>
          <p:cNvPr id="4" name="Text 2"/>
          <p:cNvSpPr/>
          <p:nvPr/>
        </p:nvSpPr>
        <p:spPr>
          <a:xfrm>
            <a:off x="640080" y="1481328"/>
            <a:ext cx="10881360" cy="320040"/>
          </a:xfrm>
          <a:prstGeom prst="rect">
            <a:avLst/>
          </a:prstGeom>
          <a:noFill/>
          <a:ln/>
        </p:spPr>
        <p:txBody>
          <a:bodyPr wrap="square" lIns="0" tIns="0" rIns="0" bIns="0" rtlCol="0" anchor="ctr"/>
          <a:lstStyle/>
          <a:p>
            <a:pPr indent="0" marL="0">
              <a:buNone/>
            </a:pPr>
            <a:r>
              <a:rPr lang="en-US" sz="1250" dirty="0">
                <a:solidFill>
                  <a:srgbClr val="5E7183"/>
                </a:solidFill>
                <a:latin typeface="Meiryo" pitchFamily="34" charset="0"/>
                <a:ea typeface="Meiryo" pitchFamily="34" charset="-122"/>
                <a:cs typeface="Meiryo" pitchFamily="34" charset="-120"/>
              </a:rPr>
              <a:t>AIの応答を検証して危険なコマンドを弾くのではなく、そもそも自由記述のコマンドを通す経路を作らない</a:t>
            </a:r>
            <a:endParaRPr lang="en-US" sz="1250" dirty="0"/>
          </a:p>
        </p:txBody>
      </p:sp>
      <p:sp>
        <p:nvSpPr>
          <p:cNvPr id="5" name="Shape 3"/>
          <p:cNvSpPr/>
          <p:nvPr/>
        </p:nvSpPr>
        <p:spPr>
          <a:xfrm>
            <a:off x="640080" y="2011680"/>
            <a:ext cx="6949440" cy="621792"/>
          </a:xfrm>
          <a:prstGeom prst="roundRect">
            <a:avLst>
              <a:gd name="adj" fmla="val 8824"/>
            </a:avLst>
          </a:prstGeom>
          <a:solidFill>
            <a:srgbClr val="EEF2F6"/>
          </a:solidFill>
          <a:ln w="12700">
            <a:solidFill>
              <a:srgbClr val="EEF2F6"/>
            </a:solidFill>
            <a:prstDash val="solid"/>
          </a:ln>
        </p:spPr>
      </p:sp>
      <p:sp>
        <p:nvSpPr>
          <p:cNvPr id="6" name="Text 4"/>
          <p:cNvSpPr/>
          <p:nvPr/>
        </p:nvSpPr>
        <p:spPr>
          <a:xfrm>
            <a:off x="868680" y="2066544"/>
            <a:ext cx="4023360" cy="274320"/>
          </a:xfrm>
          <a:prstGeom prst="rect">
            <a:avLst/>
          </a:prstGeom>
          <a:noFill/>
          <a:ln/>
        </p:spPr>
        <p:txBody>
          <a:bodyPr wrap="square" lIns="0" tIns="0" rIns="0" bIns="0" rtlCol="0" anchor="ctr"/>
          <a:lstStyle/>
          <a:p>
            <a:pPr indent="0" marL="0">
              <a:buNone/>
            </a:pPr>
            <a:r>
              <a:rPr lang="en-US" sz="1150" b="1" dirty="0">
                <a:solidFill>
                  <a:srgbClr val="0F1E2B"/>
                </a:solidFill>
                <a:latin typeface="Consolas" pitchFamily="34" charset="0"/>
                <a:ea typeface="Consolas" pitchFamily="34" charset="-122"/>
                <a:cs typeface="Consolas" pitchFamily="34" charset="-120"/>
              </a:rPr>
              <a:t>RECHECK_HTTP_HEALTH</a:t>
            </a:r>
            <a:endParaRPr lang="en-US" sz="1150" dirty="0"/>
          </a:p>
        </p:txBody>
      </p:sp>
      <p:sp>
        <p:nvSpPr>
          <p:cNvPr id="7" name="Text 5"/>
          <p:cNvSpPr/>
          <p:nvPr/>
        </p:nvSpPr>
        <p:spPr>
          <a:xfrm>
            <a:off x="868680" y="2340864"/>
            <a:ext cx="4572000" cy="256032"/>
          </a:xfrm>
          <a:prstGeom prst="rect">
            <a:avLst/>
          </a:prstGeom>
          <a:noFill/>
          <a:ln/>
        </p:spPr>
        <p:txBody>
          <a:bodyPr wrap="square" lIns="0" tIns="0" rIns="0" bIns="0" rtlCol="0" anchor="ctr"/>
          <a:lstStyle/>
          <a:p>
            <a:pPr indent="0" marL="0">
              <a:buNone/>
            </a:pPr>
            <a:r>
              <a:rPr lang="en-US" sz="1050" dirty="0">
                <a:solidFill>
                  <a:srgbClr val="5E7183"/>
                </a:solidFill>
                <a:latin typeface="Meiryo" pitchFamily="34" charset="0"/>
                <a:ea typeface="Meiryo" pitchFamily="34" charset="-122"/>
                <a:cs typeface="Meiryo" pitchFamily="34" charset="-120"/>
              </a:rPr>
              <a:t>副作用なし。再確認するだけ</a:t>
            </a:r>
            <a:endParaRPr lang="en-US" sz="1050" dirty="0"/>
          </a:p>
        </p:txBody>
      </p:sp>
      <p:sp>
        <p:nvSpPr>
          <p:cNvPr id="8" name="Shape 6"/>
          <p:cNvSpPr/>
          <p:nvPr/>
        </p:nvSpPr>
        <p:spPr>
          <a:xfrm>
            <a:off x="5715000" y="2157984"/>
            <a:ext cx="868680" cy="329184"/>
          </a:xfrm>
          <a:prstGeom prst="roundRect">
            <a:avLst>
              <a:gd name="adj" fmla="val 22222"/>
            </a:avLst>
          </a:prstGeom>
          <a:solidFill>
            <a:srgbClr val="E2EFEC"/>
          </a:solidFill>
          <a:ln w="12700">
            <a:solidFill>
              <a:srgbClr val="E2EFEC"/>
            </a:solidFill>
            <a:prstDash val="solid"/>
          </a:ln>
        </p:spPr>
      </p:sp>
      <p:sp>
        <p:nvSpPr>
          <p:cNvPr id="9" name="Text 7"/>
          <p:cNvSpPr/>
          <p:nvPr/>
        </p:nvSpPr>
        <p:spPr>
          <a:xfrm>
            <a:off x="5715000" y="2157984"/>
            <a:ext cx="868680" cy="329184"/>
          </a:xfrm>
          <a:prstGeom prst="rect">
            <a:avLst/>
          </a:prstGeom>
          <a:noFill/>
          <a:ln/>
        </p:spPr>
        <p:txBody>
          <a:bodyPr wrap="square" lIns="0" tIns="0" rIns="0" bIns="0" rtlCol="0" anchor="ctr"/>
          <a:lstStyle/>
          <a:p>
            <a:pPr algn="ctr" indent="0" marL="0">
              <a:buNone/>
            </a:pPr>
            <a:r>
              <a:rPr lang="en-US" sz="1050" b="1" dirty="0">
                <a:solidFill>
                  <a:srgbClr val="1B6B5E"/>
                </a:solidFill>
                <a:latin typeface="Meiryo" pitchFamily="34" charset="0"/>
                <a:ea typeface="Meiryo" pitchFamily="34" charset="-122"/>
                <a:cs typeface="Meiryo" pitchFamily="34" charset="-120"/>
              </a:rPr>
              <a:t>Low</a:t>
            </a:r>
            <a:endParaRPr lang="en-US" sz="1050" dirty="0"/>
          </a:p>
        </p:txBody>
      </p:sp>
      <p:sp>
        <p:nvSpPr>
          <p:cNvPr id="10" name="Text 8"/>
          <p:cNvSpPr/>
          <p:nvPr/>
        </p:nvSpPr>
        <p:spPr>
          <a:xfrm>
            <a:off x="6675120" y="2157984"/>
            <a:ext cx="1097280" cy="329184"/>
          </a:xfrm>
          <a:prstGeom prst="rect">
            <a:avLst/>
          </a:prstGeom>
          <a:noFill/>
          <a:ln/>
        </p:spPr>
        <p:txBody>
          <a:bodyPr wrap="square" lIns="0" tIns="0" rIns="0" bIns="0" rtlCol="0" anchor="ctr"/>
          <a:lstStyle/>
          <a:p>
            <a:pPr indent="0" marL="0">
              <a:buNone/>
            </a:pPr>
            <a:r>
              <a:rPr lang="en-US" sz="1050" dirty="0">
                <a:solidFill>
                  <a:srgbClr val="5E7183"/>
                </a:solidFill>
                <a:latin typeface="Meiryo" pitchFamily="34" charset="0"/>
                <a:ea typeface="Meiryo" pitchFamily="34" charset="-122"/>
                <a:cs typeface="Meiryo" pitchFamily="34" charset="-120"/>
              </a:rPr>
              <a:t>承認 不要</a:t>
            </a:r>
            <a:endParaRPr lang="en-US" sz="1050" dirty="0"/>
          </a:p>
        </p:txBody>
      </p:sp>
      <p:sp>
        <p:nvSpPr>
          <p:cNvPr id="11" name="Shape 9"/>
          <p:cNvSpPr/>
          <p:nvPr/>
        </p:nvSpPr>
        <p:spPr>
          <a:xfrm>
            <a:off x="640080" y="2761488"/>
            <a:ext cx="6949440" cy="621792"/>
          </a:xfrm>
          <a:prstGeom prst="roundRect">
            <a:avLst>
              <a:gd name="adj" fmla="val 8824"/>
            </a:avLst>
          </a:prstGeom>
          <a:solidFill>
            <a:srgbClr val="F7FAFC"/>
          </a:solidFill>
          <a:ln w="12700">
            <a:solidFill>
              <a:srgbClr val="F7FAFC"/>
            </a:solidFill>
            <a:prstDash val="solid"/>
          </a:ln>
        </p:spPr>
      </p:sp>
      <p:sp>
        <p:nvSpPr>
          <p:cNvPr id="12" name="Text 10"/>
          <p:cNvSpPr/>
          <p:nvPr/>
        </p:nvSpPr>
        <p:spPr>
          <a:xfrm>
            <a:off x="868680" y="2816352"/>
            <a:ext cx="4023360" cy="274320"/>
          </a:xfrm>
          <a:prstGeom prst="rect">
            <a:avLst/>
          </a:prstGeom>
          <a:noFill/>
          <a:ln/>
        </p:spPr>
        <p:txBody>
          <a:bodyPr wrap="square" lIns="0" tIns="0" rIns="0" bIns="0" rtlCol="0" anchor="ctr"/>
          <a:lstStyle/>
          <a:p>
            <a:pPr indent="0" marL="0">
              <a:buNone/>
            </a:pPr>
            <a:r>
              <a:rPr lang="en-US" sz="1150" b="1" dirty="0">
                <a:solidFill>
                  <a:srgbClr val="0F1E2B"/>
                </a:solidFill>
                <a:latin typeface="Consolas" pitchFamily="34" charset="0"/>
                <a:ea typeface="Consolas" pitchFamily="34" charset="-122"/>
                <a:cs typeface="Consolas" pitchFamily="34" charset="-120"/>
              </a:rPr>
              <a:t>RESTART_ALLOWED_CONTAINER</a:t>
            </a:r>
            <a:endParaRPr lang="en-US" sz="1150" dirty="0"/>
          </a:p>
        </p:txBody>
      </p:sp>
      <p:sp>
        <p:nvSpPr>
          <p:cNvPr id="13" name="Text 11"/>
          <p:cNvSpPr/>
          <p:nvPr/>
        </p:nvSpPr>
        <p:spPr>
          <a:xfrm>
            <a:off x="868680" y="3090672"/>
            <a:ext cx="4572000" cy="256032"/>
          </a:xfrm>
          <a:prstGeom prst="rect">
            <a:avLst/>
          </a:prstGeom>
          <a:noFill/>
          <a:ln/>
        </p:spPr>
        <p:txBody>
          <a:bodyPr wrap="square" lIns="0" tIns="0" rIns="0" bIns="0" rtlCol="0" anchor="ctr"/>
          <a:lstStyle/>
          <a:p>
            <a:pPr indent="0" marL="0">
              <a:buNone/>
            </a:pPr>
            <a:r>
              <a:rPr lang="en-US" sz="1050" dirty="0">
                <a:solidFill>
                  <a:srgbClr val="5E7183"/>
                </a:solidFill>
                <a:latin typeface="Meiryo" pitchFamily="34" charset="0"/>
                <a:ea typeface="Meiryo" pitchFamily="34" charset="-122"/>
                <a:cs typeface="Meiryo" pitchFamily="34" charset="-120"/>
              </a:rPr>
              <a:t>許可済みコンテナの再起動</a:t>
            </a:r>
            <a:endParaRPr lang="en-US" sz="1050" dirty="0"/>
          </a:p>
        </p:txBody>
      </p:sp>
      <p:sp>
        <p:nvSpPr>
          <p:cNvPr id="14" name="Shape 12"/>
          <p:cNvSpPr/>
          <p:nvPr/>
        </p:nvSpPr>
        <p:spPr>
          <a:xfrm>
            <a:off x="5715000" y="2907792"/>
            <a:ext cx="868680" cy="329184"/>
          </a:xfrm>
          <a:prstGeom prst="roundRect">
            <a:avLst>
              <a:gd name="adj" fmla="val 22222"/>
            </a:avLst>
          </a:prstGeom>
          <a:solidFill>
            <a:srgbClr val="E2EFEC"/>
          </a:solidFill>
          <a:ln w="12700">
            <a:solidFill>
              <a:srgbClr val="E2EFEC"/>
            </a:solidFill>
            <a:prstDash val="solid"/>
          </a:ln>
        </p:spPr>
      </p:sp>
      <p:sp>
        <p:nvSpPr>
          <p:cNvPr id="15" name="Text 13"/>
          <p:cNvSpPr/>
          <p:nvPr/>
        </p:nvSpPr>
        <p:spPr>
          <a:xfrm>
            <a:off x="5715000" y="2907792"/>
            <a:ext cx="868680" cy="329184"/>
          </a:xfrm>
          <a:prstGeom prst="rect">
            <a:avLst/>
          </a:prstGeom>
          <a:noFill/>
          <a:ln/>
        </p:spPr>
        <p:txBody>
          <a:bodyPr wrap="square" lIns="0" tIns="0" rIns="0" bIns="0" rtlCol="0" anchor="ctr"/>
          <a:lstStyle/>
          <a:p>
            <a:pPr algn="ctr" indent="0" marL="0">
              <a:buNone/>
            </a:pPr>
            <a:r>
              <a:rPr lang="en-US" sz="1050" b="1" dirty="0">
                <a:solidFill>
                  <a:srgbClr val="1B6B5E"/>
                </a:solidFill>
                <a:latin typeface="Meiryo" pitchFamily="34" charset="0"/>
                <a:ea typeface="Meiryo" pitchFamily="34" charset="-122"/>
                <a:cs typeface="Meiryo" pitchFamily="34" charset="-120"/>
              </a:rPr>
              <a:t>Low</a:t>
            </a:r>
            <a:endParaRPr lang="en-US" sz="1050" dirty="0"/>
          </a:p>
        </p:txBody>
      </p:sp>
      <p:sp>
        <p:nvSpPr>
          <p:cNvPr id="16" name="Text 14"/>
          <p:cNvSpPr/>
          <p:nvPr/>
        </p:nvSpPr>
        <p:spPr>
          <a:xfrm>
            <a:off x="6675120" y="2907792"/>
            <a:ext cx="1097280" cy="329184"/>
          </a:xfrm>
          <a:prstGeom prst="rect">
            <a:avLst/>
          </a:prstGeom>
          <a:noFill/>
          <a:ln/>
        </p:spPr>
        <p:txBody>
          <a:bodyPr wrap="square" lIns="0" tIns="0" rIns="0" bIns="0" rtlCol="0" anchor="ctr"/>
          <a:lstStyle/>
          <a:p>
            <a:pPr indent="0" marL="0">
              <a:buNone/>
            </a:pPr>
            <a:r>
              <a:rPr lang="en-US" sz="1050" dirty="0">
                <a:solidFill>
                  <a:srgbClr val="5E7183"/>
                </a:solidFill>
                <a:latin typeface="Meiryo" pitchFamily="34" charset="0"/>
                <a:ea typeface="Meiryo" pitchFamily="34" charset="-122"/>
                <a:cs typeface="Meiryo" pitchFamily="34" charset="-120"/>
              </a:rPr>
              <a:t>承認 不要</a:t>
            </a:r>
            <a:endParaRPr lang="en-US" sz="1050" dirty="0"/>
          </a:p>
        </p:txBody>
      </p:sp>
      <p:sp>
        <p:nvSpPr>
          <p:cNvPr id="17" name="Shape 15"/>
          <p:cNvSpPr/>
          <p:nvPr/>
        </p:nvSpPr>
        <p:spPr>
          <a:xfrm>
            <a:off x="640080" y="3511296"/>
            <a:ext cx="6949440" cy="621792"/>
          </a:xfrm>
          <a:prstGeom prst="roundRect">
            <a:avLst>
              <a:gd name="adj" fmla="val 8824"/>
            </a:avLst>
          </a:prstGeom>
          <a:solidFill>
            <a:srgbClr val="EEF2F6"/>
          </a:solidFill>
          <a:ln w="12700">
            <a:solidFill>
              <a:srgbClr val="EEF2F6"/>
            </a:solidFill>
            <a:prstDash val="solid"/>
          </a:ln>
        </p:spPr>
      </p:sp>
      <p:sp>
        <p:nvSpPr>
          <p:cNvPr id="18" name="Text 16"/>
          <p:cNvSpPr/>
          <p:nvPr/>
        </p:nvSpPr>
        <p:spPr>
          <a:xfrm>
            <a:off x="868680" y="3566160"/>
            <a:ext cx="4023360" cy="274320"/>
          </a:xfrm>
          <a:prstGeom prst="rect">
            <a:avLst/>
          </a:prstGeom>
          <a:noFill/>
          <a:ln/>
        </p:spPr>
        <p:txBody>
          <a:bodyPr wrap="square" lIns="0" tIns="0" rIns="0" bIns="0" rtlCol="0" anchor="ctr"/>
          <a:lstStyle/>
          <a:p>
            <a:pPr indent="0" marL="0">
              <a:buNone/>
            </a:pPr>
            <a:r>
              <a:rPr lang="en-US" sz="1150" b="1" dirty="0">
                <a:solidFill>
                  <a:srgbClr val="0F1E2B"/>
                </a:solidFill>
                <a:latin typeface="Consolas" pitchFamily="34" charset="0"/>
                <a:ea typeface="Consolas" pitchFamily="34" charset="-122"/>
                <a:cs typeface="Consolas" pitchFamily="34" charset="-120"/>
              </a:rPr>
              <a:t>START_ALLOWED_CONTAINER</a:t>
            </a:r>
            <a:endParaRPr lang="en-US" sz="1150" dirty="0"/>
          </a:p>
        </p:txBody>
      </p:sp>
      <p:sp>
        <p:nvSpPr>
          <p:cNvPr id="19" name="Text 17"/>
          <p:cNvSpPr/>
          <p:nvPr/>
        </p:nvSpPr>
        <p:spPr>
          <a:xfrm>
            <a:off x="868680" y="3840480"/>
            <a:ext cx="4572000" cy="256032"/>
          </a:xfrm>
          <a:prstGeom prst="rect">
            <a:avLst/>
          </a:prstGeom>
          <a:noFill/>
          <a:ln/>
        </p:spPr>
        <p:txBody>
          <a:bodyPr wrap="square" lIns="0" tIns="0" rIns="0" bIns="0" rtlCol="0" anchor="ctr"/>
          <a:lstStyle/>
          <a:p>
            <a:pPr indent="0" marL="0">
              <a:buNone/>
            </a:pPr>
            <a:r>
              <a:rPr lang="en-US" sz="1050" dirty="0">
                <a:solidFill>
                  <a:srgbClr val="5E7183"/>
                </a:solidFill>
                <a:latin typeface="Meiryo" pitchFamily="34" charset="0"/>
                <a:ea typeface="Meiryo" pitchFamily="34" charset="-122"/>
                <a:cs typeface="Meiryo" pitchFamily="34" charset="-120"/>
              </a:rPr>
              <a:t>許可済みコンテナの開始</a:t>
            </a:r>
            <a:endParaRPr lang="en-US" sz="1050" dirty="0"/>
          </a:p>
        </p:txBody>
      </p:sp>
      <p:sp>
        <p:nvSpPr>
          <p:cNvPr id="20" name="Shape 18"/>
          <p:cNvSpPr/>
          <p:nvPr/>
        </p:nvSpPr>
        <p:spPr>
          <a:xfrm>
            <a:off x="5715000" y="3657600"/>
            <a:ext cx="868680" cy="329184"/>
          </a:xfrm>
          <a:prstGeom prst="roundRect">
            <a:avLst>
              <a:gd name="adj" fmla="val 22222"/>
            </a:avLst>
          </a:prstGeom>
          <a:solidFill>
            <a:srgbClr val="FBE9E2"/>
          </a:solidFill>
          <a:ln w="12700">
            <a:solidFill>
              <a:srgbClr val="FBE9E2"/>
            </a:solidFill>
            <a:prstDash val="solid"/>
          </a:ln>
        </p:spPr>
      </p:sp>
      <p:sp>
        <p:nvSpPr>
          <p:cNvPr id="21" name="Text 19"/>
          <p:cNvSpPr/>
          <p:nvPr/>
        </p:nvSpPr>
        <p:spPr>
          <a:xfrm>
            <a:off x="5715000" y="3657600"/>
            <a:ext cx="868680" cy="329184"/>
          </a:xfrm>
          <a:prstGeom prst="rect">
            <a:avLst/>
          </a:prstGeom>
          <a:noFill/>
          <a:ln/>
        </p:spPr>
        <p:txBody>
          <a:bodyPr wrap="square" lIns="0" tIns="0" rIns="0" bIns="0" rtlCol="0" anchor="ctr"/>
          <a:lstStyle/>
          <a:p>
            <a:pPr algn="ctr" indent="0" marL="0">
              <a:buNone/>
            </a:pPr>
            <a:r>
              <a:rPr lang="en-US" sz="1050" b="1" dirty="0">
                <a:solidFill>
                  <a:srgbClr val="C4471F"/>
                </a:solidFill>
                <a:latin typeface="Meiryo" pitchFamily="34" charset="0"/>
                <a:ea typeface="Meiryo" pitchFamily="34" charset="-122"/>
                <a:cs typeface="Meiryo" pitchFamily="34" charset="-120"/>
              </a:rPr>
              <a:t>Medium</a:t>
            </a:r>
            <a:endParaRPr lang="en-US" sz="1050" dirty="0"/>
          </a:p>
        </p:txBody>
      </p:sp>
      <p:sp>
        <p:nvSpPr>
          <p:cNvPr id="22" name="Text 20"/>
          <p:cNvSpPr/>
          <p:nvPr/>
        </p:nvSpPr>
        <p:spPr>
          <a:xfrm>
            <a:off x="6675120" y="3657600"/>
            <a:ext cx="1097280" cy="329184"/>
          </a:xfrm>
          <a:prstGeom prst="rect">
            <a:avLst/>
          </a:prstGeom>
          <a:noFill/>
          <a:ln/>
        </p:spPr>
        <p:txBody>
          <a:bodyPr wrap="square" lIns="0" tIns="0" rIns="0" bIns="0" rtlCol="0" anchor="ctr"/>
          <a:lstStyle/>
          <a:p>
            <a:pPr indent="0" marL="0">
              <a:buNone/>
            </a:pPr>
            <a:r>
              <a:rPr lang="en-US" sz="1050" b="1" dirty="0">
                <a:solidFill>
                  <a:srgbClr val="C4471F"/>
                </a:solidFill>
                <a:latin typeface="Meiryo" pitchFamily="34" charset="0"/>
                <a:ea typeface="Meiryo" pitchFamily="34" charset="-122"/>
                <a:cs typeface="Meiryo" pitchFamily="34" charset="-120"/>
              </a:rPr>
              <a:t>承認 必要</a:t>
            </a:r>
            <a:endParaRPr lang="en-US" sz="1050" dirty="0"/>
          </a:p>
        </p:txBody>
      </p:sp>
      <p:sp>
        <p:nvSpPr>
          <p:cNvPr id="23" name="Shape 21"/>
          <p:cNvSpPr/>
          <p:nvPr/>
        </p:nvSpPr>
        <p:spPr>
          <a:xfrm>
            <a:off x="640080" y="4261104"/>
            <a:ext cx="6949440" cy="621792"/>
          </a:xfrm>
          <a:prstGeom prst="roundRect">
            <a:avLst>
              <a:gd name="adj" fmla="val 8824"/>
            </a:avLst>
          </a:prstGeom>
          <a:solidFill>
            <a:srgbClr val="F7FAFC"/>
          </a:solidFill>
          <a:ln w="12700">
            <a:solidFill>
              <a:srgbClr val="F7FAFC"/>
            </a:solidFill>
            <a:prstDash val="solid"/>
          </a:ln>
        </p:spPr>
      </p:sp>
      <p:sp>
        <p:nvSpPr>
          <p:cNvPr id="24" name="Text 22"/>
          <p:cNvSpPr/>
          <p:nvPr/>
        </p:nvSpPr>
        <p:spPr>
          <a:xfrm>
            <a:off x="868680" y="4315968"/>
            <a:ext cx="4023360" cy="274320"/>
          </a:xfrm>
          <a:prstGeom prst="rect">
            <a:avLst/>
          </a:prstGeom>
          <a:noFill/>
          <a:ln/>
        </p:spPr>
        <p:txBody>
          <a:bodyPr wrap="square" lIns="0" tIns="0" rIns="0" bIns="0" rtlCol="0" anchor="ctr"/>
          <a:lstStyle/>
          <a:p>
            <a:pPr indent="0" marL="0">
              <a:buNone/>
            </a:pPr>
            <a:r>
              <a:rPr lang="en-US" sz="1150" b="1" dirty="0">
                <a:solidFill>
                  <a:srgbClr val="0F1E2B"/>
                </a:solidFill>
                <a:latin typeface="Consolas" pitchFamily="34" charset="0"/>
                <a:ea typeface="Consolas" pitchFamily="34" charset="-122"/>
                <a:cs typeface="Consolas" pitchFamily="34" charset="-120"/>
              </a:rPr>
              <a:t>STOP_ALLOWED_CONTAINER</a:t>
            </a:r>
            <a:endParaRPr lang="en-US" sz="1150" dirty="0"/>
          </a:p>
        </p:txBody>
      </p:sp>
      <p:sp>
        <p:nvSpPr>
          <p:cNvPr id="25" name="Text 23"/>
          <p:cNvSpPr/>
          <p:nvPr/>
        </p:nvSpPr>
        <p:spPr>
          <a:xfrm>
            <a:off x="868680" y="4590288"/>
            <a:ext cx="4572000" cy="256032"/>
          </a:xfrm>
          <a:prstGeom prst="rect">
            <a:avLst/>
          </a:prstGeom>
          <a:noFill/>
          <a:ln/>
        </p:spPr>
        <p:txBody>
          <a:bodyPr wrap="square" lIns="0" tIns="0" rIns="0" bIns="0" rtlCol="0" anchor="ctr"/>
          <a:lstStyle/>
          <a:p>
            <a:pPr indent="0" marL="0">
              <a:buNone/>
            </a:pPr>
            <a:r>
              <a:rPr lang="en-US" sz="1050" dirty="0">
                <a:solidFill>
                  <a:srgbClr val="5E7183"/>
                </a:solidFill>
                <a:latin typeface="Meiryo" pitchFamily="34" charset="0"/>
                <a:ea typeface="Meiryo" pitchFamily="34" charset="-122"/>
                <a:cs typeface="Meiryo" pitchFamily="34" charset="-120"/>
              </a:rPr>
              <a:t>許可済みコンテナの停止</a:t>
            </a:r>
            <a:endParaRPr lang="en-US" sz="1050" dirty="0"/>
          </a:p>
        </p:txBody>
      </p:sp>
      <p:sp>
        <p:nvSpPr>
          <p:cNvPr id="26" name="Shape 24"/>
          <p:cNvSpPr/>
          <p:nvPr/>
        </p:nvSpPr>
        <p:spPr>
          <a:xfrm>
            <a:off x="5715000" y="4407408"/>
            <a:ext cx="868680" cy="329184"/>
          </a:xfrm>
          <a:prstGeom prst="roundRect">
            <a:avLst>
              <a:gd name="adj" fmla="val 22222"/>
            </a:avLst>
          </a:prstGeom>
          <a:solidFill>
            <a:srgbClr val="FBE9E2"/>
          </a:solidFill>
          <a:ln w="12700">
            <a:solidFill>
              <a:srgbClr val="FBE9E2"/>
            </a:solidFill>
            <a:prstDash val="solid"/>
          </a:ln>
        </p:spPr>
      </p:sp>
      <p:sp>
        <p:nvSpPr>
          <p:cNvPr id="27" name="Text 25"/>
          <p:cNvSpPr/>
          <p:nvPr/>
        </p:nvSpPr>
        <p:spPr>
          <a:xfrm>
            <a:off x="5715000" y="4407408"/>
            <a:ext cx="868680" cy="329184"/>
          </a:xfrm>
          <a:prstGeom prst="rect">
            <a:avLst/>
          </a:prstGeom>
          <a:noFill/>
          <a:ln/>
        </p:spPr>
        <p:txBody>
          <a:bodyPr wrap="square" lIns="0" tIns="0" rIns="0" bIns="0" rtlCol="0" anchor="ctr"/>
          <a:lstStyle/>
          <a:p>
            <a:pPr algn="ctr" indent="0" marL="0">
              <a:buNone/>
            </a:pPr>
            <a:r>
              <a:rPr lang="en-US" sz="1050" b="1" dirty="0">
                <a:solidFill>
                  <a:srgbClr val="C4471F"/>
                </a:solidFill>
                <a:latin typeface="Meiryo" pitchFamily="34" charset="0"/>
                <a:ea typeface="Meiryo" pitchFamily="34" charset="-122"/>
                <a:cs typeface="Meiryo" pitchFamily="34" charset="-120"/>
              </a:rPr>
              <a:t>Medium</a:t>
            </a:r>
            <a:endParaRPr lang="en-US" sz="1050" dirty="0"/>
          </a:p>
        </p:txBody>
      </p:sp>
      <p:sp>
        <p:nvSpPr>
          <p:cNvPr id="28" name="Text 26"/>
          <p:cNvSpPr/>
          <p:nvPr/>
        </p:nvSpPr>
        <p:spPr>
          <a:xfrm>
            <a:off x="6675120" y="4407408"/>
            <a:ext cx="1097280" cy="329184"/>
          </a:xfrm>
          <a:prstGeom prst="rect">
            <a:avLst/>
          </a:prstGeom>
          <a:noFill/>
          <a:ln/>
        </p:spPr>
        <p:txBody>
          <a:bodyPr wrap="square" lIns="0" tIns="0" rIns="0" bIns="0" rtlCol="0" anchor="ctr"/>
          <a:lstStyle/>
          <a:p>
            <a:pPr indent="0" marL="0">
              <a:buNone/>
            </a:pPr>
            <a:r>
              <a:rPr lang="en-US" sz="1050" b="1" dirty="0">
                <a:solidFill>
                  <a:srgbClr val="C4471F"/>
                </a:solidFill>
                <a:latin typeface="Meiryo" pitchFamily="34" charset="0"/>
                <a:ea typeface="Meiryo" pitchFamily="34" charset="-122"/>
                <a:cs typeface="Meiryo" pitchFamily="34" charset="-120"/>
              </a:rPr>
              <a:t>承認 必要</a:t>
            </a:r>
            <a:endParaRPr lang="en-US" sz="1050" dirty="0"/>
          </a:p>
        </p:txBody>
      </p:sp>
      <p:sp>
        <p:nvSpPr>
          <p:cNvPr id="29" name="Shape 27"/>
          <p:cNvSpPr/>
          <p:nvPr/>
        </p:nvSpPr>
        <p:spPr>
          <a:xfrm>
            <a:off x="8001000" y="2011680"/>
            <a:ext cx="3520440" cy="2798064"/>
          </a:xfrm>
          <a:prstGeom prst="roundRect">
            <a:avLst>
              <a:gd name="adj" fmla="val 1961"/>
            </a:avLst>
          </a:prstGeom>
          <a:solidFill>
            <a:srgbClr val="0F1E2B"/>
          </a:solidFill>
          <a:ln w="12700">
            <a:solidFill>
              <a:srgbClr val="0F1E2B"/>
            </a:solidFill>
            <a:prstDash val="solid"/>
          </a:ln>
        </p:spPr>
      </p:sp>
      <p:sp>
        <p:nvSpPr>
          <p:cNvPr id="30" name="Text 28"/>
          <p:cNvSpPr/>
          <p:nvPr/>
        </p:nvSpPr>
        <p:spPr>
          <a:xfrm>
            <a:off x="8275320" y="2240280"/>
            <a:ext cx="2926080" cy="292608"/>
          </a:xfrm>
          <a:prstGeom prst="rect">
            <a:avLst/>
          </a:prstGeom>
          <a:noFill/>
          <a:ln/>
        </p:spPr>
        <p:txBody>
          <a:bodyPr wrap="square" lIns="0" tIns="0" rIns="0" bIns="0" rtlCol="0" anchor="ctr"/>
          <a:lstStyle/>
          <a:p>
            <a:pPr indent="0" marL="0">
              <a:buNone/>
            </a:pPr>
            <a:r>
              <a:rPr lang="en-US" sz="1300" b="1" dirty="0">
                <a:solidFill>
                  <a:srgbClr val="FFB59E"/>
                </a:solidFill>
                <a:latin typeface="Meiryo" pitchFamily="34" charset="0"/>
                <a:ea typeface="Meiryo" pitchFamily="34" charset="-122"/>
                <a:cs typeface="Meiryo" pitchFamily="34" charset="-120"/>
              </a:rPr>
              <a:t>効果</a:t>
            </a:r>
            <a:endParaRPr lang="en-US" sz="1300" dirty="0"/>
          </a:p>
        </p:txBody>
      </p:sp>
      <p:sp>
        <p:nvSpPr>
          <p:cNvPr id="31" name="Text 29"/>
          <p:cNvSpPr/>
          <p:nvPr/>
        </p:nvSpPr>
        <p:spPr>
          <a:xfrm>
            <a:off x="8275320" y="2606040"/>
            <a:ext cx="3017520" cy="1005840"/>
          </a:xfrm>
          <a:prstGeom prst="rect">
            <a:avLst/>
          </a:prstGeom>
          <a:noFill/>
          <a:ln/>
        </p:spPr>
        <p:txBody>
          <a:bodyPr wrap="square" lIns="0" tIns="0" rIns="0" bIns="0" rtlCol="0" anchor="ctr"/>
          <a:lstStyle/>
          <a:p>
            <a:pPr indent="0" marL="0">
              <a:lnSpc>
                <a:spcPts val="2400"/>
              </a:lnSpc>
              <a:buNone/>
            </a:pPr>
            <a:r>
              <a:rPr lang="en-US" sz="1500" b="1" dirty="0">
                <a:solidFill>
                  <a:srgbClr val="FFFFFF"/>
                </a:solidFill>
                <a:latin typeface="Meiryo" pitchFamily="34" charset="0"/>
                <a:ea typeface="Meiryo" pitchFamily="34" charset="-122"/>
                <a:cs typeface="Meiryo" pitchFamily="34" charset="-120"/>
              </a:rPr>
              <a:t>AIが何を返しても、</a:t>
            </a:r>
            <a:endParaRPr lang="en-US" sz="1500" dirty="0"/>
          </a:p>
          <a:p>
            <a:pPr indent="0" marL="0">
              <a:lnSpc>
                <a:spcPts val="2400"/>
              </a:lnSpc>
              <a:buNone/>
            </a:pPr>
            <a:r>
              <a:rPr lang="en-US" sz="1500" b="1" dirty="0">
                <a:solidFill>
                  <a:srgbClr val="FFFFFF"/>
                </a:solidFill>
                <a:latin typeface="Meiryo" pitchFamily="34" charset="0"/>
                <a:ea typeface="Meiryo" pitchFamily="34" charset="-122"/>
                <a:cs typeface="Meiryo" pitchFamily="34" charset="-120"/>
              </a:rPr>
              <a:t>任意コマンドを実行する</a:t>
            </a:r>
            <a:endParaRPr lang="en-US" sz="1500" dirty="0"/>
          </a:p>
          <a:p>
            <a:pPr indent="0" marL="0">
              <a:lnSpc>
                <a:spcPts val="2400"/>
              </a:lnSpc>
              <a:buNone/>
            </a:pPr>
            <a:r>
              <a:rPr lang="en-US" sz="1500" b="1" dirty="0">
                <a:solidFill>
                  <a:srgbClr val="FFFFFF"/>
                </a:solidFill>
                <a:latin typeface="Meiryo" pitchFamily="34" charset="0"/>
                <a:ea typeface="Meiryo" pitchFamily="34" charset="-122"/>
                <a:cs typeface="Meiryo" pitchFamily="34" charset="-120"/>
              </a:rPr>
              <a:t>経路が存在しない</a:t>
            </a:r>
            <a:endParaRPr lang="en-US" sz="1500" dirty="0"/>
          </a:p>
        </p:txBody>
      </p:sp>
      <p:sp>
        <p:nvSpPr>
          <p:cNvPr id="32" name="Text 30"/>
          <p:cNvSpPr/>
          <p:nvPr/>
        </p:nvSpPr>
        <p:spPr>
          <a:xfrm>
            <a:off x="8275320" y="3749040"/>
            <a:ext cx="3017520" cy="1005840"/>
          </a:xfrm>
          <a:prstGeom prst="rect">
            <a:avLst/>
          </a:prstGeom>
          <a:noFill/>
          <a:ln/>
        </p:spPr>
        <p:txBody>
          <a:bodyPr wrap="square" lIns="0" tIns="0" rIns="0" bIns="0" rtlCol="0" anchor="ctr"/>
          <a:lstStyle/>
          <a:p>
            <a:pPr indent="0" marL="0">
              <a:lnSpc>
                <a:spcPts val="1700"/>
              </a:lnSpc>
              <a:buNone/>
            </a:pPr>
            <a:r>
              <a:rPr lang="en-US" sz="1100" dirty="0">
                <a:solidFill>
                  <a:srgbClr val="B7C7D6"/>
                </a:solidFill>
                <a:latin typeface="Meiryo" pitchFamily="34" charset="0"/>
                <a:ea typeface="Meiryo" pitchFamily="34" charset="-122"/>
                <a:cs typeface="Meiryo" pitchFamily="34" charset="-120"/>
              </a:rPr>
              <a:t>収集したログには監視対象の側が</a:t>
            </a:r>
            <a:endParaRPr lang="en-US" sz="1100" dirty="0"/>
          </a:p>
          <a:p>
            <a:pPr indent="0" marL="0">
              <a:lnSpc>
                <a:spcPts val="1700"/>
              </a:lnSpc>
              <a:buNone/>
            </a:pPr>
            <a:r>
              <a:rPr lang="en-US" sz="1100" dirty="0">
                <a:solidFill>
                  <a:srgbClr val="B7C7D6"/>
                </a:solidFill>
                <a:latin typeface="Meiryo" pitchFamily="34" charset="0"/>
                <a:ea typeface="Meiryo" pitchFamily="34" charset="-122"/>
                <a:cs typeface="Meiryo" pitchFamily="34" charset="-120"/>
              </a:rPr>
              <a:t>任意の文字列を書き込める。</a:t>
            </a:r>
            <a:endParaRPr lang="en-US" sz="1100" dirty="0"/>
          </a:p>
          <a:p>
            <a:pPr indent="0" marL="0">
              <a:lnSpc>
                <a:spcPts val="1700"/>
              </a:lnSpc>
              <a:buNone/>
            </a:pPr>
            <a:r>
              <a:rPr lang="en-US" sz="1100" dirty="0">
                <a:solidFill>
                  <a:srgbClr val="B7C7D6"/>
                </a:solidFill>
                <a:latin typeface="Meiryo" pitchFamily="34" charset="0"/>
                <a:ea typeface="Meiryo" pitchFamily="34" charset="-122"/>
                <a:cs typeface="Meiryo" pitchFamily="34" charset="-120"/>
              </a:rPr>
              <a:t>応答は許可リストで検証し、</a:t>
            </a:r>
            <a:endParaRPr lang="en-US" sz="1100" dirty="0"/>
          </a:p>
          <a:p>
            <a:pPr indent="0" marL="0">
              <a:lnSpc>
                <a:spcPts val="1700"/>
              </a:lnSpc>
              <a:buNone/>
            </a:pPr>
            <a:r>
              <a:rPr lang="en-US" sz="1100" dirty="0">
                <a:solidFill>
                  <a:srgbClr val="B7C7D6"/>
                </a:solidFill>
                <a:latin typeface="Meiryo" pitchFamily="34" charset="0"/>
                <a:ea typeface="Meiryo" pitchFamily="34" charset="-122"/>
                <a:cs typeface="Meiryo" pitchFamily="34" charset="-120"/>
              </a:rPr>
              <a:t>一覧に無いIDは受け付けない。</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7315200" cy="274320"/>
          </a:xfrm>
          <a:prstGeom prst="rect">
            <a:avLst/>
          </a:prstGeom>
          <a:noFill/>
          <a:ln/>
        </p:spPr>
        <p:txBody>
          <a:bodyPr wrap="square" lIns="0" tIns="0" rIns="0" bIns="0" rtlCol="0" anchor="ctr"/>
          <a:lstStyle/>
          <a:p>
            <a:pPr indent="0" marL="0">
              <a:buNone/>
            </a:pPr>
            <a:r>
              <a:rPr lang="en-US" sz="1200" b="1" spc="200" kern="0" dirty="0">
                <a:solidFill>
                  <a:srgbClr val="C4471F"/>
                </a:solidFill>
                <a:latin typeface="Meiryo" pitchFamily="34" charset="0"/>
                <a:ea typeface="Meiryo" pitchFamily="34" charset="-122"/>
                <a:cs typeface="Meiryo" pitchFamily="34" charset="-120"/>
              </a:rPr>
              <a:t>設計 2</a:t>
            </a:r>
            <a:endParaRPr lang="en-US" sz="12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3000" b="1" dirty="0">
                <a:solidFill>
                  <a:srgbClr val="0F1E2B"/>
                </a:solidFill>
                <a:latin typeface="Meiryo" pitchFamily="34" charset="0"/>
                <a:ea typeface="Meiryo" pitchFamily="34" charset="-122"/>
                <a:cs typeface="Meiryo" pitchFamily="34" charset="-120"/>
              </a:rPr>
              <a:t>自動実行は、6条件をすべて満たすときだけ</a:t>
            </a:r>
            <a:endParaRPr lang="en-US" sz="3000" dirty="0"/>
          </a:p>
        </p:txBody>
      </p:sp>
      <p:sp>
        <p:nvSpPr>
          <p:cNvPr id="4" name="Shape 2"/>
          <p:cNvSpPr/>
          <p:nvPr/>
        </p:nvSpPr>
        <p:spPr>
          <a:xfrm>
            <a:off x="640080" y="1783080"/>
            <a:ext cx="3429000" cy="1234440"/>
          </a:xfrm>
          <a:prstGeom prst="roundRect">
            <a:avLst>
              <a:gd name="adj" fmla="val 4444"/>
            </a:avLst>
          </a:prstGeom>
          <a:solidFill>
            <a:srgbClr val="EEF2F6"/>
          </a:solidFill>
          <a:ln w="12700">
            <a:solidFill>
              <a:srgbClr val="EEF2F6"/>
            </a:solidFill>
            <a:prstDash val="solid"/>
          </a:ln>
        </p:spPr>
      </p:sp>
      <p:sp>
        <p:nvSpPr>
          <p:cNvPr id="5" name="Shape 3"/>
          <p:cNvSpPr/>
          <p:nvPr/>
        </p:nvSpPr>
        <p:spPr>
          <a:xfrm>
            <a:off x="868680" y="1984248"/>
            <a:ext cx="420624" cy="420624"/>
          </a:xfrm>
          <a:prstGeom prst="ellipse">
            <a:avLst/>
          </a:prstGeom>
          <a:solidFill>
            <a:srgbClr val="FFFFFF"/>
          </a:solidFill>
          <a:ln w="12700">
            <a:solidFill>
              <a:srgbClr val="FFFFFF"/>
            </a:solidFill>
            <a:prstDash val="solid"/>
          </a:ln>
        </p:spPr>
      </p:sp>
      <p:sp>
        <p:nvSpPr>
          <p:cNvPr id="6" name="Text 4"/>
          <p:cNvSpPr/>
          <p:nvPr/>
        </p:nvSpPr>
        <p:spPr>
          <a:xfrm>
            <a:off x="868680" y="1984248"/>
            <a:ext cx="420624" cy="420624"/>
          </a:xfrm>
          <a:prstGeom prst="rect">
            <a:avLst/>
          </a:prstGeom>
          <a:noFill/>
          <a:ln/>
        </p:spPr>
        <p:txBody>
          <a:bodyPr wrap="square" lIns="0" tIns="0" rIns="0" bIns="0" rtlCol="0" anchor="ctr"/>
          <a:lstStyle/>
          <a:p>
            <a:pPr algn="ctr" indent="0" marL="0">
              <a:buNone/>
            </a:pPr>
            <a:r>
              <a:rPr lang="en-US" sz="1400" b="1" dirty="0">
                <a:solidFill>
                  <a:srgbClr val="0F1E2B"/>
                </a:solidFill>
                <a:latin typeface="Meiryo" pitchFamily="34" charset="0"/>
                <a:ea typeface="Meiryo" pitchFamily="34" charset="-122"/>
                <a:cs typeface="Meiryo" pitchFamily="34" charset="-120"/>
              </a:rPr>
              <a:t>1</a:t>
            </a:r>
            <a:endParaRPr lang="en-US" sz="1400" dirty="0"/>
          </a:p>
        </p:txBody>
      </p:sp>
      <p:sp>
        <p:nvSpPr>
          <p:cNvPr id="7" name="Text 5"/>
          <p:cNvSpPr/>
          <p:nvPr/>
        </p:nvSpPr>
        <p:spPr>
          <a:xfrm>
            <a:off x="1389888" y="2002536"/>
            <a:ext cx="2514600" cy="320040"/>
          </a:xfrm>
          <a:prstGeom prst="rect">
            <a:avLst/>
          </a:prstGeom>
          <a:noFill/>
          <a:ln/>
        </p:spPr>
        <p:txBody>
          <a:bodyPr wrap="square" lIns="0" tIns="0" rIns="0" bIns="0" rtlCol="0" anchor="ctr"/>
          <a:lstStyle/>
          <a:p>
            <a:pPr indent="0" marL="0">
              <a:buNone/>
            </a:pPr>
            <a:r>
              <a:rPr lang="en-US" sz="1300" b="1" dirty="0">
                <a:solidFill>
                  <a:srgbClr val="0F1E2B"/>
                </a:solidFill>
                <a:latin typeface="Meiryo" pitchFamily="34" charset="0"/>
                <a:ea typeface="Meiryo" pitchFamily="34" charset="-122"/>
                <a:cs typeface="Meiryo" pitchFamily="34" charset="-120"/>
              </a:rPr>
              <a:t>自動復旧が有効</a:t>
            </a:r>
            <a:endParaRPr lang="en-US" sz="1300" dirty="0"/>
          </a:p>
        </p:txBody>
      </p:sp>
      <p:sp>
        <p:nvSpPr>
          <p:cNvPr id="8" name="Text 6"/>
          <p:cNvSpPr/>
          <p:nvPr/>
        </p:nvSpPr>
        <p:spPr>
          <a:xfrm>
            <a:off x="1389888" y="2350008"/>
            <a:ext cx="2514600" cy="502920"/>
          </a:xfrm>
          <a:prstGeom prst="rect">
            <a:avLst/>
          </a:prstGeom>
          <a:noFill/>
          <a:ln/>
        </p:spPr>
        <p:txBody>
          <a:bodyPr wrap="square" lIns="0" tIns="0" rIns="0" bIns="0" rtlCol="0" anchor="ctr"/>
          <a:lstStyle/>
          <a:p>
            <a:pPr indent="0" marL="0">
              <a:lnSpc>
                <a:spcPts val="1500"/>
              </a:lnSpc>
              <a:buNone/>
            </a:pPr>
            <a:r>
              <a:rPr lang="en-US" sz="1050" dirty="0">
                <a:solidFill>
                  <a:srgbClr val="5E7183"/>
                </a:solidFill>
                <a:latin typeface="Meiryo" pitchFamily="34" charset="0"/>
                <a:ea typeface="Meiryo" pitchFamily="34" charset="-122"/>
                <a:cs typeface="Meiryo" pitchFamily="34" charset="-120"/>
              </a:rPr>
              <a:t>初期値は OFF</a:t>
            </a:r>
            <a:endParaRPr lang="en-US" sz="1050" dirty="0"/>
          </a:p>
        </p:txBody>
      </p:sp>
      <p:sp>
        <p:nvSpPr>
          <p:cNvPr id="9" name="Shape 7"/>
          <p:cNvSpPr/>
          <p:nvPr/>
        </p:nvSpPr>
        <p:spPr>
          <a:xfrm>
            <a:off x="4343400" y="1783080"/>
            <a:ext cx="3429000" cy="1234440"/>
          </a:xfrm>
          <a:prstGeom prst="roundRect">
            <a:avLst>
              <a:gd name="adj" fmla="val 4444"/>
            </a:avLst>
          </a:prstGeom>
          <a:solidFill>
            <a:srgbClr val="EEF2F6"/>
          </a:solidFill>
          <a:ln w="12700">
            <a:solidFill>
              <a:srgbClr val="EEF2F6"/>
            </a:solidFill>
            <a:prstDash val="solid"/>
          </a:ln>
        </p:spPr>
      </p:sp>
      <p:sp>
        <p:nvSpPr>
          <p:cNvPr id="10" name="Shape 8"/>
          <p:cNvSpPr/>
          <p:nvPr/>
        </p:nvSpPr>
        <p:spPr>
          <a:xfrm>
            <a:off x="4572000" y="1984248"/>
            <a:ext cx="420624" cy="420624"/>
          </a:xfrm>
          <a:prstGeom prst="ellipse">
            <a:avLst/>
          </a:prstGeom>
          <a:solidFill>
            <a:srgbClr val="FFFFFF"/>
          </a:solidFill>
          <a:ln w="12700">
            <a:solidFill>
              <a:srgbClr val="FFFFFF"/>
            </a:solidFill>
            <a:prstDash val="solid"/>
          </a:ln>
        </p:spPr>
      </p:sp>
      <p:sp>
        <p:nvSpPr>
          <p:cNvPr id="11" name="Text 9"/>
          <p:cNvSpPr/>
          <p:nvPr/>
        </p:nvSpPr>
        <p:spPr>
          <a:xfrm>
            <a:off x="4572000" y="1984248"/>
            <a:ext cx="420624" cy="420624"/>
          </a:xfrm>
          <a:prstGeom prst="rect">
            <a:avLst/>
          </a:prstGeom>
          <a:noFill/>
          <a:ln/>
        </p:spPr>
        <p:txBody>
          <a:bodyPr wrap="square" lIns="0" tIns="0" rIns="0" bIns="0" rtlCol="0" anchor="ctr"/>
          <a:lstStyle/>
          <a:p>
            <a:pPr algn="ctr" indent="0" marL="0">
              <a:buNone/>
            </a:pPr>
            <a:r>
              <a:rPr lang="en-US" sz="1400" b="1" dirty="0">
                <a:solidFill>
                  <a:srgbClr val="0F1E2B"/>
                </a:solidFill>
                <a:latin typeface="Meiryo" pitchFamily="34" charset="0"/>
                <a:ea typeface="Meiryo" pitchFamily="34" charset="-122"/>
                <a:cs typeface="Meiryo" pitchFamily="34" charset="-120"/>
              </a:rPr>
              <a:t>2</a:t>
            </a:r>
            <a:endParaRPr lang="en-US" sz="1400" dirty="0"/>
          </a:p>
        </p:txBody>
      </p:sp>
      <p:sp>
        <p:nvSpPr>
          <p:cNvPr id="12" name="Text 10"/>
          <p:cNvSpPr/>
          <p:nvPr/>
        </p:nvSpPr>
        <p:spPr>
          <a:xfrm>
            <a:off x="5093208" y="2002536"/>
            <a:ext cx="2514600" cy="320040"/>
          </a:xfrm>
          <a:prstGeom prst="rect">
            <a:avLst/>
          </a:prstGeom>
          <a:noFill/>
          <a:ln/>
        </p:spPr>
        <p:txBody>
          <a:bodyPr wrap="square" lIns="0" tIns="0" rIns="0" bIns="0" rtlCol="0" anchor="ctr"/>
          <a:lstStyle/>
          <a:p>
            <a:pPr indent="0" marL="0">
              <a:buNone/>
            </a:pPr>
            <a:r>
              <a:rPr lang="en-US" sz="1300" b="1" dirty="0">
                <a:solidFill>
                  <a:srgbClr val="0F1E2B"/>
                </a:solidFill>
                <a:latin typeface="Meiryo" pitchFamily="34" charset="0"/>
                <a:ea typeface="Meiryo" pitchFamily="34" charset="-122"/>
                <a:cs typeface="Meiryo" pitchFamily="34" charset="-120"/>
              </a:rPr>
              <a:t>推奨アクションがある</a:t>
            </a:r>
            <a:endParaRPr lang="en-US" sz="1300" dirty="0"/>
          </a:p>
        </p:txBody>
      </p:sp>
      <p:sp>
        <p:nvSpPr>
          <p:cNvPr id="13" name="Text 11"/>
          <p:cNvSpPr/>
          <p:nvPr/>
        </p:nvSpPr>
        <p:spPr>
          <a:xfrm>
            <a:off x="5093208" y="2350008"/>
            <a:ext cx="2514600" cy="502920"/>
          </a:xfrm>
          <a:prstGeom prst="rect">
            <a:avLst/>
          </a:prstGeom>
          <a:noFill/>
          <a:ln/>
        </p:spPr>
        <p:txBody>
          <a:bodyPr wrap="square" lIns="0" tIns="0" rIns="0" bIns="0" rtlCol="0" anchor="ctr"/>
          <a:lstStyle/>
          <a:p>
            <a:pPr indent="0" marL="0">
              <a:lnSpc>
                <a:spcPts val="1500"/>
              </a:lnSpc>
              <a:buNone/>
            </a:pPr>
            <a:r>
              <a:rPr lang="en-US" sz="1050" dirty="0">
                <a:solidFill>
                  <a:srgbClr val="5E7183"/>
                </a:solidFill>
                <a:latin typeface="Meiryo" pitchFamily="34" charset="0"/>
                <a:ea typeface="Meiryo" pitchFamily="34" charset="-122"/>
                <a:cs typeface="Meiryo" pitchFamily="34" charset="-120"/>
              </a:rPr>
              <a:t>対象の能力で許可されている</a:t>
            </a:r>
            <a:endParaRPr lang="en-US" sz="1050" dirty="0"/>
          </a:p>
        </p:txBody>
      </p:sp>
      <p:sp>
        <p:nvSpPr>
          <p:cNvPr id="14" name="Shape 12"/>
          <p:cNvSpPr/>
          <p:nvPr/>
        </p:nvSpPr>
        <p:spPr>
          <a:xfrm>
            <a:off x="8046720" y="1783080"/>
            <a:ext cx="3429000" cy="1234440"/>
          </a:xfrm>
          <a:prstGeom prst="roundRect">
            <a:avLst>
              <a:gd name="adj" fmla="val 4444"/>
            </a:avLst>
          </a:prstGeom>
          <a:solidFill>
            <a:srgbClr val="EEF2F6"/>
          </a:solidFill>
          <a:ln w="12700">
            <a:solidFill>
              <a:srgbClr val="EEF2F6"/>
            </a:solidFill>
            <a:prstDash val="solid"/>
          </a:ln>
        </p:spPr>
      </p:sp>
      <p:sp>
        <p:nvSpPr>
          <p:cNvPr id="15" name="Shape 13"/>
          <p:cNvSpPr/>
          <p:nvPr/>
        </p:nvSpPr>
        <p:spPr>
          <a:xfrm>
            <a:off x="8275320" y="1984248"/>
            <a:ext cx="420624" cy="420624"/>
          </a:xfrm>
          <a:prstGeom prst="ellipse">
            <a:avLst/>
          </a:prstGeom>
          <a:solidFill>
            <a:srgbClr val="FFFFFF"/>
          </a:solidFill>
          <a:ln w="12700">
            <a:solidFill>
              <a:srgbClr val="FFFFFF"/>
            </a:solidFill>
            <a:prstDash val="solid"/>
          </a:ln>
        </p:spPr>
      </p:sp>
      <p:sp>
        <p:nvSpPr>
          <p:cNvPr id="16" name="Text 14"/>
          <p:cNvSpPr/>
          <p:nvPr/>
        </p:nvSpPr>
        <p:spPr>
          <a:xfrm>
            <a:off x="8275320" y="1984248"/>
            <a:ext cx="420624" cy="420624"/>
          </a:xfrm>
          <a:prstGeom prst="rect">
            <a:avLst/>
          </a:prstGeom>
          <a:noFill/>
          <a:ln/>
        </p:spPr>
        <p:txBody>
          <a:bodyPr wrap="square" lIns="0" tIns="0" rIns="0" bIns="0" rtlCol="0" anchor="ctr"/>
          <a:lstStyle/>
          <a:p>
            <a:pPr algn="ctr" indent="0" marL="0">
              <a:buNone/>
            </a:pPr>
            <a:r>
              <a:rPr lang="en-US" sz="1400" b="1" dirty="0">
                <a:solidFill>
                  <a:srgbClr val="0F1E2B"/>
                </a:solidFill>
                <a:latin typeface="Meiryo" pitchFamily="34" charset="0"/>
                <a:ea typeface="Meiryo" pitchFamily="34" charset="-122"/>
                <a:cs typeface="Meiryo" pitchFamily="34" charset="-120"/>
              </a:rPr>
              <a:t>3</a:t>
            </a:r>
            <a:endParaRPr lang="en-US" sz="1400" dirty="0"/>
          </a:p>
        </p:txBody>
      </p:sp>
      <p:sp>
        <p:nvSpPr>
          <p:cNvPr id="17" name="Text 15"/>
          <p:cNvSpPr/>
          <p:nvPr/>
        </p:nvSpPr>
        <p:spPr>
          <a:xfrm>
            <a:off x="8796528" y="2002536"/>
            <a:ext cx="2514600" cy="320040"/>
          </a:xfrm>
          <a:prstGeom prst="rect">
            <a:avLst/>
          </a:prstGeom>
          <a:noFill/>
          <a:ln/>
        </p:spPr>
        <p:txBody>
          <a:bodyPr wrap="square" lIns="0" tIns="0" rIns="0" bIns="0" rtlCol="0" anchor="ctr"/>
          <a:lstStyle/>
          <a:p>
            <a:pPr indent="0" marL="0">
              <a:buNone/>
            </a:pPr>
            <a:r>
              <a:rPr lang="en-US" sz="1300" b="1" dirty="0">
                <a:solidFill>
                  <a:srgbClr val="0F1E2B"/>
                </a:solidFill>
                <a:latin typeface="Meiryo" pitchFamily="34" charset="0"/>
                <a:ea typeface="Meiryo" pitchFamily="34" charset="-122"/>
                <a:cs typeface="Meiryo" pitchFamily="34" charset="-120"/>
              </a:rPr>
              <a:t>Low 危険度かつ承認不要</a:t>
            </a:r>
            <a:endParaRPr lang="en-US" sz="1300" dirty="0"/>
          </a:p>
        </p:txBody>
      </p:sp>
      <p:sp>
        <p:nvSpPr>
          <p:cNvPr id="18" name="Text 16"/>
          <p:cNvSpPr/>
          <p:nvPr/>
        </p:nvSpPr>
        <p:spPr>
          <a:xfrm>
            <a:off x="8796528" y="2350008"/>
            <a:ext cx="2514600" cy="502920"/>
          </a:xfrm>
          <a:prstGeom prst="rect">
            <a:avLst/>
          </a:prstGeom>
          <a:noFill/>
          <a:ln/>
        </p:spPr>
        <p:txBody>
          <a:bodyPr wrap="square" lIns="0" tIns="0" rIns="0" bIns="0" rtlCol="0" anchor="ctr"/>
          <a:lstStyle/>
          <a:p>
            <a:pPr indent="0" marL="0">
              <a:lnSpc>
                <a:spcPts val="1500"/>
              </a:lnSpc>
              <a:buNone/>
            </a:pPr>
            <a:r>
              <a:rPr lang="en-US" sz="1050" dirty="0">
                <a:solidFill>
                  <a:srgbClr val="5E7183"/>
                </a:solidFill>
                <a:latin typeface="Meiryo" pitchFamily="34" charset="0"/>
                <a:ea typeface="Meiryo" pitchFamily="34" charset="-122"/>
                <a:cs typeface="Meiryo" pitchFamily="34" charset="-120"/>
              </a:rPr>
              <a:t>Medium 以上は自動実行しない</a:t>
            </a:r>
            <a:endParaRPr lang="en-US" sz="1050" dirty="0"/>
          </a:p>
        </p:txBody>
      </p:sp>
      <p:sp>
        <p:nvSpPr>
          <p:cNvPr id="19" name="Shape 17"/>
          <p:cNvSpPr/>
          <p:nvPr/>
        </p:nvSpPr>
        <p:spPr>
          <a:xfrm>
            <a:off x="640080" y="3291840"/>
            <a:ext cx="3429000" cy="1234440"/>
          </a:xfrm>
          <a:prstGeom prst="roundRect">
            <a:avLst>
              <a:gd name="adj" fmla="val 4444"/>
            </a:avLst>
          </a:prstGeom>
          <a:solidFill>
            <a:srgbClr val="EEF2F6"/>
          </a:solidFill>
          <a:ln w="12700">
            <a:solidFill>
              <a:srgbClr val="EEF2F6"/>
            </a:solidFill>
            <a:prstDash val="solid"/>
          </a:ln>
        </p:spPr>
      </p:sp>
      <p:sp>
        <p:nvSpPr>
          <p:cNvPr id="20" name="Shape 18"/>
          <p:cNvSpPr/>
          <p:nvPr/>
        </p:nvSpPr>
        <p:spPr>
          <a:xfrm>
            <a:off x="868680" y="3493008"/>
            <a:ext cx="420624" cy="420624"/>
          </a:xfrm>
          <a:prstGeom prst="ellipse">
            <a:avLst/>
          </a:prstGeom>
          <a:solidFill>
            <a:srgbClr val="FFFFFF"/>
          </a:solidFill>
          <a:ln w="12700">
            <a:solidFill>
              <a:srgbClr val="FFFFFF"/>
            </a:solidFill>
            <a:prstDash val="solid"/>
          </a:ln>
        </p:spPr>
      </p:sp>
      <p:sp>
        <p:nvSpPr>
          <p:cNvPr id="21" name="Text 19"/>
          <p:cNvSpPr/>
          <p:nvPr/>
        </p:nvSpPr>
        <p:spPr>
          <a:xfrm>
            <a:off x="868680" y="3493008"/>
            <a:ext cx="420624" cy="420624"/>
          </a:xfrm>
          <a:prstGeom prst="rect">
            <a:avLst/>
          </a:prstGeom>
          <a:noFill/>
          <a:ln/>
        </p:spPr>
        <p:txBody>
          <a:bodyPr wrap="square" lIns="0" tIns="0" rIns="0" bIns="0" rtlCol="0" anchor="ctr"/>
          <a:lstStyle/>
          <a:p>
            <a:pPr algn="ctr" indent="0" marL="0">
              <a:buNone/>
            </a:pPr>
            <a:r>
              <a:rPr lang="en-US" sz="1400" b="1" dirty="0">
                <a:solidFill>
                  <a:srgbClr val="0F1E2B"/>
                </a:solidFill>
                <a:latin typeface="Meiryo" pitchFamily="34" charset="0"/>
                <a:ea typeface="Meiryo" pitchFamily="34" charset="-122"/>
                <a:cs typeface="Meiryo" pitchFamily="34" charset="-120"/>
              </a:rPr>
              <a:t>4</a:t>
            </a:r>
            <a:endParaRPr lang="en-US" sz="1400" dirty="0"/>
          </a:p>
        </p:txBody>
      </p:sp>
      <p:sp>
        <p:nvSpPr>
          <p:cNvPr id="22" name="Text 20"/>
          <p:cNvSpPr/>
          <p:nvPr/>
        </p:nvSpPr>
        <p:spPr>
          <a:xfrm>
            <a:off x="1389888" y="3511296"/>
            <a:ext cx="2514600" cy="320040"/>
          </a:xfrm>
          <a:prstGeom prst="rect">
            <a:avLst/>
          </a:prstGeom>
          <a:noFill/>
          <a:ln/>
        </p:spPr>
        <p:txBody>
          <a:bodyPr wrap="square" lIns="0" tIns="0" rIns="0" bIns="0" rtlCol="0" anchor="ctr"/>
          <a:lstStyle/>
          <a:p>
            <a:pPr indent="0" marL="0">
              <a:buNone/>
            </a:pPr>
            <a:r>
              <a:rPr lang="en-US" sz="1300" b="1" dirty="0">
                <a:solidFill>
                  <a:srgbClr val="0F1E2B"/>
                </a:solidFill>
                <a:latin typeface="Meiryo" pitchFamily="34" charset="0"/>
                <a:ea typeface="Meiryo" pitchFamily="34" charset="-122"/>
                <a:cs typeface="Meiryo" pitchFamily="34" charset="-120"/>
              </a:rPr>
              <a:t>許可リストに含まれる</a:t>
            </a:r>
            <a:endParaRPr lang="en-US" sz="1300" dirty="0"/>
          </a:p>
        </p:txBody>
      </p:sp>
      <p:sp>
        <p:nvSpPr>
          <p:cNvPr id="23" name="Text 21"/>
          <p:cNvSpPr/>
          <p:nvPr/>
        </p:nvSpPr>
        <p:spPr>
          <a:xfrm>
            <a:off x="1389888" y="3858768"/>
            <a:ext cx="2514600" cy="502920"/>
          </a:xfrm>
          <a:prstGeom prst="rect">
            <a:avLst/>
          </a:prstGeom>
          <a:noFill/>
          <a:ln/>
        </p:spPr>
        <p:txBody>
          <a:bodyPr wrap="square" lIns="0" tIns="0" rIns="0" bIns="0" rtlCol="0" anchor="ctr"/>
          <a:lstStyle/>
          <a:p>
            <a:pPr indent="0" marL="0">
              <a:lnSpc>
                <a:spcPts val="1500"/>
              </a:lnSpc>
              <a:buNone/>
            </a:pPr>
            <a:r>
              <a:rPr lang="en-US" sz="1050" dirty="0">
                <a:solidFill>
                  <a:srgbClr val="5E7183"/>
                </a:solidFill>
                <a:latin typeface="Meiryo" pitchFamily="34" charset="0"/>
                <a:ea typeface="Meiryo" pitchFamily="34" charset="-122"/>
                <a:cs typeface="Meiryo" pitchFamily="34" charset="-120"/>
              </a:rPr>
              <a:t>対象別。初期状態は空</a:t>
            </a:r>
            <a:endParaRPr lang="en-US" sz="1050" dirty="0"/>
          </a:p>
        </p:txBody>
      </p:sp>
      <p:sp>
        <p:nvSpPr>
          <p:cNvPr id="24" name="Shape 22"/>
          <p:cNvSpPr/>
          <p:nvPr/>
        </p:nvSpPr>
        <p:spPr>
          <a:xfrm>
            <a:off x="4343400" y="3291840"/>
            <a:ext cx="3429000" cy="1234440"/>
          </a:xfrm>
          <a:prstGeom prst="roundRect">
            <a:avLst>
              <a:gd name="adj" fmla="val 4444"/>
            </a:avLst>
          </a:prstGeom>
          <a:solidFill>
            <a:srgbClr val="EEF2F6"/>
          </a:solidFill>
          <a:ln w="12700">
            <a:solidFill>
              <a:srgbClr val="EEF2F6"/>
            </a:solidFill>
            <a:prstDash val="solid"/>
          </a:ln>
        </p:spPr>
      </p:sp>
      <p:sp>
        <p:nvSpPr>
          <p:cNvPr id="25" name="Shape 23"/>
          <p:cNvSpPr/>
          <p:nvPr/>
        </p:nvSpPr>
        <p:spPr>
          <a:xfrm>
            <a:off x="4572000" y="3493008"/>
            <a:ext cx="420624" cy="420624"/>
          </a:xfrm>
          <a:prstGeom prst="ellipse">
            <a:avLst/>
          </a:prstGeom>
          <a:solidFill>
            <a:srgbClr val="FFFFFF"/>
          </a:solidFill>
          <a:ln w="12700">
            <a:solidFill>
              <a:srgbClr val="FFFFFF"/>
            </a:solidFill>
            <a:prstDash val="solid"/>
          </a:ln>
        </p:spPr>
      </p:sp>
      <p:sp>
        <p:nvSpPr>
          <p:cNvPr id="26" name="Text 24"/>
          <p:cNvSpPr/>
          <p:nvPr/>
        </p:nvSpPr>
        <p:spPr>
          <a:xfrm>
            <a:off x="4572000" y="3493008"/>
            <a:ext cx="420624" cy="420624"/>
          </a:xfrm>
          <a:prstGeom prst="rect">
            <a:avLst/>
          </a:prstGeom>
          <a:noFill/>
          <a:ln/>
        </p:spPr>
        <p:txBody>
          <a:bodyPr wrap="square" lIns="0" tIns="0" rIns="0" bIns="0" rtlCol="0" anchor="ctr"/>
          <a:lstStyle/>
          <a:p>
            <a:pPr algn="ctr" indent="0" marL="0">
              <a:buNone/>
            </a:pPr>
            <a:r>
              <a:rPr lang="en-US" sz="1400" b="1" dirty="0">
                <a:solidFill>
                  <a:srgbClr val="0F1E2B"/>
                </a:solidFill>
                <a:latin typeface="Meiryo" pitchFamily="34" charset="0"/>
                <a:ea typeface="Meiryo" pitchFamily="34" charset="-122"/>
                <a:cs typeface="Meiryo" pitchFamily="34" charset="-120"/>
              </a:rPr>
              <a:t>5</a:t>
            </a:r>
            <a:endParaRPr lang="en-US" sz="1400" dirty="0"/>
          </a:p>
        </p:txBody>
      </p:sp>
      <p:sp>
        <p:nvSpPr>
          <p:cNvPr id="27" name="Text 25"/>
          <p:cNvSpPr/>
          <p:nvPr/>
        </p:nvSpPr>
        <p:spPr>
          <a:xfrm>
            <a:off x="5093208" y="3511296"/>
            <a:ext cx="2514600" cy="320040"/>
          </a:xfrm>
          <a:prstGeom prst="rect">
            <a:avLst/>
          </a:prstGeom>
          <a:noFill/>
          <a:ln/>
        </p:spPr>
        <p:txBody>
          <a:bodyPr wrap="square" lIns="0" tIns="0" rIns="0" bIns="0" rtlCol="0" anchor="ctr"/>
          <a:lstStyle/>
          <a:p>
            <a:pPr indent="0" marL="0">
              <a:buNone/>
            </a:pPr>
            <a:r>
              <a:rPr lang="en-US" sz="1300" b="1" dirty="0">
                <a:solidFill>
                  <a:srgbClr val="0F1E2B"/>
                </a:solidFill>
                <a:latin typeface="Meiryo" pitchFamily="34" charset="0"/>
                <a:ea typeface="Meiryo" pitchFamily="34" charset="-122"/>
                <a:cs typeface="Meiryo" pitchFamily="34" charset="-120"/>
              </a:rPr>
              <a:t>回数制限を通過</a:t>
            </a:r>
            <a:endParaRPr lang="en-US" sz="1300" dirty="0"/>
          </a:p>
        </p:txBody>
      </p:sp>
      <p:sp>
        <p:nvSpPr>
          <p:cNvPr id="28" name="Text 26"/>
          <p:cNvSpPr/>
          <p:nvPr/>
        </p:nvSpPr>
        <p:spPr>
          <a:xfrm>
            <a:off x="5093208" y="3858768"/>
            <a:ext cx="2514600" cy="502920"/>
          </a:xfrm>
          <a:prstGeom prst="rect">
            <a:avLst/>
          </a:prstGeom>
          <a:noFill/>
          <a:ln/>
        </p:spPr>
        <p:txBody>
          <a:bodyPr wrap="square" lIns="0" tIns="0" rIns="0" bIns="0" rtlCol="0" anchor="ctr"/>
          <a:lstStyle/>
          <a:p>
            <a:pPr indent="0" marL="0">
              <a:lnSpc>
                <a:spcPts val="1500"/>
              </a:lnSpc>
              <a:buNone/>
            </a:pPr>
            <a:r>
              <a:rPr lang="en-US" sz="1050" dirty="0">
                <a:solidFill>
                  <a:srgbClr val="5E7183"/>
                </a:solidFill>
                <a:latin typeface="Meiryo" pitchFamily="34" charset="0"/>
                <a:ea typeface="Meiryo" pitchFamily="34" charset="-122"/>
                <a:cs typeface="Meiryo" pitchFamily="34" charset="-120"/>
              </a:rPr>
              <a:t>クールダウン・上限・遮断</a:t>
            </a:r>
            <a:endParaRPr lang="en-US" sz="1050" dirty="0"/>
          </a:p>
        </p:txBody>
      </p:sp>
      <p:sp>
        <p:nvSpPr>
          <p:cNvPr id="29" name="Shape 27"/>
          <p:cNvSpPr/>
          <p:nvPr/>
        </p:nvSpPr>
        <p:spPr>
          <a:xfrm>
            <a:off x="8046720" y="3291840"/>
            <a:ext cx="3429000" cy="1234440"/>
          </a:xfrm>
          <a:prstGeom prst="roundRect">
            <a:avLst>
              <a:gd name="adj" fmla="val 4444"/>
            </a:avLst>
          </a:prstGeom>
          <a:solidFill>
            <a:srgbClr val="EEF2F6"/>
          </a:solidFill>
          <a:ln w="12700">
            <a:solidFill>
              <a:srgbClr val="EEF2F6"/>
            </a:solidFill>
            <a:prstDash val="solid"/>
          </a:ln>
        </p:spPr>
      </p:sp>
      <p:sp>
        <p:nvSpPr>
          <p:cNvPr id="30" name="Shape 28"/>
          <p:cNvSpPr/>
          <p:nvPr/>
        </p:nvSpPr>
        <p:spPr>
          <a:xfrm>
            <a:off x="8275320" y="3493008"/>
            <a:ext cx="420624" cy="420624"/>
          </a:xfrm>
          <a:prstGeom prst="ellipse">
            <a:avLst/>
          </a:prstGeom>
          <a:solidFill>
            <a:srgbClr val="FFFFFF"/>
          </a:solidFill>
          <a:ln w="12700">
            <a:solidFill>
              <a:srgbClr val="FFFFFF"/>
            </a:solidFill>
            <a:prstDash val="solid"/>
          </a:ln>
        </p:spPr>
      </p:sp>
      <p:sp>
        <p:nvSpPr>
          <p:cNvPr id="31" name="Text 29"/>
          <p:cNvSpPr/>
          <p:nvPr/>
        </p:nvSpPr>
        <p:spPr>
          <a:xfrm>
            <a:off x="8275320" y="3493008"/>
            <a:ext cx="420624" cy="420624"/>
          </a:xfrm>
          <a:prstGeom prst="rect">
            <a:avLst/>
          </a:prstGeom>
          <a:noFill/>
          <a:ln/>
        </p:spPr>
        <p:txBody>
          <a:bodyPr wrap="square" lIns="0" tIns="0" rIns="0" bIns="0" rtlCol="0" anchor="ctr"/>
          <a:lstStyle/>
          <a:p>
            <a:pPr algn="ctr" indent="0" marL="0">
              <a:buNone/>
            </a:pPr>
            <a:r>
              <a:rPr lang="en-US" sz="1400" b="1" dirty="0">
                <a:solidFill>
                  <a:srgbClr val="0F1E2B"/>
                </a:solidFill>
                <a:latin typeface="Meiryo" pitchFamily="34" charset="0"/>
                <a:ea typeface="Meiryo" pitchFamily="34" charset="-122"/>
                <a:cs typeface="Meiryo" pitchFamily="34" charset="-120"/>
              </a:rPr>
              <a:t>6</a:t>
            </a:r>
            <a:endParaRPr lang="en-US" sz="1400" dirty="0"/>
          </a:p>
        </p:txBody>
      </p:sp>
      <p:sp>
        <p:nvSpPr>
          <p:cNvPr id="32" name="Text 30"/>
          <p:cNvSpPr/>
          <p:nvPr/>
        </p:nvSpPr>
        <p:spPr>
          <a:xfrm>
            <a:off x="8796528" y="3511296"/>
            <a:ext cx="2514600" cy="320040"/>
          </a:xfrm>
          <a:prstGeom prst="rect">
            <a:avLst/>
          </a:prstGeom>
          <a:noFill/>
          <a:ln/>
        </p:spPr>
        <p:txBody>
          <a:bodyPr wrap="square" lIns="0" tIns="0" rIns="0" bIns="0" rtlCol="0" anchor="ctr"/>
          <a:lstStyle/>
          <a:p>
            <a:pPr indent="0" marL="0">
              <a:buNone/>
            </a:pPr>
            <a:r>
              <a:rPr lang="en-US" sz="1300" b="1" dirty="0">
                <a:solidFill>
                  <a:srgbClr val="0F1E2B"/>
                </a:solidFill>
                <a:latin typeface="Meiryo" pitchFamily="34" charset="0"/>
                <a:ea typeface="Meiryo" pitchFamily="34" charset="-122"/>
                <a:cs typeface="Meiryo" pitchFamily="34" charset="-120"/>
              </a:rPr>
              <a:t>実行直前の再検証</a:t>
            </a:r>
            <a:endParaRPr lang="en-US" sz="1300" dirty="0"/>
          </a:p>
        </p:txBody>
      </p:sp>
      <p:sp>
        <p:nvSpPr>
          <p:cNvPr id="33" name="Text 31"/>
          <p:cNvSpPr/>
          <p:nvPr/>
        </p:nvSpPr>
        <p:spPr>
          <a:xfrm>
            <a:off x="8796528" y="3858768"/>
            <a:ext cx="2514600" cy="502920"/>
          </a:xfrm>
          <a:prstGeom prst="rect">
            <a:avLst/>
          </a:prstGeom>
          <a:noFill/>
          <a:ln/>
        </p:spPr>
        <p:txBody>
          <a:bodyPr wrap="square" lIns="0" tIns="0" rIns="0" bIns="0" rtlCol="0" anchor="ctr"/>
          <a:lstStyle/>
          <a:p>
            <a:pPr indent="0" marL="0">
              <a:lnSpc>
                <a:spcPts val="1500"/>
              </a:lnSpc>
              <a:buNone/>
            </a:pPr>
            <a:r>
              <a:rPr lang="en-US" sz="1050" dirty="0">
                <a:solidFill>
                  <a:srgbClr val="5E7183"/>
                </a:solidFill>
                <a:latin typeface="Meiryo" pitchFamily="34" charset="0"/>
                <a:ea typeface="Meiryo" pitchFamily="34" charset="-122"/>
                <a:cs typeface="Meiryo" pitchFamily="34" charset="-120"/>
              </a:rPr>
              <a:t>受付時の判断を信用しない</a:t>
            </a:r>
            <a:endParaRPr lang="en-US" sz="1050" dirty="0"/>
          </a:p>
        </p:txBody>
      </p:sp>
      <p:sp>
        <p:nvSpPr>
          <p:cNvPr id="34" name="Shape 32"/>
          <p:cNvSpPr/>
          <p:nvPr/>
        </p:nvSpPr>
        <p:spPr>
          <a:xfrm>
            <a:off x="640080" y="4892040"/>
            <a:ext cx="10881360" cy="777240"/>
          </a:xfrm>
          <a:prstGeom prst="roundRect">
            <a:avLst>
              <a:gd name="adj" fmla="val 7059"/>
            </a:avLst>
          </a:prstGeom>
          <a:solidFill>
            <a:srgbClr val="FBE9E2"/>
          </a:solidFill>
          <a:ln w="12700">
            <a:solidFill>
              <a:srgbClr val="FBE9E2"/>
            </a:solidFill>
            <a:prstDash val="solid"/>
          </a:ln>
        </p:spPr>
      </p:sp>
      <p:sp>
        <p:nvSpPr>
          <p:cNvPr id="35" name="Text 33"/>
          <p:cNvSpPr/>
          <p:nvPr/>
        </p:nvSpPr>
        <p:spPr>
          <a:xfrm>
            <a:off x="960120" y="5010912"/>
            <a:ext cx="10241280" cy="292608"/>
          </a:xfrm>
          <a:prstGeom prst="rect">
            <a:avLst/>
          </a:prstGeom>
          <a:noFill/>
          <a:ln/>
        </p:spPr>
        <p:txBody>
          <a:bodyPr wrap="square" lIns="0" tIns="0" rIns="0" bIns="0" rtlCol="0" anchor="ctr"/>
          <a:lstStyle/>
          <a:p>
            <a:pPr indent="0" marL="0">
              <a:buNone/>
            </a:pPr>
            <a:r>
              <a:rPr lang="en-US" sz="1400" b="1" dirty="0">
                <a:solidFill>
                  <a:srgbClr val="C4471F"/>
                </a:solidFill>
                <a:latin typeface="Meiryo" pitchFamily="34" charset="0"/>
                <a:ea typeface="Meiryo" pitchFamily="34" charset="-122"/>
                <a:cs typeface="Meiryo" pitchFamily="34" charset="-120"/>
              </a:rPr>
              <a:t>1つでも満たさなければ実行せず、止めた理由を監査に残す</a:t>
            </a:r>
            <a:endParaRPr lang="en-US" sz="1400" dirty="0"/>
          </a:p>
        </p:txBody>
      </p:sp>
      <p:sp>
        <p:nvSpPr>
          <p:cNvPr id="36" name="Text 34"/>
          <p:cNvSpPr/>
          <p:nvPr/>
        </p:nvSpPr>
        <p:spPr>
          <a:xfrm>
            <a:off x="960120" y="5321808"/>
            <a:ext cx="10241280" cy="274320"/>
          </a:xfrm>
          <a:prstGeom prst="rect">
            <a:avLst/>
          </a:prstGeom>
          <a:noFill/>
          <a:ln/>
        </p:spPr>
        <p:txBody>
          <a:bodyPr wrap="square" lIns="0" tIns="0" rIns="0" bIns="0" rtlCol="0" anchor="ctr"/>
          <a:lstStyle/>
          <a:p>
            <a:pPr indent="0" marL="0">
              <a:buNone/>
            </a:pPr>
            <a:r>
              <a:rPr lang="en-US" sz="1150" dirty="0">
                <a:solidFill>
                  <a:srgbClr val="1B3346"/>
                </a:solidFill>
                <a:latin typeface="Meiryo" pitchFamily="34" charset="0"/>
                <a:ea typeface="Meiryo" pitchFamily="34" charset="-122"/>
                <a:cs typeface="Meiryo" pitchFamily="34" charset="-120"/>
              </a:rPr>
              <a:t>「何もしなかった」ではなく「なぜしなかったか」が残ることを重視した</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7315200" cy="274320"/>
          </a:xfrm>
          <a:prstGeom prst="rect">
            <a:avLst/>
          </a:prstGeom>
          <a:noFill/>
          <a:ln/>
        </p:spPr>
        <p:txBody>
          <a:bodyPr wrap="square" lIns="0" tIns="0" rIns="0" bIns="0" rtlCol="0" anchor="ctr"/>
          <a:lstStyle/>
          <a:p>
            <a:pPr indent="0" marL="0">
              <a:buNone/>
            </a:pPr>
            <a:r>
              <a:rPr lang="en-US" sz="1200" b="1" spc="200" kern="0" dirty="0">
                <a:solidFill>
                  <a:srgbClr val="C4471F"/>
                </a:solidFill>
                <a:latin typeface="Meiryo" pitchFamily="34" charset="0"/>
                <a:ea typeface="Meiryo" pitchFamily="34" charset="-122"/>
                <a:cs typeface="Meiryo" pitchFamily="34" charset="-120"/>
              </a:rPr>
              <a:t>障害検知の流れ</a:t>
            </a:r>
            <a:endParaRPr lang="en-US" sz="12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3000" b="1" dirty="0">
                <a:solidFill>
                  <a:srgbClr val="0F1E2B"/>
                </a:solidFill>
                <a:latin typeface="Meiryo" pitchFamily="34" charset="0"/>
                <a:ea typeface="Meiryo" pitchFamily="34" charset="-122"/>
                <a:cs typeface="Meiryo" pitchFamily="34" charset="-120"/>
              </a:rPr>
              <a:t>収集からルール判定、必要な場合だけAIへ</a:t>
            </a:r>
            <a:endParaRPr lang="en-US" sz="3000" dirty="0"/>
          </a:p>
        </p:txBody>
      </p:sp>
      <p:sp>
        <p:nvSpPr>
          <p:cNvPr id="4" name="Shape 2"/>
          <p:cNvSpPr/>
          <p:nvPr/>
        </p:nvSpPr>
        <p:spPr>
          <a:xfrm>
            <a:off x="640080" y="1737360"/>
            <a:ext cx="2514600" cy="1691640"/>
          </a:xfrm>
          <a:prstGeom prst="roundRect">
            <a:avLst>
              <a:gd name="adj" fmla="val 3243"/>
            </a:avLst>
          </a:prstGeom>
          <a:solidFill>
            <a:srgbClr val="EEF2F6"/>
          </a:solidFill>
          <a:ln w="12700">
            <a:solidFill>
              <a:srgbClr val="EEF2F6"/>
            </a:solidFill>
            <a:prstDash val="solid"/>
          </a:ln>
        </p:spPr>
      </p:sp>
      <p:sp>
        <p:nvSpPr>
          <p:cNvPr id="5" name="Text 3"/>
          <p:cNvSpPr/>
          <p:nvPr/>
        </p:nvSpPr>
        <p:spPr>
          <a:xfrm>
            <a:off x="841248" y="1865376"/>
            <a:ext cx="2112264" cy="292608"/>
          </a:xfrm>
          <a:prstGeom prst="rect">
            <a:avLst/>
          </a:prstGeom>
          <a:noFill/>
          <a:ln/>
        </p:spPr>
        <p:txBody>
          <a:bodyPr wrap="square" lIns="0" tIns="0" rIns="0" bIns="0" rtlCol="0" anchor="ctr"/>
          <a:lstStyle/>
          <a:p>
            <a:pPr indent="0" marL="0">
              <a:buNone/>
            </a:pPr>
            <a:r>
              <a:rPr lang="en-US" sz="1300" b="1" dirty="0">
                <a:solidFill>
                  <a:srgbClr val="0F1E2B"/>
                </a:solidFill>
                <a:latin typeface="Meiryo" pitchFamily="34" charset="0"/>
                <a:ea typeface="Meiryo" pitchFamily="34" charset="-122"/>
                <a:cs typeface="Meiryo" pitchFamily="34" charset="-120"/>
              </a:rPr>
              <a:t>収集</a:t>
            </a:r>
            <a:endParaRPr lang="en-US" sz="1300" dirty="0"/>
          </a:p>
        </p:txBody>
      </p:sp>
      <p:sp>
        <p:nvSpPr>
          <p:cNvPr id="6" name="Text 4"/>
          <p:cNvSpPr/>
          <p:nvPr/>
        </p:nvSpPr>
        <p:spPr>
          <a:xfrm>
            <a:off x="841248" y="2194560"/>
            <a:ext cx="2112264" cy="1097280"/>
          </a:xfrm>
          <a:prstGeom prst="rect">
            <a:avLst/>
          </a:prstGeom>
          <a:noFill/>
          <a:ln/>
        </p:spPr>
        <p:txBody>
          <a:bodyPr wrap="square" lIns="0" tIns="0" rIns="0" bIns="0" rtlCol="0" anchor="ctr"/>
          <a:lstStyle/>
          <a:p>
            <a:pPr indent="0" marL="0">
              <a:lnSpc>
                <a:spcPts val="1600"/>
              </a:lnSpc>
              <a:buNone/>
            </a:pPr>
            <a:r>
              <a:rPr lang="en-US" sz="1050" dirty="0">
                <a:solidFill>
                  <a:srgbClr val="5E7183"/>
                </a:solidFill>
                <a:latin typeface="Meiryo" pitchFamily="34" charset="0"/>
                <a:ea typeface="Meiryo" pitchFamily="34" charset="-122"/>
                <a:cs typeface="Meiryo" pitchFamily="34" charset="-120"/>
              </a:rPr>
              <a:t>Docker API</a:t>
            </a:r>
            <a:endParaRPr lang="en-US" sz="1050" dirty="0"/>
          </a:p>
          <a:p>
            <a:pPr indent="0" marL="0">
              <a:lnSpc>
                <a:spcPts val="1600"/>
              </a:lnSpc>
              <a:buNone/>
            </a:pPr>
            <a:r>
              <a:rPr lang="en-US" sz="1050" dirty="0">
                <a:solidFill>
                  <a:srgbClr val="5E7183"/>
                </a:solidFill>
                <a:latin typeface="Meiryo" pitchFamily="34" charset="0"/>
                <a:ea typeface="Meiryo" pitchFamily="34" charset="-122"/>
                <a:cs typeface="Meiryo" pitchFamily="34" charset="-120"/>
              </a:rPr>
              <a:t>HTTP</a:t>
            </a:r>
            <a:endParaRPr lang="en-US" sz="1050" dirty="0"/>
          </a:p>
          <a:p>
            <a:pPr indent="0" marL="0">
              <a:lnSpc>
                <a:spcPts val="1600"/>
              </a:lnSpc>
              <a:buNone/>
            </a:pPr>
            <a:r>
              <a:rPr lang="en-US" sz="1050" dirty="0">
                <a:solidFill>
                  <a:srgbClr val="5E7183"/>
                </a:solidFill>
                <a:latin typeface="Meiryo" pitchFamily="34" charset="0"/>
                <a:ea typeface="Meiryo" pitchFamily="34" charset="-122"/>
                <a:cs typeface="Meiryo" pitchFamily="34" charset="-120"/>
              </a:rPr>
              <a:t>node_exporter</a:t>
            </a:r>
            <a:endParaRPr lang="en-US" sz="1050" dirty="0"/>
          </a:p>
        </p:txBody>
      </p:sp>
      <p:sp>
        <p:nvSpPr>
          <p:cNvPr id="7" name="Shape 5"/>
          <p:cNvSpPr/>
          <p:nvPr/>
        </p:nvSpPr>
        <p:spPr>
          <a:xfrm>
            <a:off x="3200400" y="2578608"/>
            <a:ext cx="457200" cy="0"/>
          </a:xfrm>
          <a:prstGeom prst="line">
            <a:avLst/>
          </a:prstGeom>
          <a:noFill/>
          <a:ln w="15875">
            <a:solidFill>
              <a:srgbClr val="5E7183"/>
            </a:solidFill>
            <a:prstDash val="solid"/>
            <a:tailEnd type="triangle"/>
          </a:ln>
        </p:spPr>
      </p:sp>
      <p:sp>
        <p:nvSpPr>
          <p:cNvPr id="8" name="Shape 6"/>
          <p:cNvSpPr/>
          <p:nvPr/>
        </p:nvSpPr>
        <p:spPr>
          <a:xfrm>
            <a:off x="3703320" y="1737360"/>
            <a:ext cx="2651760" cy="1691640"/>
          </a:xfrm>
          <a:prstGeom prst="roundRect">
            <a:avLst>
              <a:gd name="adj" fmla="val 3243"/>
            </a:avLst>
          </a:prstGeom>
          <a:solidFill>
            <a:srgbClr val="EEF2F6"/>
          </a:solidFill>
          <a:ln w="12700">
            <a:solidFill>
              <a:srgbClr val="EEF2F6"/>
            </a:solidFill>
            <a:prstDash val="solid"/>
          </a:ln>
        </p:spPr>
      </p:sp>
      <p:sp>
        <p:nvSpPr>
          <p:cNvPr id="9" name="Text 7"/>
          <p:cNvSpPr/>
          <p:nvPr/>
        </p:nvSpPr>
        <p:spPr>
          <a:xfrm>
            <a:off x="3904488" y="1865376"/>
            <a:ext cx="2249424" cy="292608"/>
          </a:xfrm>
          <a:prstGeom prst="rect">
            <a:avLst/>
          </a:prstGeom>
          <a:noFill/>
          <a:ln/>
        </p:spPr>
        <p:txBody>
          <a:bodyPr wrap="square" lIns="0" tIns="0" rIns="0" bIns="0" rtlCol="0" anchor="ctr"/>
          <a:lstStyle/>
          <a:p>
            <a:pPr indent="0" marL="0">
              <a:buNone/>
            </a:pPr>
            <a:r>
              <a:rPr lang="en-US" sz="1300" b="1" dirty="0">
                <a:solidFill>
                  <a:srgbClr val="0F1E2B"/>
                </a:solidFill>
                <a:latin typeface="Meiryo" pitchFamily="34" charset="0"/>
                <a:ea typeface="Meiryo" pitchFamily="34" charset="-122"/>
                <a:cs typeface="Meiryo" pitchFamily="34" charset="-120"/>
              </a:rPr>
              <a:t>ルール判定</a:t>
            </a:r>
            <a:endParaRPr lang="en-US" sz="1300" dirty="0"/>
          </a:p>
        </p:txBody>
      </p:sp>
      <p:sp>
        <p:nvSpPr>
          <p:cNvPr id="10" name="Text 8"/>
          <p:cNvSpPr/>
          <p:nvPr/>
        </p:nvSpPr>
        <p:spPr>
          <a:xfrm>
            <a:off x="3904488" y="2194560"/>
            <a:ext cx="2249424" cy="1097280"/>
          </a:xfrm>
          <a:prstGeom prst="rect">
            <a:avLst/>
          </a:prstGeom>
          <a:noFill/>
          <a:ln/>
        </p:spPr>
        <p:txBody>
          <a:bodyPr wrap="square" lIns="0" tIns="0" rIns="0" bIns="0" rtlCol="0" anchor="ctr"/>
          <a:lstStyle/>
          <a:p>
            <a:pPr indent="0" marL="0">
              <a:lnSpc>
                <a:spcPts val="1600"/>
              </a:lnSpc>
              <a:buNone/>
            </a:pPr>
            <a:r>
              <a:rPr lang="en-US" sz="1050" dirty="0">
                <a:solidFill>
                  <a:srgbClr val="5E7183"/>
                </a:solidFill>
                <a:latin typeface="Meiryo" pitchFamily="34" charset="0"/>
                <a:ea typeface="Meiryo" pitchFamily="34" charset="-122"/>
                <a:cs typeface="Meiryo" pitchFamily="34" charset="-120"/>
              </a:rPr>
              <a:t>状態 / しきい値 / 正規表現</a:t>
            </a:r>
            <a:endParaRPr lang="en-US" sz="1050" dirty="0"/>
          </a:p>
        </p:txBody>
      </p:sp>
      <p:sp>
        <p:nvSpPr>
          <p:cNvPr id="11" name="Shape 9"/>
          <p:cNvSpPr/>
          <p:nvPr/>
        </p:nvSpPr>
        <p:spPr>
          <a:xfrm>
            <a:off x="6400800" y="2286000"/>
            <a:ext cx="502920" cy="0"/>
          </a:xfrm>
          <a:prstGeom prst="line">
            <a:avLst/>
          </a:prstGeom>
          <a:noFill/>
          <a:ln w="19050">
            <a:solidFill>
              <a:srgbClr val="1B6B5E"/>
            </a:solidFill>
            <a:prstDash val="solid"/>
            <a:tailEnd type="triangle"/>
          </a:ln>
        </p:spPr>
      </p:sp>
      <p:sp>
        <p:nvSpPr>
          <p:cNvPr id="12" name="Text 10"/>
          <p:cNvSpPr/>
          <p:nvPr/>
        </p:nvSpPr>
        <p:spPr>
          <a:xfrm>
            <a:off x="6391656" y="1975104"/>
            <a:ext cx="530352" cy="256032"/>
          </a:xfrm>
          <a:prstGeom prst="rect">
            <a:avLst/>
          </a:prstGeom>
          <a:noFill/>
          <a:ln/>
        </p:spPr>
        <p:txBody>
          <a:bodyPr wrap="square" lIns="0" tIns="0" rIns="0" bIns="0" rtlCol="0" anchor="ctr"/>
          <a:lstStyle/>
          <a:p>
            <a:pPr algn="ctr" indent="0" marL="0">
              <a:buNone/>
            </a:pPr>
            <a:r>
              <a:rPr lang="en-US" sz="900" b="1" dirty="0">
                <a:solidFill>
                  <a:srgbClr val="1B6B5E"/>
                </a:solidFill>
                <a:latin typeface="Meiryo" pitchFamily="34" charset="0"/>
                <a:ea typeface="Meiryo" pitchFamily="34" charset="-122"/>
                <a:cs typeface="Meiryo" pitchFamily="34" charset="-120"/>
              </a:rPr>
              <a:t>一致</a:t>
            </a:r>
            <a:endParaRPr lang="en-US" sz="900" dirty="0"/>
          </a:p>
        </p:txBody>
      </p:sp>
      <p:sp>
        <p:nvSpPr>
          <p:cNvPr id="13" name="Shape 11"/>
          <p:cNvSpPr/>
          <p:nvPr/>
        </p:nvSpPr>
        <p:spPr>
          <a:xfrm>
            <a:off x="6400800" y="3063240"/>
            <a:ext cx="502920" cy="0"/>
          </a:xfrm>
          <a:prstGeom prst="line">
            <a:avLst/>
          </a:prstGeom>
          <a:noFill/>
          <a:ln w="19050">
            <a:solidFill>
              <a:srgbClr val="5E7183"/>
            </a:solidFill>
            <a:prstDash val="solid"/>
            <a:tailEnd type="triangle"/>
          </a:ln>
        </p:spPr>
      </p:sp>
      <p:sp>
        <p:nvSpPr>
          <p:cNvPr id="14" name="Text 12"/>
          <p:cNvSpPr/>
          <p:nvPr/>
        </p:nvSpPr>
        <p:spPr>
          <a:xfrm>
            <a:off x="6391656" y="3145536"/>
            <a:ext cx="530352" cy="256032"/>
          </a:xfrm>
          <a:prstGeom prst="rect">
            <a:avLst/>
          </a:prstGeom>
          <a:noFill/>
          <a:ln/>
        </p:spPr>
        <p:txBody>
          <a:bodyPr wrap="square" lIns="0" tIns="0" rIns="0" bIns="0" rtlCol="0" anchor="ctr"/>
          <a:lstStyle/>
          <a:p>
            <a:pPr algn="ctr" indent="0" marL="0">
              <a:buNone/>
            </a:pPr>
            <a:r>
              <a:rPr lang="en-US" sz="900" dirty="0">
                <a:solidFill>
                  <a:srgbClr val="5E7183"/>
                </a:solidFill>
                <a:latin typeface="Meiryo" pitchFamily="34" charset="0"/>
                <a:ea typeface="Meiryo" pitchFamily="34" charset="-122"/>
                <a:cs typeface="Meiryo" pitchFamily="34" charset="-120"/>
              </a:rPr>
              <a:t>不一致</a:t>
            </a:r>
            <a:endParaRPr lang="en-US" sz="900" dirty="0"/>
          </a:p>
        </p:txBody>
      </p:sp>
      <p:sp>
        <p:nvSpPr>
          <p:cNvPr id="15" name="Shape 13"/>
          <p:cNvSpPr/>
          <p:nvPr/>
        </p:nvSpPr>
        <p:spPr>
          <a:xfrm>
            <a:off x="6949440" y="1737360"/>
            <a:ext cx="2286000" cy="1005840"/>
          </a:xfrm>
          <a:prstGeom prst="roundRect">
            <a:avLst>
              <a:gd name="adj" fmla="val 5455"/>
            </a:avLst>
          </a:prstGeom>
          <a:solidFill>
            <a:srgbClr val="E2EFEC"/>
          </a:solidFill>
          <a:ln w="12700">
            <a:solidFill>
              <a:srgbClr val="E2EFEC"/>
            </a:solidFill>
            <a:prstDash val="solid"/>
          </a:ln>
        </p:spPr>
      </p:sp>
      <p:sp>
        <p:nvSpPr>
          <p:cNvPr id="16" name="Text 14"/>
          <p:cNvSpPr/>
          <p:nvPr/>
        </p:nvSpPr>
        <p:spPr>
          <a:xfrm>
            <a:off x="7150608" y="1865376"/>
            <a:ext cx="1883664" cy="292608"/>
          </a:xfrm>
          <a:prstGeom prst="rect">
            <a:avLst/>
          </a:prstGeom>
          <a:noFill/>
          <a:ln/>
        </p:spPr>
        <p:txBody>
          <a:bodyPr wrap="square" lIns="0" tIns="0" rIns="0" bIns="0" rtlCol="0" anchor="ctr"/>
          <a:lstStyle/>
          <a:p>
            <a:pPr indent="0" marL="0">
              <a:buNone/>
            </a:pPr>
            <a:r>
              <a:rPr lang="en-US" sz="1300" b="1" dirty="0">
                <a:solidFill>
                  <a:srgbClr val="1B6B5E"/>
                </a:solidFill>
                <a:latin typeface="Meiryo" pitchFamily="34" charset="0"/>
                <a:ea typeface="Meiryo" pitchFamily="34" charset="-122"/>
                <a:cs typeface="Meiryo" pitchFamily="34" charset="-120"/>
              </a:rPr>
              <a:t>診断</a:t>
            </a:r>
            <a:endParaRPr lang="en-US" sz="1300" dirty="0"/>
          </a:p>
        </p:txBody>
      </p:sp>
      <p:sp>
        <p:nvSpPr>
          <p:cNvPr id="17" name="Text 15"/>
          <p:cNvSpPr/>
          <p:nvPr/>
        </p:nvSpPr>
        <p:spPr>
          <a:xfrm>
            <a:off x="7150608" y="2194560"/>
            <a:ext cx="1883664" cy="411480"/>
          </a:xfrm>
          <a:prstGeom prst="rect">
            <a:avLst/>
          </a:prstGeom>
          <a:noFill/>
          <a:ln/>
        </p:spPr>
        <p:txBody>
          <a:bodyPr wrap="square" lIns="0" tIns="0" rIns="0" bIns="0" rtlCol="0" anchor="ctr"/>
          <a:lstStyle/>
          <a:p>
            <a:pPr indent="0" marL="0">
              <a:lnSpc>
                <a:spcPts val="1600"/>
              </a:lnSpc>
              <a:buNone/>
            </a:pPr>
            <a:r>
              <a:rPr lang="en-US" sz="1050" dirty="0">
                <a:solidFill>
                  <a:srgbClr val="1B3346"/>
                </a:solidFill>
                <a:latin typeface="Meiryo" pitchFamily="34" charset="0"/>
                <a:ea typeface="Meiryo" pitchFamily="34" charset="-122"/>
                <a:cs typeface="Meiryo" pitchFamily="34" charset="-120"/>
              </a:rPr>
              <a:t>根拠つきで分類</a:t>
            </a:r>
            <a:endParaRPr lang="en-US" sz="1050" dirty="0"/>
          </a:p>
        </p:txBody>
      </p:sp>
      <p:sp>
        <p:nvSpPr>
          <p:cNvPr id="18" name="Shape 16"/>
          <p:cNvSpPr/>
          <p:nvPr/>
        </p:nvSpPr>
        <p:spPr>
          <a:xfrm>
            <a:off x="6949440" y="2788920"/>
            <a:ext cx="2286000" cy="1234440"/>
          </a:xfrm>
          <a:prstGeom prst="roundRect">
            <a:avLst>
              <a:gd name="adj" fmla="val 4444"/>
            </a:avLst>
          </a:prstGeom>
          <a:solidFill>
            <a:srgbClr val="EEF2F6"/>
          </a:solidFill>
          <a:ln w="12700">
            <a:solidFill>
              <a:srgbClr val="EEF2F6"/>
            </a:solidFill>
            <a:prstDash val="solid"/>
          </a:ln>
        </p:spPr>
      </p:sp>
      <p:sp>
        <p:nvSpPr>
          <p:cNvPr id="19" name="Text 17"/>
          <p:cNvSpPr/>
          <p:nvPr/>
        </p:nvSpPr>
        <p:spPr>
          <a:xfrm>
            <a:off x="7150608" y="2916936"/>
            <a:ext cx="1883664" cy="292608"/>
          </a:xfrm>
          <a:prstGeom prst="rect">
            <a:avLst/>
          </a:prstGeom>
          <a:noFill/>
          <a:ln/>
        </p:spPr>
        <p:txBody>
          <a:bodyPr wrap="square" lIns="0" tIns="0" rIns="0" bIns="0" rtlCol="0" anchor="ctr"/>
          <a:lstStyle/>
          <a:p>
            <a:pPr indent="0" marL="0">
              <a:buNone/>
            </a:pPr>
            <a:r>
              <a:rPr lang="en-US" sz="1300" b="1" dirty="0">
                <a:solidFill>
                  <a:srgbClr val="0F1E2B"/>
                </a:solidFill>
                <a:latin typeface="Meiryo" pitchFamily="34" charset="0"/>
                <a:ea typeface="Meiryo" pitchFamily="34" charset="-122"/>
                <a:cs typeface="Meiryo" pitchFamily="34" charset="-120"/>
              </a:rPr>
              <a:t>外部AIへ</a:t>
            </a:r>
            <a:endParaRPr lang="en-US" sz="1300" dirty="0"/>
          </a:p>
        </p:txBody>
      </p:sp>
      <p:sp>
        <p:nvSpPr>
          <p:cNvPr id="20" name="Text 18"/>
          <p:cNvSpPr/>
          <p:nvPr/>
        </p:nvSpPr>
        <p:spPr>
          <a:xfrm>
            <a:off x="7150608" y="3246120"/>
            <a:ext cx="1883664" cy="640080"/>
          </a:xfrm>
          <a:prstGeom prst="rect">
            <a:avLst/>
          </a:prstGeom>
          <a:noFill/>
          <a:ln/>
        </p:spPr>
        <p:txBody>
          <a:bodyPr wrap="square" lIns="0" tIns="0" rIns="0" bIns="0" rtlCol="0" anchor="ctr"/>
          <a:lstStyle/>
          <a:p>
            <a:pPr indent="0" marL="0">
              <a:lnSpc>
                <a:spcPts val="1600"/>
              </a:lnSpc>
              <a:buNone/>
            </a:pPr>
            <a:r>
              <a:rPr lang="en-US" sz="1050" dirty="0">
                <a:solidFill>
                  <a:srgbClr val="5E7183"/>
                </a:solidFill>
                <a:latin typeface="Meiryo" pitchFamily="34" charset="0"/>
                <a:ea typeface="Meiryo" pitchFamily="34" charset="-122"/>
                <a:cs typeface="Meiryo" pitchFamily="34" charset="-120"/>
              </a:rPr>
              <a:t>匿名化して送信</a:t>
            </a:r>
            <a:endParaRPr lang="en-US" sz="1050" dirty="0"/>
          </a:p>
          <a:p>
            <a:pPr indent="0" marL="0">
              <a:lnSpc>
                <a:spcPts val="1600"/>
              </a:lnSpc>
              <a:buNone/>
            </a:pPr>
            <a:r>
              <a:rPr lang="en-US" sz="1050" dirty="0">
                <a:solidFill>
                  <a:srgbClr val="5E7183"/>
                </a:solidFill>
                <a:latin typeface="Meiryo" pitchFamily="34" charset="0"/>
                <a:ea typeface="Meiryo" pitchFamily="34" charset="-122"/>
                <a:cs typeface="Meiryo" pitchFamily="34" charset="-120"/>
              </a:rPr>
              <a:t>応答は許可リストで検証</a:t>
            </a:r>
            <a:endParaRPr lang="en-US" sz="1050" dirty="0"/>
          </a:p>
        </p:txBody>
      </p:sp>
      <p:sp>
        <p:nvSpPr>
          <p:cNvPr id="21" name="Shape 19"/>
          <p:cNvSpPr/>
          <p:nvPr/>
        </p:nvSpPr>
        <p:spPr>
          <a:xfrm>
            <a:off x="9281160" y="2578608"/>
            <a:ext cx="457200" cy="0"/>
          </a:xfrm>
          <a:prstGeom prst="line">
            <a:avLst/>
          </a:prstGeom>
          <a:noFill/>
          <a:ln w="15875">
            <a:solidFill>
              <a:srgbClr val="5E7183"/>
            </a:solidFill>
            <a:prstDash val="solid"/>
            <a:tailEnd type="triangle"/>
          </a:ln>
        </p:spPr>
      </p:sp>
      <p:sp>
        <p:nvSpPr>
          <p:cNvPr id="22" name="Shape 20"/>
          <p:cNvSpPr/>
          <p:nvPr/>
        </p:nvSpPr>
        <p:spPr>
          <a:xfrm>
            <a:off x="9784080" y="1737360"/>
            <a:ext cx="1737360" cy="1691640"/>
          </a:xfrm>
          <a:prstGeom prst="roundRect">
            <a:avLst>
              <a:gd name="adj" fmla="val 3243"/>
            </a:avLst>
          </a:prstGeom>
          <a:solidFill>
            <a:srgbClr val="0F1E2B"/>
          </a:solidFill>
          <a:ln w="12700">
            <a:solidFill>
              <a:srgbClr val="0F1E2B"/>
            </a:solidFill>
            <a:prstDash val="solid"/>
          </a:ln>
        </p:spPr>
      </p:sp>
      <p:sp>
        <p:nvSpPr>
          <p:cNvPr id="23" name="Text 21"/>
          <p:cNvSpPr/>
          <p:nvPr/>
        </p:nvSpPr>
        <p:spPr>
          <a:xfrm>
            <a:off x="9985248" y="1865376"/>
            <a:ext cx="1335024" cy="292608"/>
          </a:xfrm>
          <a:prstGeom prst="rect">
            <a:avLst/>
          </a:prstGeom>
          <a:noFill/>
          <a:ln/>
        </p:spPr>
        <p:txBody>
          <a:bodyPr wrap="square" lIns="0" tIns="0" rIns="0" bIns="0" rtlCol="0" anchor="ctr"/>
          <a:lstStyle/>
          <a:p>
            <a:pPr indent="0" marL="0">
              <a:buNone/>
            </a:pPr>
            <a:r>
              <a:rPr lang="en-US" sz="1300" b="1" dirty="0">
                <a:solidFill>
                  <a:srgbClr val="FFFFFF"/>
                </a:solidFill>
                <a:latin typeface="Meiryo" pitchFamily="34" charset="0"/>
                <a:ea typeface="Meiryo" pitchFamily="34" charset="-122"/>
                <a:cs typeface="Meiryo" pitchFamily="34" charset="-120"/>
              </a:rPr>
              <a:t>インシデント</a:t>
            </a:r>
            <a:endParaRPr lang="en-US" sz="1300" dirty="0"/>
          </a:p>
        </p:txBody>
      </p:sp>
      <p:sp>
        <p:nvSpPr>
          <p:cNvPr id="24" name="Text 22"/>
          <p:cNvSpPr/>
          <p:nvPr/>
        </p:nvSpPr>
        <p:spPr>
          <a:xfrm>
            <a:off x="9985248" y="2194560"/>
            <a:ext cx="1335024" cy="1097280"/>
          </a:xfrm>
          <a:prstGeom prst="rect">
            <a:avLst/>
          </a:prstGeom>
          <a:noFill/>
          <a:ln/>
        </p:spPr>
        <p:txBody>
          <a:bodyPr wrap="square" lIns="0" tIns="0" rIns="0" bIns="0" rtlCol="0" anchor="ctr"/>
          <a:lstStyle/>
          <a:p>
            <a:pPr indent="0" marL="0">
              <a:lnSpc>
                <a:spcPts val="1600"/>
              </a:lnSpc>
              <a:buNone/>
            </a:pPr>
            <a:r>
              <a:rPr lang="en-US" sz="1050" dirty="0">
                <a:solidFill>
                  <a:srgbClr val="B7C7D6"/>
                </a:solidFill>
                <a:latin typeface="Meiryo" pitchFamily="34" charset="0"/>
                <a:ea typeface="Meiryo" pitchFamily="34" charset="-122"/>
                <a:cs typeface="Meiryo" pitchFamily="34" charset="-120"/>
              </a:rPr>
              <a:t>障害署名で</a:t>
            </a:r>
            <a:endParaRPr lang="en-US" sz="1050" dirty="0"/>
          </a:p>
          <a:p>
            <a:pPr indent="0" marL="0">
              <a:lnSpc>
                <a:spcPts val="1600"/>
              </a:lnSpc>
              <a:buNone/>
            </a:pPr>
            <a:r>
              <a:rPr lang="en-US" sz="1050" dirty="0">
                <a:solidFill>
                  <a:srgbClr val="B7C7D6"/>
                </a:solidFill>
                <a:latin typeface="Meiryo" pitchFamily="34" charset="0"/>
                <a:ea typeface="Meiryo" pitchFamily="34" charset="-122"/>
                <a:cs typeface="Meiryo" pitchFamily="34" charset="-120"/>
              </a:rPr>
              <a:t>1件に集約</a:t>
            </a:r>
            <a:endParaRPr lang="en-US" sz="1050" dirty="0"/>
          </a:p>
        </p:txBody>
      </p:sp>
      <p:sp>
        <p:nvSpPr>
          <p:cNvPr id="25" name="Shape 23"/>
          <p:cNvSpPr/>
          <p:nvPr/>
        </p:nvSpPr>
        <p:spPr>
          <a:xfrm>
            <a:off x="10652760" y="3456432"/>
            <a:ext cx="0" cy="411480"/>
          </a:xfrm>
          <a:prstGeom prst="line">
            <a:avLst/>
          </a:prstGeom>
          <a:noFill/>
          <a:ln w="15875">
            <a:solidFill>
              <a:srgbClr val="5E7183"/>
            </a:solidFill>
            <a:prstDash val="solid"/>
            <a:tailEnd type="triangle"/>
          </a:ln>
        </p:spPr>
      </p:sp>
      <p:sp>
        <p:nvSpPr>
          <p:cNvPr id="26" name="Shape 24"/>
          <p:cNvSpPr/>
          <p:nvPr/>
        </p:nvSpPr>
        <p:spPr>
          <a:xfrm>
            <a:off x="8503920" y="3931920"/>
            <a:ext cx="3017520" cy="960120"/>
          </a:xfrm>
          <a:prstGeom prst="roundRect">
            <a:avLst>
              <a:gd name="adj" fmla="val 5714"/>
            </a:avLst>
          </a:prstGeom>
          <a:solidFill>
            <a:srgbClr val="FBE9E2"/>
          </a:solidFill>
          <a:ln w="12700">
            <a:solidFill>
              <a:srgbClr val="FBE9E2"/>
            </a:solidFill>
            <a:prstDash val="solid"/>
          </a:ln>
        </p:spPr>
      </p:sp>
      <p:sp>
        <p:nvSpPr>
          <p:cNvPr id="27" name="Text 25"/>
          <p:cNvSpPr/>
          <p:nvPr/>
        </p:nvSpPr>
        <p:spPr>
          <a:xfrm>
            <a:off x="8705088" y="4059936"/>
            <a:ext cx="2615184" cy="292608"/>
          </a:xfrm>
          <a:prstGeom prst="rect">
            <a:avLst/>
          </a:prstGeom>
          <a:noFill/>
          <a:ln/>
        </p:spPr>
        <p:txBody>
          <a:bodyPr wrap="square" lIns="0" tIns="0" rIns="0" bIns="0" rtlCol="0" anchor="ctr"/>
          <a:lstStyle/>
          <a:p>
            <a:pPr indent="0" marL="0">
              <a:buNone/>
            </a:pPr>
            <a:r>
              <a:rPr lang="en-US" sz="1300" b="1" dirty="0">
                <a:solidFill>
                  <a:srgbClr val="C4471F"/>
                </a:solidFill>
                <a:latin typeface="Meiryo" pitchFamily="34" charset="0"/>
                <a:ea typeface="Meiryo" pitchFamily="34" charset="-122"/>
                <a:cs typeface="Meiryo" pitchFamily="34" charset="-120"/>
              </a:rPr>
              <a:t>自動復旧の判定</a:t>
            </a:r>
            <a:endParaRPr lang="en-US" sz="1300" dirty="0"/>
          </a:p>
        </p:txBody>
      </p:sp>
      <p:sp>
        <p:nvSpPr>
          <p:cNvPr id="28" name="Text 26"/>
          <p:cNvSpPr/>
          <p:nvPr/>
        </p:nvSpPr>
        <p:spPr>
          <a:xfrm>
            <a:off x="8705088" y="4389120"/>
            <a:ext cx="2615184" cy="365760"/>
          </a:xfrm>
          <a:prstGeom prst="rect">
            <a:avLst/>
          </a:prstGeom>
          <a:noFill/>
          <a:ln/>
        </p:spPr>
        <p:txBody>
          <a:bodyPr wrap="square" lIns="0" tIns="0" rIns="0" bIns="0" rtlCol="0" anchor="ctr"/>
          <a:lstStyle/>
          <a:p>
            <a:pPr indent="0" marL="0">
              <a:lnSpc>
                <a:spcPts val="1600"/>
              </a:lnSpc>
              <a:buNone/>
            </a:pPr>
            <a:r>
              <a:rPr lang="en-US" sz="1050" dirty="0">
                <a:solidFill>
                  <a:srgbClr val="1B3346"/>
                </a:solidFill>
                <a:latin typeface="Meiryo" pitchFamily="34" charset="0"/>
                <a:ea typeface="Meiryo" pitchFamily="34" charset="-122"/>
                <a:cs typeface="Meiryo" pitchFamily="34" charset="-120"/>
              </a:rPr>
              <a:t>6条件をすべて確認</a:t>
            </a:r>
            <a:endParaRPr lang="en-US" sz="1050" dirty="0"/>
          </a:p>
        </p:txBody>
      </p:sp>
      <p:sp>
        <p:nvSpPr>
          <p:cNvPr id="29" name="Shape 27"/>
          <p:cNvSpPr/>
          <p:nvPr/>
        </p:nvSpPr>
        <p:spPr>
          <a:xfrm>
            <a:off x="640080" y="3931920"/>
            <a:ext cx="7452360" cy="1600200"/>
          </a:xfrm>
          <a:prstGeom prst="roundRect">
            <a:avLst>
              <a:gd name="adj" fmla="val 3429"/>
            </a:avLst>
          </a:prstGeom>
          <a:solidFill>
            <a:srgbClr val="EEF2F6"/>
          </a:solidFill>
          <a:ln w="12700">
            <a:solidFill>
              <a:srgbClr val="EEF2F6"/>
            </a:solidFill>
            <a:prstDash val="solid"/>
          </a:ln>
        </p:spPr>
      </p:sp>
      <p:sp>
        <p:nvSpPr>
          <p:cNvPr id="30" name="Text 28"/>
          <p:cNvSpPr/>
          <p:nvPr/>
        </p:nvSpPr>
        <p:spPr>
          <a:xfrm>
            <a:off x="914400" y="4114800"/>
            <a:ext cx="6858000" cy="292608"/>
          </a:xfrm>
          <a:prstGeom prst="rect">
            <a:avLst/>
          </a:prstGeom>
          <a:noFill/>
          <a:ln/>
        </p:spPr>
        <p:txBody>
          <a:bodyPr wrap="square" lIns="0" tIns="0" rIns="0" bIns="0" rtlCol="0" anchor="ctr"/>
          <a:lstStyle/>
          <a:p>
            <a:pPr indent="0" marL="0">
              <a:buNone/>
            </a:pPr>
            <a:r>
              <a:rPr lang="en-US" sz="1300" b="1" dirty="0">
                <a:solidFill>
                  <a:srgbClr val="0F1E2B"/>
                </a:solidFill>
                <a:latin typeface="Meiryo" pitchFamily="34" charset="0"/>
                <a:ea typeface="Meiryo" pitchFamily="34" charset="-122"/>
                <a:cs typeface="Meiryo" pitchFamily="34" charset="-120"/>
              </a:rPr>
              <a:t>障害署名による集約</a:t>
            </a:r>
            <a:endParaRPr lang="en-US" sz="1300" dirty="0"/>
          </a:p>
        </p:txBody>
      </p:sp>
      <p:sp>
        <p:nvSpPr>
          <p:cNvPr id="31" name="Text 29"/>
          <p:cNvSpPr/>
          <p:nvPr/>
        </p:nvSpPr>
        <p:spPr>
          <a:xfrm>
            <a:off x="914400" y="4462272"/>
            <a:ext cx="6858000" cy="868680"/>
          </a:xfrm>
          <a:prstGeom prst="rect">
            <a:avLst/>
          </a:prstGeom>
          <a:noFill/>
          <a:ln/>
        </p:spPr>
        <p:txBody>
          <a:bodyPr wrap="square" lIns="0" tIns="0" rIns="0" bIns="0" rtlCol="0" anchor="ctr"/>
          <a:lstStyle/>
          <a:p>
            <a:pPr indent="0" marL="0">
              <a:lnSpc>
                <a:spcPts val="1700"/>
              </a:lnSpc>
              <a:buNone/>
            </a:pPr>
            <a:r>
              <a:rPr lang="en-US" sz="1100" dirty="0">
                <a:solidFill>
                  <a:srgbClr val="1B3346"/>
                </a:solidFill>
                <a:latin typeface="Meiryo" pitchFamily="34" charset="0"/>
                <a:ea typeface="Meiryo" pitchFamily="34" charset="-122"/>
                <a:cs typeface="Meiryo" pitchFamily="34" charset="-120"/>
              </a:rPr>
              <a:t>同じ障害が繰り返し検知されてもインシデントは1件にまとめる。署名は「対象 + サービス + 分類 + 正規化したログ」から算出し、</a:t>
            </a:r>
            <a:endParaRPr lang="en-US" sz="1100" dirty="0"/>
          </a:p>
          <a:p>
            <a:pPr indent="0" marL="0">
              <a:lnSpc>
                <a:spcPts val="1700"/>
              </a:lnSpc>
              <a:buNone/>
            </a:pPr>
            <a:r>
              <a:rPr lang="en-US" sz="1100" dirty="0">
                <a:solidFill>
                  <a:srgbClr val="1B3346"/>
                </a:solidFill>
                <a:latin typeface="Meiryo" pitchFamily="34" charset="0"/>
                <a:ea typeface="Meiryo" pitchFamily="34" charset="-122"/>
                <a:cs typeface="Meiryo" pitchFamily="34" charset="-120"/>
              </a:rPr>
              <a:t>ログ中の数値は伏せる。タイムスタンプやプロセスIDが変わるだけで別の障害として扱われるのを防ぐため。</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7315200" cy="274320"/>
          </a:xfrm>
          <a:prstGeom prst="rect">
            <a:avLst/>
          </a:prstGeom>
          <a:noFill/>
          <a:ln/>
        </p:spPr>
        <p:txBody>
          <a:bodyPr wrap="square" lIns="0" tIns="0" rIns="0" bIns="0" rtlCol="0" anchor="ctr"/>
          <a:lstStyle/>
          <a:p>
            <a:pPr indent="0" marL="0">
              <a:buNone/>
            </a:pPr>
            <a:r>
              <a:rPr lang="en-US" sz="1200" b="1" spc="200" kern="0" dirty="0">
                <a:solidFill>
                  <a:srgbClr val="C4471F"/>
                </a:solidFill>
                <a:latin typeface="Meiryo" pitchFamily="34" charset="0"/>
                <a:ea typeface="Meiryo" pitchFamily="34" charset="-122"/>
                <a:cs typeface="Meiryo" pitchFamily="34" charset="-120"/>
              </a:rPr>
              <a:t>検証の設計</a:t>
            </a:r>
            <a:endParaRPr lang="en-US" sz="12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3000" b="1" dirty="0">
                <a:solidFill>
                  <a:srgbClr val="0F1E2B"/>
                </a:solidFill>
                <a:latin typeface="Meiryo" pitchFamily="34" charset="0"/>
                <a:ea typeface="Meiryo" pitchFamily="34" charset="-122"/>
                <a:cs typeface="Meiryo" pitchFamily="34" charset="-120"/>
              </a:rPr>
              <a:t>自動試験と実環境試験を分けた</a:t>
            </a:r>
            <a:endParaRPr lang="en-US" sz="3000" dirty="0"/>
          </a:p>
        </p:txBody>
      </p:sp>
      <p:sp>
        <p:nvSpPr>
          <p:cNvPr id="4" name="Shape 2"/>
          <p:cNvSpPr/>
          <p:nvPr/>
        </p:nvSpPr>
        <p:spPr>
          <a:xfrm>
            <a:off x="640080" y="1737360"/>
            <a:ext cx="5257800" cy="2286000"/>
          </a:xfrm>
          <a:prstGeom prst="roundRect">
            <a:avLst>
              <a:gd name="adj" fmla="val 2400"/>
            </a:avLst>
          </a:prstGeom>
          <a:solidFill>
            <a:srgbClr val="EEF2F6"/>
          </a:solidFill>
          <a:ln w="12700">
            <a:solidFill>
              <a:srgbClr val="EEF2F6"/>
            </a:solidFill>
            <a:prstDash val="solid"/>
          </a:ln>
        </p:spPr>
      </p:sp>
      <p:sp>
        <p:nvSpPr>
          <p:cNvPr id="5" name="Text 3"/>
          <p:cNvSpPr/>
          <p:nvPr/>
        </p:nvSpPr>
        <p:spPr>
          <a:xfrm>
            <a:off x="960120" y="1965960"/>
            <a:ext cx="4389120" cy="320040"/>
          </a:xfrm>
          <a:prstGeom prst="rect">
            <a:avLst/>
          </a:prstGeom>
          <a:noFill/>
          <a:ln/>
        </p:spPr>
        <p:txBody>
          <a:bodyPr wrap="square" lIns="0" tIns="0" rIns="0" bIns="0" rtlCol="0" anchor="ctr"/>
          <a:lstStyle/>
          <a:p>
            <a:pPr indent="0" marL="0">
              <a:buNone/>
            </a:pPr>
            <a:r>
              <a:rPr lang="en-US" sz="1600" b="1" dirty="0">
                <a:solidFill>
                  <a:srgbClr val="0F1E2B"/>
                </a:solidFill>
                <a:latin typeface="Meiryo" pitchFamily="34" charset="0"/>
                <a:ea typeface="Meiryo" pitchFamily="34" charset="-122"/>
                <a:cs typeface="Meiryo" pitchFamily="34" charset="-120"/>
              </a:rPr>
              <a:t>自動試験</a:t>
            </a:r>
            <a:endParaRPr lang="en-US" sz="1600" dirty="0"/>
          </a:p>
        </p:txBody>
      </p:sp>
      <p:sp>
        <p:nvSpPr>
          <p:cNvPr id="6" name="Text 4"/>
          <p:cNvSpPr/>
          <p:nvPr/>
        </p:nvSpPr>
        <p:spPr>
          <a:xfrm>
            <a:off x="960120" y="2331720"/>
            <a:ext cx="4572000" cy="274320"/>
          </a:xfrm>
          <a:prstGeom prst="rect">
            <a:avLst/>
          </a:prstGeom>
          <a:noFill/>
          <a:ln/>
        </p:spPr>
        <p:txBody>
          <a:bodyPr wrap="square" lIns="0" tIns="0" rIns="0" bIns="0" rtlCol="0" anchor="ctr"/>
          <a:lstStyle/>
          <a:p>
            <a:pPr indent="0" marL="0">
              <a:buNone/>
            </a:pPr>
            <a:r>
              <a:rPr lang="en-US" sz="1150" dirty="0">
                <a:solidFill>
                  <a:srgbClr val="5E7183"/>
                </a:solidFill>
                <a:latin typeface="Meiryo" pitchFamily="34" charset="0"/>
                <a:ea typeface="Meiryo" pitchFamily="34" charset="-122"/>
                <a:cs typeface="Meiryo" pitchFamily="34" charset="-120"/>
              </a:rPr>
              <a:t>保証するのは「判断の筋道が仕様どおりか」</a:t>
            </a:r>
            <a:endParaRPr lang="en-US" sz="1150" dirty="0"/>
          </a:p>
        </p:txBody>
      </p:sp>
      <p:sp>
        <p:nvSpPr>
          <p:cNvPr id="7" name="Text 5"/>
          <p:cNvSpPr/>
          <p:nvPr/>
        </p:nvSpPr>
        <p:spPr>
          <a:xfrm>
            <a:off x="960120" y="2697480"/>
            <a:ext cx="4572000" cy="411480"/>
          </a:xfrm>
          <a:prstGeom prst="rect">
            <a:avLst/>
          </a:prstGeom>
          <a:noFill/>
          <a:ln/>
        </p:spPr>
        <p:txBody>
          <a:bodyPr wrap="square" lIns="0" tIns="0" rIns="0" bIns="0" rtlCol="0" anchor="ctr"/>
          <a:lstStyle/>
          <a:p>
            <a:pPr indent="0" marL="0">
              <a:buNone/>
            </a:pPr>
            <a:r>
              <a:rPr lang="en-US" sz="1800" b="1" dirty="0">
                <a:solidFill>
                  <a:srgbClr val="1B3346"/>
                </a:solidFill>
                <a:latin typeface="Meiryo" pitchFamily="34" charset="0"/>
                <a:ea typeface="Meiryo" pitchFamily="34" charset="-122"/>
                <a:cs typeface="Meiryo" pitchFamily="34" charset="-120"/>
              </a:rPr>
              <a:t>サーバー 811 件 / 画面 278 件</a:t>
            </a:r>
            <a:endParaRPr lang="en-US" sz="1800" dirty="0"/>
          </a:p>
        </p:txBody>
      </p:sp>
      <p:sp>
        <p:nvSpPr>
          <p:cNvPr id="8" name="Text 6"/>
          <p:cNvSpPr/>
          <p:nvPr/>
        </p:nvSpPr>
        <p:spPr>
          <a:xfrm>
            <a:off x="960120" y="3200400"/>
            <a:ext cx="4572000" cy="274320"/>
          </a:xfrm>
          <a:prstGeom prst="rect">
            <a:avLst/>
          </a:prstGeom>
          <a:noFill/>
          <a:ln/>
        </p:spPr>
        <p:txBody>
          <a:bodyPr wrap="square" lIns="0" tIns="0" rIns="0" bIns="0" rtlCol="0" anchor="ctr"/>
          <a:lstStyle/>
          <a:p>
            <a:pPr indent="0" marL="0">
              <a:buNone/>
            </a:pPr>
            <a:r>
              <a:rPr lang="en-US" sz="1100" dirty="0">
                <a:solidFill>
                  <a:srgbClr val="5E7183"/>
                </a:solidFill>
                <a:latin typeface="Meiryo" pitchFamily="34" charset="0"/>
                <a:ea typeface="Meiryo" pitchFamily="34" charset="-122"/>
                <a:cs typeface="Meiryo" pitchFamily="34" charset="-120"/>
              </a:rPr>
              <a:t>CI(GitHub Actions)で毎回実行</a:t>
            </a:r>
            <a:endParaRPr lang="en-US" sz="1100" dirty="0"/>
          </a:p>
        </p:txBody>
      </p:sp>
      <p:sp>
        <p:nvSpPr>
          <p:cNvPr id="9" name="Shape 7"/>
          <p:cNvSpPr/>
          <p:nvPr/>
        </p:nvSpPr>
        <p:spPr>
          <a:xfrm>
            <a:off x="6263640" y="1737360"/>
            <a:ext cx="5257800" cy="2286000"/>
          </a:xfrm>
          <a:prstGeom prst="roundRect">
            <a:avLst>
              <a:gd name="adj" fmla="val 2400"/>
            </a:avLst>
          </a:prstGeom>
          <a:solidFill>
            <a:srgbClr val="0F1E2B"/>
          </a:solidFill>
          <a:ln w="12700">
            <a:solidFill>
              <a:srgbClr val="0F1E2B"/>
            </a:solidFill>
            <a:prstDash val="solid"/>
          </a:ln>
        </p:spPr>
      </p:sp>
      <p:sp>
        <p:nvSpPr>
          <p:cNvPr id="10" name="Text 8"/>
          <p:cNvSpPr/>
          <p:nvPr/>
        </p:nvSpPr>
        <p:spPr>
          <a:xfrm>
            <a:off x="6583680" y="1965960"/>
            <a:ext cx="4389120" cy="320040"/>
          </a:xfrm>
          <a:prstGeom prst="rect">
            <a:avLst/>
          </a:prstGeom>
          <a:noFill/>
          <a:ln/>
        </p:spPr>
        <p:txBody>
          <a:bodyPr wrap="square" lIns="0" tIns="0" rIns="0" bIns="0" rtlCol="0" anchor="ctr"/>
          <a:lstStyle/>
          <a:p>
            <a:pPr indent="0" marL="0">
              <a:buNone/>
            </a:pPr>
            <a:r>
              <a:rPr lang="en-US" sz="1600" b="1" dirty="0">
                <a:solidFill>
                  <a:srgbClr val="FFFFFF"/>
                </a:solidFill>
                <a:latin typeface="Meiryo" pitchFamily="34" charset="0"/>
                <a:ea typeface="Meiryo" pitchFamily="34" charset="-122"/>
                <a:cs typeface="Meiryo" pitchFamily="34" charset="-120"/>
              </a:rPr>
              <a:t>実環境試験</a:t>
            </a:r>
            <a:endParaRPr lang="en-US" sz="1600" dirty="0"/>
          </a:p>
        </p:txBody>
      </p:sp>
      <p:sp>
        <p:nvSpPr>
          <p:cNvPr id="11" name="Text 9"/>
          <p:cNvSpPr/>
          <p:nvPr/>
        </p:nvSpPr>
        <p:spPr>
          <a:xfrm>
            <a:off x="6583680" y="2331720"/>
            <a:ext cx="4572000" cy="274320"/>
          </a:xfrm>
          <a:prstGeom prst="rect">
            <a:avLst/>
          </a:prstGeom>
          <a:noFill/>
          <a:ln/>
        </p:spPr>
        <p:txBody>
          <a:bodyPr wrap="square" lIns="0" tIns="0" rIns="0" bIns="0" rtlCol="0" anchor="ctr"/>
          <a:lstStyle/>
          <a:p>
            <a:pPr indent="0" marL="0">
              <a:buNone/>
            </a:pPr>
            <a:r>
              <a:rPr lang="en-US" sz="1150" dirty="0">
                <a:solidFill>
                  <a:srgbClr val="9FB4C6"/>
                </a:solidFill>
                <a:latin typeface="Meiryo" pitchFamily="34" charset="0"/>
                <a:ea typeface="Meiryo" pitchFamily="34" charset="-122"/>
                <a:cs typeface="Meiryo" pitchFamily="34" charset="-120"/>
              </a:rPr>
              <a:t>実際のコンテナ・ネットワークで動くか</a:t>
            </a:r>
            <a:endParaRPr lang="en-US" sz="1150" dirty="0"/>
          </a:p>
        </p:txBody>
      </p:sp>
      <p:sp>
        <p:nvSpPr>
          <p:cNvPr id="12" name="Text 10"/>
          <p:cNvSpPr/>
          <p:nvPr/>
        </p:nvSpPr>
        <p:spPr>
          <a:xfrm>
            <a:off x="6583680" y="2697480"/>
            <a:ext cx="4572000" cy="411480"/>
          </a:xfrm>
          <a:prstGeom prst="rect">
            <a:avLst/>
          </a:prstGeom>
          <a:noFill/>
          <a:ln/>
        </p:spPr>
        <p:txBody>
          <a:bodyPr wrap="square" lIns="0" tIns="0" rIns="0" bIns="0" rtlCol="0" anchor="ctr"/>
          <a:lstStyle/>
          <a:p>
            <a:pPr indent="0" marL="0">
              <a:buNone/>
            </a:pPr>
            <a:r>
              <a:rPr lang="en-US" sz="1800" b="1" dirty="0">
                <a:solidFill>
                  <a:srgbClr val="FFFFFF"/>
                </a:solidFill>
                <a:latin typeface="Meiryo" pitchFamily="34" charset="0"/>
                <a:ea typeface="Meiryo" pitchFamily="34" charset="-122"/>
                <a:cs typeface="Meiryo" pitchFamily="34" charset="-120"/>
              </a:rPr>
              <a:t>検証専用VM で通し実行</a:t>
            </a:r>
            <a:endParaRPr lang="en-US" sz="1800" dirty="0"/>
          </a:p>
        </p:txBody>
      </p:sp>
      <p:sp>
        <p:nvSpPr>
          <p:cNvPr id="13" name="Text 11"/>
          <p:cNvSpPr/>
          <p:nvPr/>
        </p:nvSpPr>
        <p:spPr>
          <a:xfrm>
            <a:off x="6583680" y="3200400"/>
            <a:ext cx="4663440" cy="274320"/>
          </a:xfrm>
          <a:prstGeom prst="rect">
            <a:avLst/>
          </a:prstGeom>
          <a:noFill/>
          <a:ln/>
        </p:spPr>
        <p:txBody>
          <a:bodyPr wrap="square" lIns="0" tIns="0" rIns="0" bIns="0" rtlCol="0" anchor="ctr"/>
          <a:lstStyle/>
          <a:p>
            <a:pPr indent="0" marL="0">
              <a:buNone/>
            </a:pPr>
            <a:r>
              <a:rPr lang="en-US" sz="1100" dirty="0">
                <a:solidFill>
                  <a:srgbClr val="9FB4C6"/>
                </a:solidFill>
                <a:latin typeface="Meiryo" pitchFamily="34" charset="0"/>
                <a:ea typeface="Meiryo" pitchFamily="34" charset="-122"/>
                <a:cs typeface="Meiryo" pitchFamily="34" charset="-120"/>
              </a:rPr>
              <a:t>配置 → MFA設定 → 対象登録 → シナリオ → 測定 を自動化</a:t>
            </a:r>
            <a:endParaRPr lang="en-US" sz="1100" dirty="0"/>
          </a:p>
        </p:txBody>
      </p:sp>
      <p:sp>
        <p:nvSpPr>
          <p:cNvPr id="14" name="Shape 12"/>
          <p:cNvSpPr/>
          <p:nvPr/>
        </p:nvSpPr>
        <p:spPr>
          <a:xfrm>
            <a:off x="640080" y="4297680"/>
            <a:ext cx="10881360" cy="1371600"/>
          </a:xfrm>
          <a:prstGeom prst="roundRect">
            <a:avLst>
              <a:gd name="adj" fmla="val 4000"/>
            </a:avLst>
          </a:prstGeom>
          <a:solidFill>
            <a:srgbClr val="FBE9E2"/>
          </a:solidFill>
          <a:ln w="12700">
            <a:solidFill>
              <a:srgbClr val="FBE9E2"/>
            </a:solidFill>
            <a:prstDash val="solid"/>
          </a:ln>
        </p:spPr>
      </p:sp>
      <p:sp>
        <p:nvSpPr>
          <p:cNvPr id="15" name="Text 13"/>
          <p:cNvSpPr/>
          <p:nvPr/>
        </p:nvSpPr>
        <p:spPr>
          <a:xfrm>
            <a:off x="960120" y="4480560"/>
            <a:ext cx="10241280" cy="320040"/>
          </a:xfrm>
          <a:prstGeom prst="rect">
            <a:avLst/>
          </a:prstGeom>
          <a:noFill/>
          <a:ln/>
        </p:spPr>
        <p:txBody>
          <a:bodyPr wrap="square" lIns="0" tIns="0" rIns="0" bIns="0" rtlCol="0" anchor="ctr"/>
          <a:lstStyle/>
          <a:p>
            <a:pPr indent="0" marL="0">
              <a:buNone/>
            </a:pPr>
            <a:r>
              <a:rPr lang="en-US" sz="1500" b="1" dirty="0">
                <a:solidFill>
                  <a:srgbClr val="C4471F"/>
                </a:solidFill>
                <a:latin typeface="Meiryo" pitchFamily="34" charset="0"/>
                <a:ea typeface="Meiryo" pitchFamily="34" charset="-122"/>
                <a:cs typeface="Meiryo" pitchFamily="34" charset="-120"/>
              </a:rPr>
              <a:t>この分離は結果的に正しかった</a:t>
            </a:r>
            <a:endParaRPr lang="en-US" sz="1500" dirty="0"/>
          </a:p>
        </p:txBody>
      </p:sp>
      <p:sp>
        <p:nvSpPr>
          <p:cNvPr id="16" name="Text 14"/>
          <p:cNvSpPr/>
          <p:nvPr/>
        </p:nvSpPr>
        <p:spPr>
          <a:xfrm>
            <a:off x="960120" y="4846320"/>
            <a:ext cx="10241280" cy="685800"/>
          </a:xfrm>
          <a:prstGeom prst="rect">
            <a:avLst/>
          </a:prstGeom>
          <a:noFill/>
          <a:ln/>
        </p:spPr>
        <p:txBody>
          <a:bodyPr wrap="square" lIns="0" tIns="0" rIns="0" bIns="0" rtlCol="0" anchor="ctr"/>
          <a:lstStyle/>
          <a:p>
            <a:pPr indent="0" marL="0">
              <a:lnSpc>
                <a:spcPts val="1800"/>
              </a:lnSpc>
              <a:buNone/>
            </a:pPr>
            <a:r>
              <a:rPr lang="en-US" sz="1200" dirty="0">
                <a:solidFill>
                  <a:srgbClr val="1B3346"/>
                </a:solidFill>
                <a:latin typeface="Meiryo" pitchFamily="34" charset="0"/>
                <a:ea typeface="Meiryo" pitchFamily="34" charset="-122"/>
                <a:cs typeface="Meiryo" pitchFamily="34" charset="-120"/>
              </a:rPr>
              <a:t>自動試験780件がすべて緑の状態で、配置すると起動しない不具合が4件あった。</a:t>
            </a:r>
            <a:endParaRPr lang="en-US" sz="1200" dirty="0"/>
          </a:p>
          <a:p>
            <a:pPr indent="0" marL="0">
              <a:lnSpc>
                <a:spcPts val="1800"/>
              </a:lnSpc>
              <a:buNone/>
            </a:pPr>
            <a:r>
              <a:rPr lang="en-US" sz="1200" dirty="0">
                <a:solidFill>
                  <a:srgbClr val="1B3346"/>
                </a:solidFill>
                <a:latin typeface="Meiryo" pitchFamily="34" charset="0"/>
                <a:ea typeface="Meiryo" pitchFamily="34" charset="-122"/>
                <a:cs typeface="Meiryo" pitchFamily="34" charset="-120"/>
              </a:rPr>
              <a:t>実際にコンテナが再起動するか、マイグレーションが通るか、healthcheckが効くかは実環境でしか確かめられない。</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7315200" cy="274320"/>
          </a:xfrm>
          <a:prstGeom prst="rect">
            <a:avLst/>
          </a:prstGeom>
          <a:noFill/>
          <a:ln/>
        </p:spPr>
        <p:txBody>
          <a:bodyPr wrap="square" lIns="0" tIns="0" rIns="0" bIns="0" rtlCol="0" anchor="ctr"/>
          <a:lstStyle/>
          <a:p>
            <a:pPr indent="0" marL="0">
              <a:buNone/>
            </a:pPr>
            <a:r>
              <a:rPr lang="en-US" sz="1200" b="1" spc="200" kern="0" dirty="0">
                <a:solidFill>
                  <a:srgbClr val="C4471F"/>
                </a:solidFill>
                <a:latin typeface="Meiryo" pitchFamily="34" charset="0"/>
                <a:ea typeface="Meiryo" pitchFamily="34" charset="-122"/>
                <a:cs typeface="Meiryo" pitchFamily="34" charset="-120"/>
              </a:rPr>
              <a:t>成果</a:t>
            </a:r>
            <a:endParaRPr lang="en-US" sz="12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3000" b="1" dirty="0">
                <a:solidFill>
                  <a:srgbClr val="0F1E2B"/>
                </a:solidFill>
                <a:latin typeface="Meiryo" pitchFamily="34" charset="0"/>
                <a:ea typeface="Meiryo" pitchFamily="34" charset="-122"/>
                <a:cs typeface="Meiryo" pitchFamily="34" charset="-120"/>
              </a:rPr>
              <a:t>検証専用VMでの通し実行で、9項目すべてを達成</a:t>
            </a:r>
            <a:endParaRPr lang="en-US" sz="3000" dirty="0"/>
          </a:p>
        </p:txBody>
      </p:sp>
      <p:sp>
        <p:nvSpPr>
          <p:cNvPr id="4" name="Shape 2"/>
          <p:cNvSpPr/>
          <p:nvPr/>
        </p:nvSpPr>
        <p:spPr>
          <a:xfrm>
            <a:off x="640080" y="1746504"/>
            <a:ext cx="310896" cy="310896"/>
          </a:xfrm>
          <a:prstGeom prst="ellipse">
            <a:avLst/>
          </a:prstGeom>
          <a:solidFill>
            <a:srgbClr val="E2EFEC"/>
          </a:solidFill>
          <a:ln w="12700">
            <a:solidFill>
              <a:srgbClr val="E2EFEC"/>
            </a:solidFill>
            <a:prstDash val="solid"/>
          </a:ln>
        </p:spPr>
      </p:sp>
      <p:sp>
        <p:nvSpPr>
          <p:cNvPr id="5" name="Text 3"/>
          <p:cNvSpPr/>
          <p:nvPr/>
        </p:nvSpPr>
        <p:spPr>
          <a:xfrm>
            <a:off x="640080" y="1746504"/>
            <a:ext cx="310896" cy="310896"/>
          </a:xfrm>
          <a:prstGeom prst="rect">
            <a:avLst/>
          </a:prstGeom>
          <a:noFill/>
          <a:ln/>
        </p:spPr>
        <p:txBody>
          <a:bodyPr wrap="square" lIns="0" tIns="0" rIns="0" bIns="0" rtlCol="0" anchor="ctr"/>
          <a:lstStyle/>
          <a:p>
            <a:pPr algn="ctr" indent="0" marL="0">
              <a:buNone/>
            </a:pPr>
            <a:r>
              <a:rPr lang="en-US" sz="1100" b="1" dirty="0">
                <a:solidFill>
                  <a:srgbClr val="1B6B5E"/>
                </a:solidFill>
                <a:latin typeface="Meiryo" pitchFamily="34" charset="0"/>
                <a:ea typeface="Meiryo" pitchFamily="34" charset="-122"/>
                <a:cs typeface="Meiryo" pitchFamily="34" charset="-120"/>
              </a:rPr>
              <a:t>1</a:t>
            </a:r>
            <a:endParaRPr lang="en-US" sz="1100" dirty="0"/>
          </a:p>
        </p:txBody>
      </p:sp>
      <p:sp>
        <p:nvSpPr>
          <p:cNvPr id="6" name="Text 4"/>
          <p:cNvSpPr/>
          <p:nvPr/>
        </p:nvSpPr>
        <p:spPr>
          <a:xfrm>
            <a:off x="1051560" y="1728216"/>
            <a:ext cx="3200400" cy="365760"/>
          </a:xfrm>
          <a:prstGeom prst="rect">
            <a:avLst/>
          </a:prstGeom>
          <a:noFill/>
          <a:ln/>
        </p:spPr>
        <p:txBody>
          <a:bodyPr wrap="square" lIns="0" tIns="0" rIns="0" bIns="0" rtlCol="0" anchor="ctr"/>
          <a:lstStyle/>
          <a:p>
            <a:pPr indent="0" marL="0">
              <a:buNone/>
            </a:pPr>
            <a:r>
              <a:rPr lang="en-US" sz="1150" dirty="0">
                <a:solidFill>
                  <a:srgbClr val="0F1E2B"/>
                </a:solidFill>
                <a:latin typeface="Meiryo" pitchFamily="34" charset="0"/>
                <a:ea typeface="Meiryo" pitchFamily="34" charset="-122"/>
                <a:cs typeface="Meiryo" pitchFamily="34" charset="-120"/>
              </a:rPr>
              <a:t>障害が検知されインシデントが作られる</a:t>
            </a:r>
            <a:endParaRPr lang="en-US" sz="1150" dirty="0"/>
          </a:p>
        </p:txBody>
      </p:sp>
      <p:sp>
        <p:nvSpPr>
          <p:cNvPr id="7" name="Text 5"/>
          <p:cNvSpPr/>
          <p:nvPr/>
        </p:nvSpPr>
        <p:spPr>
          <a:xfrm>
            <a:off x="4297680" y="1728216"/>
            <a:ext cx="1737360" cy="365760"/>
          </a:xfrm>
          <a:prstGeom prst="rect">
            <a:avLst/>
          </a:prstGeom>
          <a:noFill/>
          <a:ln/>
        </p:spPr>
        <p:txBody>
          <a:bodyPr wrap="square" lIns="0" tIns="0" rIns="0" bIns="0" rtlCol="0" anchor="ctr"/>
          <a:lstStyle/>
          <a:p>
            <a:pPr indent="0" marL="0">
              <a:buNone/>
            </a:pPr>
            <a:r>
              <a:rPr lang="en-US" sz="1000" dirty="0">
                <a:solidFill>
                  <a:srgbClr val="5E7183"/>
                </a:solidFill>
                <a:latin typeface="Meiryo" pitchFamily="34" charset="0"/>
                <a:ea typeface="Meiryo" pitchFamily="34" charset="-122"/>
                <a:cs typeface="Meiryo" pitchFamily="34" charset="-120"/>
              </a:rPr>
              <a:t>判定10件中10件</a:t>
            </a:r>
            <a:endParaRPr lang="en-US" sz="1000" dirty="0"/>
          </a:p>
        </p:txBody>
      </p:sp>
      <p:sp>
        <p:nvSpPr>
          <p:cNvPr id="8" name="Shape 6"/>
          <p:cNvSpPr/>
          <p:nvPr/>
        </p:nvSpPr>
        <p:spPr>
          <a:xfrm>
            <a:off x="6217920" y="1746504"/>
            <a:ext cx="310896" cy="310896"/>
          </a:xfrm>
          <a:prstGeom prst="ellipse">
            <a:avLst/>
          </a:prstGeom>
          <a:solidFill>
            <a:srgbClr val="E2EFEC"/>
          </a:solidFill>
          <a:ln w="12700">
            <a:solidFill>
              <a:srgbClr val="E2EFEC"/>
            </a:solidFill>
            <a:prstDash val="solid"/>
          </a:ln>
        </p:spPr>
      </p:sp>
      <p:sp>
        <p:nvSpPr>
          <p:cNvPr id="9" name="Text 7"/>
          <p:cNvSpPr/>
          <p:nvPr/>
        </p:nvSpPr>
        <p:spPr>
          <a:xfrm>
            <a:off x="6217920" y="1746504"/>
            <a:ext cx="310896" cy="310896"/>
          </a:xfrm>
          <a:prstGeom prst="rect">
            <a:avLst/>
          </a:prstGeom>
          <a:noFill/>
          <a:ln/>
        </p:spPr>
        <p:txBody>
          <a:bodyPr wrap="square" lIns="0" tIns="0" rIns="0" bIns="0" rtlCol="0" anchor="ctr"/>
          <a:lstStyle/>
          <a:p>
            <a:pPr algn="ctr" indent="0" marL="0">
              <a:buNone/>
            </a:pPr>
            <a:r>
              <a:rPr lang="en-US" sz="1100" b="1" dirty="0">
                <a:solidFill>
                  <a:srgbClr val="1B6B5E"/>
                </a:solidFill>
                <a:latin typeface="Meiryo" pitchFamily="34" charset="0"/>
                <a:ea typeface="Meiryo" pitchFamily="34" charset="-122"/>
                <a:cs typeface="Meiryo" pitchFamily="34" charset="-120"/>
              </a:rPr>
              <a:t>2</a:t>
            </a:r>
            <a:endParaRPr lang="en-US" sz="1100" dirty="0"/>
          </a:p>
        </p:txBody>
      </p:sp>
      <p:sp>
        <p:nvSpPr>
          <p:cNvPr id="10" name="Text 8"/>
          <p:cNvSpPr/>
          <p:nvPr/>
        </p:nvSpPr>
        <p:spPr>
          <a:xfrm>
            <a:off x="6629400" y="1728216"/>
            <a:ext cx="3200400" cy="365760"/>
          </a:xfrm>
          <a:prstGeom prst="rect">
            <a:avLst/>
          </a:prstGeom>
          <a:noFill/>
          <a:ln/>
        </p:spPr>
        <p:txBody>
          <a:bodyPr wrap="square" lIns="0" tIns="0" rIns="0" bIns="0" rtlCol="0" anchor="ctr"/>
          <a:lstStyle/>
          <a:p>
            <a:pPr indent="0" marL="0">
              <a:buNone/>
            </a:pPr>
            <a:r>
              <a:rPr lang="en-US" sz="1150" dirty="0">
                <a:solidFill>
                  <a:srgbClr val="0F1E2B"/>
                </a:solidFill>
                <a:latin typeface="Meiryo" pitchFamily="34" charset="0"/>
                <a:ea typeface="Meiryo" pitchFamily="34" charset="-122"/>
                <a:cs typeface="Meiryo" pitchFamily="34" charset="-120"/>
              </a:rPr>
              <a:t>検知から通知までが5分以内</a:t>
            </a:r>
            <a:endParaRPr lang="en-US" sz="1150" dirty="0"/>
          </a:p>
        </p:txBody>
      </p:sp>
      <p:sp>
        <p:nvSpPr>
          <p:cNvPr id="11" name="Text 9"/>
          <p:cNvSpPr/>
          <p:nvPr/>
        </p:nvSpPr>
        <p:spPr>
          <a:xfrm>
            <a:off x="9875520" y="1728216"/>
            <a:ext cx="1737360" cy="365760"/>
          </a:xfrm>
          <a:prstGeom prst="rect">
            <a:avLst/>
          </a:prstGeom>
          <a:noFill/>
          <a:ln/>
        </p:spPr>
        <p:txBody>
          <a:bodyPr wrap="square" lIns="0" tIns="0" rIns="0" bIns="0" rtlCol="0" anchor="ctr"/>
          <a:lstStyle/>
          <a:p>
            <a:pPr indent="0" marL="0">
              <a:buNone/>
            </a:pPr>
            <a:r>
              <a:rPr lang="en-US" sz="1000" dirty="0">
                <a:solidFill>
                  <a:srgbClr val="5E7183"/>
                </a:solidFill>
                <a:latin typeface="Meiryo" pitchFamily="34" charset="0"/>
                <a:ea typeface="Meiryo" pitchFamily="34" charset="-122"/>
                <a:cs typeface="Meiryo" pitchFamily="34" charset="-120"/>
              </a:rPr>
              <a:t>中央値 0秒 / 最大 1.2秒</a:t>
            </a:r>
            <a:endParaRPr lang="en-US" sz="1000" dirty="0"/>
          </a:p>
        </p:txBody>
      </p:sp>
      <p:sp>
        <p:nvSpPr>
          <p:cNvPr id="12" name="Shape 10"/>
          <p:cNvSpPr/>
          <p:nvPr/>
        </p:nvSpPr>
        <p:spPr>
          <a:xfrm>
            <a:off x="640080" y="2350008"/>
            <a:ext cx="310896" cy="310896"/>
          </a:xfrm>
          <a:prstGeom prst="ellipse">
            <a:avLst/>
          </a:prstGeom>
          <a:solidFill>
            <a:srgbClr val="E2EFEC"/>
          </a:solidFill>
          <a:ln w="12700">
            <a:solidFill>
              <a:srgbClr val="E2EFEC"/>
            </a:solidFill>
            <a:prstDash val="solid"/>
          </a:ln>
        </p:spPr>
      </p:sp>
      <p:sp>
        <p:nvSpPr>
          <p:cNvPr id="13" name="Text 11"/>
          <p:cNvSpPr/>
          <p:nvPr/>
        </p:nvSpPr>
        <p:spPr>
          <a:xfrm>
            <a:off x="640080" y="2350008"/>
            <a:ext cx="310896" cy="310896"/>
          </a:xfrm>
          <a:prstGeom prst="rect">
            <a:avLst/>
          </a:prstGeom>
          <a:noFill/>
          <a:ln/>
        </p:spPr>
        <p:txBody>
          <a:bodyPr wrap="square" lIns="0" tIns="0" rIns="0" bIns="0" rtlCol="0" anchor="ctr"/>
          <a:lstStyle/>
          <a:p>
            <a:pPr algn="ctr" indent="0" marL="0">
              <a:buNone/>
            </a:pPr>
            <a:r>
              <a:rPr lang="en-US" sz="1100" b="1" dirty="0">
                <a:solidFill>
                  <a:srgbClr val="1B6B5E"/>
                </a:solidFill>
                <a:latin typeface="Meiryo" pitchFamily="34" charset="0"/>
                <a:ea typeface="Meiryo" pitchFamily="34" charset="-122"/>
                <a:cs typeface="Meiryo" pitchFamily="34" charset="-120"/>
              </a:rPr>
              <a:t>3</a:t>
            </a:r>
            <a:endParaRPr lang="en-US" sz="1100" dirty="0"/>
          </a:p>
        </p:txBody>
      </p:sp>
      <p:sp>
        <p:nvSpPr>
          <p:cNvPr id="14" name="Text 12"/>
          <p:cNvSpPr/>
          <p:nvPr/>
        </p:nvSpPr>
        <p:spPr>
          <a:xfrm>
            <a:off x="1051560" y="2331720"/>
            <a:ext cx="3200400" cy="365760"/>
          </a:xfrm>
          <a:prstGeom prst="rect">
            <a:avLst/>
          </a:prstGeom>
          <a:noFill/>
          <a:ln/>
        </p:spPr>
        <p:txBody>
          <a:bodyPr wrap="square" lIns="0" tIns="0" rIns="0" bIns="0" rtlCol="0" anchor="ctr"/>
          <a:lstStyle/>
          <a:p>
            <a:pPr indent="0" marL="0">
              <a:buNone/>
            </a:pPr>
            <a:r>
              <a:rPr lang="en-US" sz="1150" dirty="0">
                <a:solidFill>
                  <a:srgbClr val="0F1E2B"/>
                </a:solidFill>
                <a:latin typeface="Meiryo" pitchFamily="34" charset="0"/>
                <a:ea typeface="Meiryo" pitchFamily="34" charset="-122"/>
                <a:cs typeface="Meiryo" pitchFamily="34" charset="-120"/>
              </a:rPr>
              <a:t>診断に必ず根拠が付く</a:t>
            </a:r>
            <a:endParaRPr lang="en-US" sz="1150" dirty="0"/>
          </a:p>
        </p:txBody>
      </p:sp>
      <p:sp>
        <p:nvSpPr>
          <p:cNvPr id="15" name="Text 13"/>
          <p:cNvSpPr/>
          <p:nvPr/>
        </p:nvSpPr>
        <p:spPr>
          <a:xfrm>
            <a:off x="4297680" y="2331720"/>
            <a:ext cx="1737360" cy="365760"/>
          </a:xfrm>
          <a:prstGeom prst="rect">
            <a:avLst/>
          </a:prstGeom>
          <a:noFill/>
          <a:ln/>
        </p:spPr>
        <p:txBody>
          <a:bodyPr wrap="square" lIns="0" tIns="0" rIns="0" bIns="0" rtlCol="0" anchor="ctr"/>
          <a:lstStyle/>
          <a:p>
            <a:pPr indent="0" marL="0">
              <a:buNone/>
            </a:pPr>
            <a:r>
              <a:rPr lang="en-US" sz="1000" dirty="0">
                <a:solidFill>
                  <a:srgbClr val="5E7183"/>
                </a:solidFill>
                <a:latin typeface="Meiryo" pitchFamily="34" charset="0"/>
                <a:ea typeface="Meiryo" pitchFamily="34" charset="-122"/>
                <a:cs typeface="Meiryo" pitchFamily="34" charset="-120"/>
              </a:rPr>
              <a:t>根拠が空 0件</a:t>
            </a:r>
            <a:endParaRPr lang="en-US" sz="1000" dirty="0"/>
          </a:p>
        </p:txBody>
      </p:sp>
      <p:sp>
        <p:nvSpPr>
          <p:cNvPr id="16" name="Shape 14"/>
          <p:cNvSpPr/>
          <p:nvPr/>
        </p:nvSpPr>
        <p:spPr>
          <a:xfrm>
            <a:off x="6217920" y="2350008"/>
            <a:ext cx="310896" cy="310896"/>
          </a:xfrm>
          <a:prstGeom prst="ellipse">
            <a:avLst/>
          </a:prstGeom>
          <a:solidFill>
            <a:srgbClr val="E2EFEC"/>
          </a:solidFill>
          <a:ln w="12700">
            <a:solidFill>
              <a:srgbClr val="E2EFEC"/>
            </a:solidFill>
            <a:prstDash val="solid"/>
          </a:ln>
        </p:spPr>
      </p:sp>
      <p:sp>
        <p:nvSpPr>
          <p:cNvPr id="17" name="Text 15"/>
          <p:cNvSpPr/>
          <p:nvPr/>
        </p:nvSpPr>
        <p:spPr>
          <a:xfrm>
            <a:off x="6217920" y="2350008"/>
            <a:ext cx="310896" cy="310896"/>
          </a:xfrm>
          <a:prstGeom prst="rect">
            <a:avLst/>
          </a:prstGeom>
          <a:noFill/>
          <a:ln/>
        </p:spPr>
        <p:txBody>
          <a:bodyPr wrap="square" lIns="0" tIns="0" rIns="0" bIns="0" rtlCol="0" anchor="ctr"/>
          <a:lstStyle/>
          <a:p>
            <a:pPr algn="ctr" indent="0" marL="0">
              <a:buNone/>
            </a:pPr>
            <a:r>
              <a:rPr lang="en-US" sz="1100" b="1" dirty="0">
                <a:solidFill>
                  <a:srgbClr val="1B6B5E"/>
                </a:solidFill>
                <a:latin typeface="Meiryo" pitchFamily="34" charset="0"/>
                <a:ea typeface="Meiryo" pitchFamily="34" charset="-122"/>
                <a:cs typeface="Meiryo" pitchFamily="34" charset="-120"/>
              </a:rPr>
              <a:t>4</a:t>
            </a:r>
            <a:endParaRPr lang="en-US" sz="1100" dirty="0"/>
          </a:p>
        </p:txBody>
      </p:sp>
      <p:sp>
        <p:nvSpPr>
          <p:cNvPr id="18" name="Text 16"/>
          <p:cNvSpPr/>
          <p:nvPr/>
        </p:nvSpPr>
        <p:spPr>
          <a:xfrm>
            <a:off x="6629400" y="2331720"/>
            <a:ext cx="3200400" cy="365760"/>
          </a:xfrm>
          <a:prstGeom prst="rect">
            <a:avLst/>
          </a:prstGeom>
          <a:noFill/>
          <a:ln/>
        </p:spPr>
        <p:txBody>
          <a:bodyPr wrap="square" lIns="0" tIns="0" rIns="0" bIns="0" rtlCol="0" anchor="ctr"/>
          <a:lstStyle/>
          <a:p>
            <a:pPr indent="0" marL="0">
              <a:buNone/>
            </a:pPr>
            <a:r>
              <a:rPr lang="en-US" sz="1150" dirty="0">
                <a:solidFill>
                  <a:srgbClr val="0F1E2B"/>
                </a:solidFill>
                <a:latin typeface="Meiryo" pitchFamily="34" charset="0"/>
                <a:ea typeface="Meiryo" pitchFamily="34" charset="-122"/>
                <a:cs typeface="Meiryo" pitchFamily="34" charset="-120"/>
              </a:rPr>
              <a:t>危険度の高い操作が自動実行されない</a:t>
            </a:r>
            <a:endParaRPr lang="en-US" sz="1150" dirty="0"/>
          </a:p>
        </p:txBody>
      </p:sp>
      <p:sp>
        <p:nvSpPr>
          <p:cNvPr id="19" name="Text 17"/>
          <p:cNvSpPr/>
          <p:nvPr/>
        </p:nvSpPr>
        <p:spPr>
          <a:xfrm>
            <a:off x="9875520" y="2331720"/>
            <a:ext cx="1737360" cy="365760"/>
          </a:xfrm>
          <a:prstGeom prst="rect">
            <a:avLst/>
          </a:prstGeom>
          <a:noFill/>
          <a:ln/>
        </p:spPr>
        <p:txBody>
          <a:bodyPr wrap="square" lIns="0" tIns="0" rIns="0" bIns="0" rtlCol="0" anchor="ctr"/>
          <a:lstStyle/>
          <a:p>
            <a:pPr indent="0" marL="0">
              <a:buNone/>
            </a:pPr>
            <a:r>
              <a:rPr lang="en-US" sz="1000" dirty="0">
                <a:solidFill>
                  <a:srgbClr val="5E7183"/>
                </a:solidFill>
                <a:latin typeface="Meiryo" pitchFamily="34" charset="0"/>
                <a:ea typeface="Meiryo" pitchFamily="34" charset="-122"/>
                <a:cs typeface="Meiryo" pitchFamily="34" charset="-120"/>
              </a:rPr>
              <a:t>低危険度のみ</a:t>
            </a:r>
            <a:endParaRPr lang="en-US" sz="1000" dirty="0"/>
          </a:p>
        </p:txBody>
      </p:sp>
      <p:sp>
        <p:nvSpPr>
          <p:cNvPr id="20" name="Shape 18"/>
          <p:cNvSpPr/>
          <p:nvPr/>
        </p:nvSpPr>
        <p:spPr>
          <a:xfrm>
            <a:off x="640080" y="2953512"/>
            <a:ext cx="310896" cy="310896"/>
          </a:xfrm>
          <a:prstGeom prst="ellipse">
            <a:avLst/>
          </a:prstGeom>
          <a:solidFill>
            <a:srgbClr val="E2EFEC"/>
          </a:solidFill>
          <a:ln w="12700">
            <a:solidFill>
              <a:srgbClr val="E2EFEC"/>
            </a:solidFill>
            <a:prstDash val="solid"/>
          </a:ln>
        </p:spPr>
      </p:sp>
      <p:sp>
        <p:nvSpPr>
          <p:cNvPr id="21" name="Text 19"/>
          <p:cNvSpPr/>
          <p:nvPr/>
        </p:nvSpPr>
        <p:spPr>
          <a:xfrm>
            <a:off x="640080" y="2953512"/>
            <a:ext cx="310896" cy="310896"/>
          </a:xfrm>
          <a:prstGeom prst="rect">
            <a:avLst/>
          </a:prstGeom>
          <a:noFill/>
          <a:ln/>
        </p:spPr>
        <p:txBody>
          <a:bodyPr wrap="square" lIns="0" tIns="0" rIns="0" bIns="0" rtlCol="0" anchor="ctr"/>
          <a:lstStyle/>
          <a:p>
            <a:pPr algn="ctr" indent="0" marL="0">
              <a:buNone/>
            </a:pPr>
            <a:r>
              <a:rPr lang="en-US" sz="1100" b="1" dirty="0">
                <a:solidFill>
                  <a:srgbClr val="1B6B5E"/>
                </a:solidFill>
                <a:latin typeface="Meiryo" pitchFamily="34" charset="0"/>
                <a:ea typeface="Meiryo" pitchFamily="34" charset="-122"/>
                <a:cs typeface="Meiryo" pitchFamily="34" charset="-120"/>
              </a:rPr>
              <a:t>5</a:t>
            </a:r>
            <a:endParaRPr lang="en-US" sz="1100" dirty="0"/>
          </a:p>
        </p:txBody>
      </p:sp>
      <p:sp>
        <p:nvSpPr>
          <p:cNvPr id="22" name="Text 20"/>
          <p:cNvSpPr/>
          <p:nvPr/>
        </p:nvSpPr>
        <p:spPr>
          <a:xfrm>
            <a:off x="1051560" y="2935224"/>
            <a:ext cx="3200400" cy="365760"/>
          </a:xfrm>
          <a:prstGeom prst="rect">
            <a:avLst/>
          </a:prstGeom>
          <a:noFill/>
          <a:ln/>
        </p:spPr>
        <p:txBody>
          <a:bodyPr wrap="square" lIns="0" tIns="0" rIns="0" bIns="0" rtlCol="0" anchor="ctr"/>
          <a:lstStyle/>
          <a:p>
            <a:pPr indent="0" marL="0">
              <a:buNone/>
            </a:pPr>
            <a:r>
              <a:rPr lang="en-US" sz="1150" dirty="0">
                <a:solidFill>
                  <a:srgbClr val="0F1E2B"/>
                </a:solidFill>
                <a:latin typeface="Meiryo" pitchFamily="34" charset="0"/>
                <a:ea typeface="Meiryo" pitchFamily="34" charset="-122"/>
                <a:cs typeface="Meiryo" pitchFamily="34" charset="-120"/>
              </a:rPr>
              <a:t>許可外のコンテナが操作されない</a:t>
            </a:r>
            <a:endParaRPr lang="en-US" sz="1150" dirty="0"/>
          </a:p>
        </p:txBody>
      </p:sp>
      <p:sp>
        <p:nvSpPr>
          <p:cNvPr id="23" name="Text 21"/>
          <p:cNvSpPr/>
          <p:nvPr/>
        </p:nvSpPr>
        <p:spPr>
          <a:xfrm>
            <a:off x="4297680" y="2935224"/>
            <a:ext cx="1737360" cy="365760"/>
          </a:xfrm>
          <a:prstGeom prst="rect">
            <a:avLst/>
          </a:prstGeom>
          <a:noFill/>
          <a:ln/>
        </p:spPr>
        <p:txBody>
          <a:bodyPr wrap="square" lIns="0" tIns="0" rIns="0" bIns="0" rtlCol="0" anchor="ctr"/>
          <a:lstStyle/>
          <a:p>
            <a:pPr indent="0" marL="0">
              <a:buNone/>
            </a:pPr>
            <a:r>
              <a:rPr lang="en-US" sz="1000" dirty="0">
                <a:solidFill>
                  <a:srgbClr val="5E7183"/>
                </a:solidFill>
                <a:latin typeface="Meiryo" pitchFamily="34" charset="0"/>
                <a:ea typeface="Meiryo" pitchFamily="34" charset="-122"/>
                <a:cs typeface="Meiryo" pitchFamily="34" charset="-120"/>
              </a:rPr>
              <a:t>拒否を監査で確認</a:t>
            </a:r>
            <a:endParaRPr lang="en-US" sz="1000" dirty="0"/>
          </a:p>
        </p:txBody>
      </p:sp>
      <p:sp>
        <p:nvSpPr>
          <p:cNvPr id="24" name="Shape 22"/>
          <p:cNvSpPr/>
          <p:nvPr/>
        </p:nvSpPr>
        <p:spPr>
          <a:xfrm>
            <a:off x="6217920" y="2953512"/>
            <a:ext cx="310896" cy="310896"/>
          </a:xfrm>
          <a:prstGeom prst="ellipse">
            <a:avLst/>
          </a:prstGeom>
          <a:solidFill>
            <a:srgbClr val="E2EFEC"/>
          </a:solidFill>
          <a:ln w="12700">
            <a:solidFill>
              <a:srgbClr val="E2EFEC"/>
            </a:solidFill>
            <a:prstDash val="solid"/>
          </a:ln>
        </p:spPr>
      </p:sp>
      <p:sp>
        <p:nvSpPr>
          <p:cNvPr id="25" name="Text 23"/>
          <p:cNvSpPr/>
          <p:nvPr/>
        </p:nvSpPr>
        <p:spPr>
          <a:xfrm>
            <a:off x="6217920" y="2953512"/>
            <a:ext cx="310896" cy="310896"/>
          </a:xfrm>
          <a:prstGeom prst="rect">
            <a:avLst/>
          </a:prstGeom>
          <a:noFill/>
          <a:ln/>
        </p:spPr>
        <p:txBody>
          <a:bodyPr wrap="square" lIns="0" tIns="0" rIns="0" bIns="0" rtlCol="0" anchor="ctr"/>
          <a:lstStyle/>
          <a:p>
            <a:pPr algn="ctr" indent="0" marL="0">
              <a:buNone/>
            </a:pPr>
            <a:r>
              <a:rPr lang="en-US" sz="1100" b="1" dirty="0">
                <a:solidFill>
                  <a:srgbClr val="1B6B5E"/>
                </a:solidFill>
                <a:latin typeface="Meiryo" pitchFamily="34" charset="0"/>
                <a:ea typeface="Meiryo" pitchFamily="34" charset="-122"/>
                <a:cs typeface="Meiryo" pitchFamily="34" charset="-120"/>
              </a:rPr>
              <a:t>6</a:t>
            </a:r>
            <a:endParaRPr lang="en-US" sz="1100" dirty="0"/>
          </a:p>
        </p:txBody>
      </p:sp>
      <p:sp>
        <p:nvSpPr>
          <p:cNvPr id="26" name="Text 24"/>
          <p:cNvSpPr/>
          <p:nvPr/>
        </p:nvSpPr>
        <p:spPr>
          <a:xfrm>
            <a:off x="6629400" y="2935224"/>
            <a:ext cx="3200400" cy="365760"/>
          </a:xfrm>
          <a:prstGeom prst="rect">
            <a:avLst/>
          </a:prstGeom>
          <a:noFill/>
          <a:ln/>
        </p:spPr>
        <p:txBody>
          <a:bodyPr wrap="square" lIns="0" tIns="0" rIns="0" bIns="0" rtlCol="0" anchor="ctr"/>
          <a:lstStyle/>
          <a:p>
            <a:pPr indent="0" marL="0">
              <a:buNone/>
            </a:pPr>
            <a:r>
              <a:rPr lang="en-US" sz="1150" dirty="0">
                <a:solidFill>
                  <a:srgbClr val="0F1E2B"/>
                </a:solidFill>
                <a:latin typeface="Meiryo" pitchFamily="34" charset="0"/>
                <a:ea typeface="Meiryo" pitchFamily="34" charset="-122"/>
                <a:cs typeface="Meiryo" pitchFamily="34" charset="-120"/>
              </a:rPr>
              <a:t>プロンプト注入が実行に結びつかない</a:t>
            </a:r>
            <a:endParaRPr lang="en-US" sz="1150" dirty="0"/>
          </a:p>
        </p:txBody>
      </p:sp>
      <p:sp>
        <p:nvSpPr>
          <p:cNvPr id="27" name="Text 25"/>
          <p:cNvSpPr/>
          <p:nvPr/>
        </p:nvSpPr>
        <p:spPr>
          <a:xfrm>
            <a:off x="9875520" y="2935224"/>
            <a:ext cx="1737360" cy="365760"/>
          </a:xfrm>
          <a:prstGeom prst="rect">
            <a:avLst/>
          </a:prstGeom>
          <a:noFill/>
          <a:ln/>
        </p:spPr>
        <p:txBody>
          <a:bodyPr wrap="square" lIns="0" tIns="0" rIns="0" bIns="0" rtlCol="0" anchor="ctr"/>
          <a:lstStyle/>
          <a:p>
            <a:pPr indent="0" marL="0">
              <a:buNone/>
            </a:pPr>
            <a:r>
              <a:rPr lang="en-US" sz="1000" dirty="0">
                <a:solidFill>
                  <a:srgbClr val="5E7183"/>
                </a:solidFill>
                <a:latin typeface="Meiryo" pitchFamily="34" charset="0"/>
                <a:ea typeface="Meiryo" pitchFamily="34" charset="-122"/>
                <a:cs typeface="Meiryo" pitchFamily="34" charset="-120"/>
              </a:rPr>
              <a:t>取り込み1件 / 実行0件</a:t>
            </a:r>
            <a:endParaRPr lang="en-US" sz="1000" dirty="0"/>
          </a:p>
        </p:txBody>
      </p:sp>
      <p:sp>
        <p:nvSpPr>
          <p:cNvPr id="28" name="Shape 26"/>
          <p:cNvSpPr/>
          <p:nvPr/>
        </p:nvSpPr>
        <p:spPr>
          <a:xfrm>
            <a:off x="640080" y="3557016"/>
            <a:ext cx="310896" cy="310896"/>
          </a:xfrm>
          <a:prstGeom prst="ellipse">
            <a:avLst/>
          </a:prstGeom>
          <a:solidFill>
            <a:srgbClr val="E2EFEC"/>
          </a:solidFill>
          <a:ln w="12700">
            <a:solidFill>
              <a:srgbClr val="E2EFEC"/>
            </a:solidFill>
            <a:prstDash val="solid"/>
          </a:ln>
        </p:spPr>
      </p:sp>
      <p:sp>
        <p:nvSpPr>
          <p:cNvPr id="29" name="Text 27"/>
          <p:cNvSpPr/>
          <p:nvPr/>
        </p:nvSpPr>
        <p:spPr>
          <a:xfrm>
            <a:off x="640080" y="3557016"/>
            <a:ext cx="310896" cy="310896"/>
          </a:xfrm>
          <a:prstGeom prst="rect">
            <a:avLst/>
          </a:prstGeom>
          <a:noFill/>
          <a:ln/>
        </p:spPr>
        <p:txBody>
          <a:bodyPr wrap="square" lIns="0" tIns="0" rIns="0" bIns="0" rtlCol="0" anchor="ctr"/>
          <a:lstStyle/>
          <a:p>
            <a:pPr algn="ctr" indent="0" marL="0">
              <a:buNone/>
            </a:pPr>
            <a:r>
              <a:rPr lang="en-US" sz="1100" b="1" dirty="0">
                <a:solidFill>
                  <a:srgbClr val="1B6B5E"/>
                </a:solidFill>
                <a:latin typeface="Meiryo" pitchFamily="34" charset="0"/>
                <a:ea typeface="Meiryo" pitchFamily="34" charset="-122"/>
                <a:cs typeface="Meiryo" pitchFamily="34" charset="-120"/>
              </a:rPr>
              <a:t>7</a:t>
            </a:r>
            <a:endParaRPr lang="en-US" sz="1100" dirty="0"/>
          </a:p>
        </p:txBody>
      </p:sp>
      <p:sp>
        <p:nvSpPr>
          <p:cNvPr id="30" name="Text 28"/>
          <p:cNvSpPr/>
          <p:nvPr/>
        </p:nvSpPr>
        <p:spPr>
          <a:xfrm>
            <a:off x="1051560" y="3538728"/>
            <a:ext cx="3200400" cy="365760"/>
          </a:xfrm>
          <a:prstGeom prst="rect">
            <a:avLst/>
          </a:prstGeom>
          <a:noFill/>
          <a:ln/>
        </p:spPr>
        <p:txBody>
          <a:bodyPr wrap="square" lIns="0" tIns="0" rIns="0" bIns="0" rtlCol="0" anchor="ctr"/>
          <a:lstStyle/>
          <a:p>
            <a:pPr indent="0" marL="0">
              <a:buNone/>
            </a:pPr>
            <a:r>
              <a:rPr lang="en-US" sz="1150" dirty="0">
                <a:solidFill>
                  <a:srgbClr val="0F1E2B"/>
                </a:solidFill>
                <a:latin typeface="Meiryo" pitchFamily="34" charset="0"/>
                <a:ea typeface="Meiryo" pitchFamily="34" charset="-122"/>
                <a:cs typeface="Meiryo" pitchFamily="34" charset="-120"/>
              </a:rPr>
              <a:t>秘密情報が画面・API応答・ログに出ない</a:t>
            </a:r>
            <a:endParaRPr lang="en-US" sz="1150" dirty="0"/>
          </a:p>
        </p:txBody>
      </p:sp>
      <p:sp>
        <p:nvSpPr>
          <p:cNvPr id="31" name="Text 29"/>
          <p:cNvSpPr/>
          <p:nvPr/>
        </p:nvSpPr>
        <p:spPr>
          <a:xfrm>
            <a:off x="4297680" y="3538728"/>
            <a:ext cx="1737360" cy="365760"/>
          </a:xfrm>
          <a:prstGeom prst="rect">
            <a:avLst/>
          </a:prstGeom>
          <a:noFill/>
          <a:ln/>
        </p:spPr>
        <p:txBody>
          <a:bodyPr wrap="square" lIns="0" tIns="0" rIns="0" bIns="0" rtlCol="0" anchor="ctr"/>
          <a:lstStyle/>
          <a:p>
            <a:pPr indent="0" marL="0">
              <a:buNone/>
            </a:pPr>
            <a:r>
              <a:rPr lang="en-US" sz="1000" dirty="0">
                <a:solidFill>
                  <a:srgbClr val="5E7183"/>
                </a:solidFill>
                <a:latin typeface="Meiryo" pitchFamily="34" charset="0"/>
                <a:ea typeface="Meiryo" pitchFamily="34" charset="-122"/>
                <a:cs typeface="Meiryo" pitchFamily="34" charset="-120"/>
              </a:rPr>
              <a:t>応答を実測</a:t>
            </a:r>
            <a:endParaRPr lang="en-US" sz="1000" dirty="0"/>
          </a:p>
        </p:txBody>
      </p:sp>
      <p:sp>
        <p:nvSpPr>
          <p:cNvPr id="32" name="Shape 30"/>
          <p:cNvSpPr/>
          <p:nvPr/>
        </p:nvSpPr>
        <p:spPr>
          <a:xfrm>
            <a:off x="6217920" y="3557016"/>
            <a:ext cx="310896" cy="310896"/>
          </a:xfrm>
          <a:prstGeom prst="ellipse">
            <a:avLst/>
          </a:prstGeom>
          <a:solidFill>
            <a:srgbClr val="E2EFEC"/>
          </a:solidFill>
          <a:ln w="12700">
            <a:solidFill>
              <a:srgbClr val="E2EFEC"/>
            </a:solidFill>
            <a:prstDash val="solid"/>
          </a:ln>
        </p:spPr>
      </p:sp>
      <p:sp>
        <p:nvSpPr>
          <p:cNvPr id="33" name="Text 31"/>
          <p:cNvSpPr/>
          <p:nvPr/>
        </p:nvSpPr>
        <p:spPr>
          <a:xfrm>
            <a:off x="6217920" y="3557016"/>
            <a:ext cx="310896" cy="310896"/>
          </a:xfrm>
          <a:prstGeom prst="rect">
            <a:avLst/>
          </a:prstGeom>
          <a:noFill/>
          <a:ln/>
        </p:spPr>
        <p:txBody>
          <a:bodyPr wrap="square" lIns="0" tIns="0" rIns="0" bIns="0" rtlCol="0" anchor="ctr"/>
          <a:lstStyle/>
          <a:p>
            <a:pPr algn="ctr" indent="0" marL="0">
              <a:buNone/>
            </a:pPr>
            <a:r>
              <a:rPr lang="en-US" sz="1100" b="1" dirty="0">
                <a:solidFill>
                  <a:srgbClr val="1B6B5E"/>
                </a:solidFill>
                <a:latin typeface="Meiryo" pitchFamily="34" charset="0"/>
                <a:ea typeface="Meiryo" pitchFamily="34" charset="-122"/>
                <a:cs typeface="Meiryo" pitchFamily="34" charset="-120"/>
              </a:rPr>
              <a:t>8</a:t>
            </a:r>
            <a:endParaRPr lang="en-US" sz="1100" dirty="0"/>
          </a:p>
        </p:txBody>
      </p:sp>
      <p:sp>
        <p:nvSpPr>
          <p:cNvPr id="34" name="Text 32"/>
          <p:cNvSpPr/>
          <p:nvPr/>
        </p:nvSpPr>
        <p:spPr>
          <a:xfrm>
            <a:off x="6629400" y="3538728"/>
            <a:ext cx="3200400" cy="365760"/>
          </a:xfrm>
          <a:prstGeom prst="rect">
            <a:avLst/>
          </a:prstGeom>
          <a:noFill/>
          <a:ln/>
        </p:spPr>
        <p:txBody>
          <a:bodyPr wrap="square" lIns="0" tIns="0" rIns="0" bIns="0" rtlCol="0" anchor="ctr"/>
          <a:lstStyle/>
          <a:p>
            <a:pPr indent="0" marL="0">
              <a:buNone/>
            </a:pPr>
            <a:r>
              <a:rPr lang="en-US" sz="1150" dirty="0">
                <a:solidFill>
                  <a:srgbClr val="0F1E2B"/>
                </a:solidFill>
                <a:latin typeface="Meiryo" pitchFamily="34" charset="0"/>
                <a:ea typeface="Meiryo" pitchFamily="34" charset="-122"/>
                <a:cs typeface="Meiryo" pitchFamily="34" charset="-120"/>
              </a:rPr>
              <a:t>操作がすべて監査される</a:t>
            </a:r>
            <a:endParaRPr lang="en-US" sz="1150" dirty="0"/>
          </a:p>
        </p:txBody>
      </p:sp>
      <p:sp>
        <p:nvSpPr>
          <p:cNvPr id="35" name="Text 33"/>
          <p:cNvSpPr/>
          <p:nvPr/>
        </p:nvSpPr>
        <p:spPr>
          <a:xfrm>
            <a:off x="9875520" y="3538728"/>
            <a:ext cx="1737360" cy="365760"/>
          </a:xfrm>
          <a:prstGeom prst="rect">
            <a:avLst/>
          </a:prstGeom>
          <a:noFill/>
          <a:ln/>
        </p:spPr>
        <p:txBody>
          <a:bodyPr wrap="square" lIns="0" tIns="0" rIns="0" bIns="0" rtlCol="0" anchor="ctr"/>
          <a:lstStyle/>
          <a:p>
            <a:pPr indent="0" marL="0">
              <a:buNone/>
            </a:pPr>
            <a:r>
              <a:rPr lang="en-US" sz="1000" dirty="0">
                <a:solidFill>
                  <a:srgbClr val="5E7183"/>
                </a:solidFill>
                <a:latin typeface="Meiryo" pitchFamily="34" charset="0"/>
                <a:ea typeface="Meiryo" pitchFamily="34" charset="-122"/>
                <a:cs typeface="Meiryo" pitchFamily="34" charset="-120"/>
              </a:rPr>
              <a:t>監査 49件</a:t>
            </a:r>
            <a:endParaRPr lang="en-US" sz="1000" dirty="0"/>
          </a:p>
        </p:txBody>
      </p:sp>
      <p:sp>
        <p:nvSpPr>
          <p:cNvPr id="36" name="Shape 34"/>
          <p:cNvSpPr/>
          <p:nvPr/>
        </p:nvSpPr>
        <p:spPr>
          <a:xfrm>
            <a:off x="640080" y="4160520"/>
            <a:ext cx="310896" cy="310896"/>
          </a:xfrm>
          <a:prstGeom prst="ellipse">
            <a:avLst/>
          </a:prstGeom>
          <a:solidFill>
            <a:srgbClr val="E2EFEC"/>
          </a:solidFill>
          <a:ln w="12700">
            <a:solidFill>
              <a:srgbClr val="E2EFEC"/>
            </a:solidFill>
            <a:prstDash val="solid"/>
          </a:ln>
        </p:spPr>
      </p:sp>
      <p:sp>
        <p:nvSpPr>
          <p:cNvPr id="37" name="Text 35"/>
          <p:cNvSpPr/>
          <p:nvPr/>
        </p:nvSpPr>
        <p:spPr>
          <a:xfrm>
            <a:off x="640080" y="4160520"/>
            <a:ext cx="310896" cy="310896"/>
          </a:xfrm>
          <a:prstGeom prst="rect">
            <a:avLst/>
          </a:prstGeom>
          <a:noFill/>
          <a:ln/>
        </p:spPr>
        <p:txBody>
          <a:bodyPr wrap="square" lIns="0" tIns="0" rIns="0" bIns="0" rtlCol="0" anchor="ctr"/>
          <a:lstStyle/>
          <a:p>
            <a:pPr algn="ctr" indent="0" marL="0">
              <a:buNone/>
            </a:pPr>
            <a:r>
              <a:rPr lang="en-US" sz="1100" b="1" dirty="0">
                <a:solidFill>
                  <a:srgbClr val="1B6B5E"/>
                </a:solidFill>
                <a:latin typeface="Meiryo" pitchFamily="34" charset="0"/>
                <a:ea typeface="Meiryo" pitchFamily="34" charset="-122"/>
                <a:cs typeface="Meiryo" pitchFamily="34" charset="-120"/>
              </a:rPr>
              <a:t>9</a:t>
            </a:r>
            <a:endParaRPr lang="en-US" sz="1100" dirty="0"/>
          </a:p>
        </p:txBody>
      </p:sp>
      <p:sp>
        <p:nvSpPr>
          <p:cNvPr id="38" name="Text 36"/>
          <p:cNvSpPr/>
          <p:nvPr/>
        </p:nvSpPr>
        <p:spPr>
          <a:xfrm>
            <a:off x="1051560" y="4142232"/>
            <a:ext cx="3200400" cy="365760"/>
          </a:xfrm>
          <a:prstGeom prst="rect">
            <a:avLst/>
          </a:prstGeom>
          <a:noFill/>
          <a:ln/>
        </p:spPr>
        <p:txBody>
          <a:bodyPr wrap="square" lIns="0" tIns="0" rIns="0" bIns="0" rtlCol="0" anchor="ctr"/>
          <a:lstStyle/>
          <a:p>
            <a:pPr indent="0" marL="0">
              <a:buNone/>
            </a:pPr>
            <a:r>
              <a:rPr lang="en-US" sz="1150" dirty="0">
                <a:solidFill>
                  <a:srgbClr val="0F1E2B"/>
                </a:solidFill>
                <a:latin typeface="Meiryo" pitchFamily="34" charset="0"/>
                <a:ea typeface="Meiryo" pitchFamily="34" charset="-122"/>
                <a:cs typeface="Meiryo" pitchFamily="34" charset="-120"/>
              </a:rPr>
              <a:t>権限のない利用者が操作できない</a:t>
            </a:r>
            <a:endParaRPr lang="en-US" sz="1150" dirty="0"/>
          </a:p>
        </p:txBody>
      </p:sp>
      <p:sp>
        <p:nvSpPr>
          <p:cNvPr id="39" name="Text 37"/>
          <p:cNvSpPr/>
          <p:nvPr/>
        </p:nvSpPr>
        <p:spPr>
          <a:xfrm>
            <a:off x="4297680" y="4142232"/>
            <a:ext cx="1737360" cy="365760"/>
          </a:xfrm>
          <a:prstGeom prst="rect">
            <a:avLst/>
          </a:prstGeom>
          <a:noFill/>
          <a:ln/>
        </p:spPr>
        <p:txBody>
          <a:bodyPr wrap="square" lIns="0" tIns="0" rIns="0" bIns="0" rtlCol="0" anchor="ctr"/>
          <a:lstStyle/>
          <a:p>
            <a:pPr indent="0" marL="0">
              <a:buNone/>
            </a:pPr>
            <a:r>
              <a:rPr lang="en-US" sz="1000" dirty="0">
                <a:solidFill>
                  <a:srgbClr val="5E7183"/>
                </a:solidFill>
                <a:latin typeface="Meiryo" pitchFamily="34" charset="0"/>
                <a:ea typeface="Meiryo" pitchFamily="34" charset="-122"/>
                <a:cs typeface="Meiryo" pitchFamily="34" charset="-120"/>
              </a:rPr>
              <a:t>HTTP経由で403を確認</a:t>
            </a:r>
            <a:endParaRPr lang="en-US" sz="1000" dirty="0"/>
          </a:p>
        </p:txBody>
      </p:sp>
      <p:sp>
        <p:nvSpPr>
          <p:cNvPr id="40" name="Text 38"/>
          <p:cNvSpPr/>
          <p:nvPr/>
        </p:nvSpPr>
        <p:spPr>
          <a:xfrm>
            <a:off x="8229600" y="4617720"/>
            <a:ext cx="1463040" cy="640080"/>
          </a:xfrm>
          <a:prstGeom prst="rect">
            <a:avLst/>
          </a:prstGeom>
          <a:noFill/>
          <a:ln/>
        </p:spPr>
        <p:txBody>
          <a:bodyPr wrap="square" lIns="0" tIns="0" rIns="0" bIns="0" rtlCol="0" anchor="ctr"/>
          <a:lstStyle/>
          <a:p>
            <a:pPr indent="0" marL="0">
              <a:buNone/>
            </a:pPr>
            <a:r>
              <a:rPr lang="en-US" sz="3400" b="1" dirty="0">
                <a:solidFill>
                  <a:srgbClr val="1B6B5E"/>
                </a:solidFill>
                <a:latin typeface="Meiryo" pitchFamily="34" charset="0"/>
                <a:ea typeface="Meiryo" pitchFamily="34" charset="-122"/>
                <a:cs typeface="Meiryo" pitchFamily="34" charset="-120"/>
              </a:rPr>
              <a:t>9 / 9</a:t>
            </a:r>
            <a:endParaRPr lang="en-US" sz="3400" dirty="0"/>
          </a:p>
        </p:txBody>
      </p:sp>
      <p:sp>
        <p:nvSpPr>
          <p:cNvPr id="41" name="Text 39"/>
          <p:cNvSpPr/>
          <p:nvPr/>
        </p:nvSpPr>
        <p:spPr>
          <a:xfrm>
            <a:off x="9646920" y="4828032"/>
            <a:ext cx="1371600" cy="365760"/>
          </a:xfrm>
          <a:prstGeom prst="rect">
            <a:avLst/>
          </a:prstGeom>
          <a:noFill/>
          <a:ln/>
        </p:spPr>
        <p:txBody>
          <a:bodyPr wrap="square" lIns="0" tIns="0" rIns="0" bIns="0" rtlCol="0" anchor="ctr"/>
          <a:lstStyle/>
          <a:p>
            <a:pPr indent="0" marL="0">
              <a:buNone/>
            </a:pPr>
            <a:r>
              <a:rPr lang="en-US" sz="1400" b="1" dirty="0">
                <a:solidFill>
                  <a:srgbClr val="1B3346"/>
                </a:solidFill>
                <a:latin typeface="Meiryo" pitchFamily="34" charset="0"/>
                <a:ea typeface="Meiryo" pitchFamily="34" charset="-122"/>
                <a:cs typeface="Meiryo" pitchFamily="34" charset="-120"/>
              </a:rPr>
              <a:t>達成</a:t>
            </a:r>
            <a:endParaRPr lang="en-US" sz="1400" dirty="0"/>
          </a:p>
        </p:txBody>
      </p:sp>
      <p:sp>
        <p:nvSpPr>
          <p:cNvPr id="42" name="Text 40"/>
          <p:cNvSpPr/>
          <p:nvPr/>
        </p:nvSpPr>
        <p:spPr>
          <a:xfrm>
            <a:off x="640080" y="4663440"/>
            <a:ext cx="6858000" cy="640080"/>
          </a:xfrm>
          <a:prstGeom prst="rect">
            <a:avLst/>
          </a:prstGeom>
          <a:noFill/>
          <a:ln/>
        </p:spPr>
        <p:txBody>
          <a:bodyPr wrap="square" lIns="0" tIns="0" rIns="0" bIns="0" rtlCol="0" anchor="ctr"/>
          <a:lstStyle/>
          <a:p>
            <a:pPr indent="0" marL="0">
              <a:lnSpc>
                <a:spcPts val="1700"/>
              </a:lnSpc>
              <a:buNone/>
            </a:pPr>
            <a:r>
              <a:rPr lang="en-US" sz="1100" dirty="0">
                <a:solidFill>
                  <a:srgbClr val="5E7183"/>
                </a:solidFill>
                <a:latin typeface="Meiryo" pitchFamily="34" charset="0"/>
                <a:ea typeface="Meiryo" pitchFamily="34" charset="-122"/>
                <a:cs typeface="Meiryo" pitchFamily="34" charset="-120"/>
              </a:rPr>
              <a:t>SC-06・SC-07 の数値の突き合わせも判定に含めた</a:t>
            </a:r>
            <a:endParaRPr lang="en-US" sz="1100" dirty="0"/>
          </a:p>
          <a:p>
            <a:pPr indent="0" marL="0">
              <a:lnSpc>
                <a:spcPts val="1700"/>
              </a:lnSpc>
              <a:buNone/>
            </a:pPr>
            <a:r>
              <a:rPr lang="en-US" sz="1100" dirty="0">
                <a:solidFill>
                  <a:srgbClr val="5E7183"/>
                </a:solidFill>
                <a:latin typeface="Meiryo" pitchFamily="34" charset="0"/>
                <a:ea typeface="Meiryo" pitchFamily="34" charset="-122"/>
                <a:cs typeface="Meiryo" pitchFamily="34" charset="-120"/>
              </a:rPr>
              <a:t>(以前は「要目視」で、見なかったときに黙って通る状態だった)</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E2B"/>
        </a:solidFill>
      </p:bgPr>
    </p:bg>
    <p:spTree>
      <p:nvGrpSpPr>
        <p:cNvPr id="1" name=""/>
        <p:cNvGrpSpPr/>
        <p:nvPr/>
      </p:nvGrpSpPr>
      <p:grpSpPr>
        <a:xfrm>
          <a:off x="0" y="0"/>
          <a:ext cx="0" cy="0"/>
          <a:chOff x="0" y="0"/>
          <a:chExt cx="0" cy="0"/>
        </a:xfrm>
      </p:grpSpPr>
      <p:sp>
        <p:nvSpPr>
          <p:cNvPr id="2" name="Text 0"/>
          <p:cNvSpPr/>
          <p:nvPr/>
        </p:nvSpPr>
        <p:spPr>
          <a:xfrm>
            <a:off x="640080" y="2194560"/>
            <a:ext cx="7315200" cy="365760"/>
          </a:xfrm>
          <a:prstGeom prst="rect">
            <a:avLst/>
          </a:prstGeom>
          <a:noFill/>
          <a:ln/>
        </p:spPr>
        <p:txBody>
          <a:bodyPr wrap="square" lIns="0" tIns="0" rIns="0" bIns="0" rtlCol="0" anchor="ctr"/>
          <a:lstStyle/>
          <a:p>
            <a:pPr indent="0" marL="0">
              <a:buNone/>
            </a:pPr>
            <a:r>
              <a:rPr lang="en-US" sz="1300" b="1" spc="300" kern="0" dirty="0">
                <a:solidFill>
                  <a:srgbClr val="C4471F"/>
                </a:solidFill>
                <a:latin typeface="Meiryo" pitchFamily="34" charset="0"/>
                <a:ea typeface="Meiryo" pitchFamily="34" charset="-122"/>
                <a:cs typeface="Meiryo" pitchFamily="34" charset="-120"/>
              </a:rPr>
              <a:t>この研究で最も価値のある部分</a:t>
            </a:r>
            <a:endParaRPr lang="en-US" sz="1300" dirty="0"/>
          </a:p>
        </p:txBody>
      </p:sp>
      <p:sp>
        <p:nvSpPr>
          <p:cNvPr id="3" name="Text 1"/>
          <p:cNvSpPr/>
          <p:nvPr/>
        </p:nvSpPr>
        <p:spPr>
          <a:xfrm>
            <a:off x="640080" y="2651760"/>
            <a:ext cx="10058400" cy="1554480"/>
          </a:xfrm>
          <a:prstGeom prst="rect">
            <a:avLst/>
          </a:prstGeom>
          <a:noFill/>
          <a:ln/>
        </p:spPr>
        <p:txBody>
          <a:bodyPr wrap="square" lIns="0" tIns="0" rIns="0" bIns="0" rtlCol="0" anchor="ctr"/>
          <a:lstStyle/>
          <a:p>
            <a:pPr indent="0" marL="0">
              <a:lnSpc>
                <a:spcPts val="4800"/>
              </a:lnSpc>
              <a:buNone/>
            </a:pPr>
            <a:r>
              <a:rPr lang="en-US" sz="3600" b="1" dirty="0">
                <a:solidFill>
                  <a:srgbClr val="FFFFFF"/>
                </a:solidFill>
                <a:latin typeface="Meiryo" pitchFamily="34" charset="0"/>
                <a:ea typeface="Meiryo" pitchFamily="34" charset="-122"/>
                <a:cs typeface="Meiryo" pitchFamily="34" charset="-120"/>
              </a:rPr>
              <a:t>動かして初めて</a:t>
            </a:r>
            <a:endParaRPr lang="en-US" sz="3600" dirty="0"/>
          </a:p>
          <a:p>
            <a:pPr indent="0" marL="0">
              <a:lnSpc>
                <a:spcPts val="4800"/>
              </a:lnSpc>
              <a:buNone/>
            </a:pPr>
            <a:r>
              <a:rPr lang="en-US" sz="3600" b="1" dirty="0">
                <a:solidFill>
                  <a:srgbClr val="FFFFFF"/>
                </a:solidFill>
                <a:latin typeface="Meiryo" pitchFamily="34" charset="0"/>
                <a:ea typeface="Meiryo" pitchFamily="34" charset="-122"/>
                <a:cs typeface="Meiryo" pitchFamily="34" charset="-120"/>
              </a:rPr>
              <a:t>分かったこと</a:t>
            </a:r>
            <a:endParaRPr lang="en-US" sz="3600" dirty="0"/>
          </a:p>
        </p:txBody>
      </p:sp>
      <p:sp>
        <p:nvSpPr>
          <p:cNvPr id="4" name="Text 2"/>
          <p:cNvSpPr/>
          <p:nvPr/>
        </p:nvSpPr>
        <p:spPr>
          <a:xfrm>
            <a:off x="640080" y="4480560"/>
            <a:ext cx="10058400" cy="365760"/>
          </a:xfrm>
          <a:prstGeom prst="rect">
            <a:avLst/>
          </a:prstGeom>
          <a:noFill/>
          <a:ln/>
        </p:spPr>
        <p:txBody>
          <a:bodyPr wrap="square" lIns="0" tIns="0" rIns="0" bIns="0" rtlCol="0" anchor="ctr"/>
          <a:lstStyle/>
          <a:p>
            <a:pPr indent="0" marL="0">
              <a:buNone/>
            </a:pPr>
            <a:r>
              <a:rPr lang="en-US" sz="1400" dirty="0">
                <a:solidFill>
                  <a:srgbClr val="93A9BC"/>
                </a:solidFill>
                <a:latin typeface="Meiryo" pitchFamily="34" charset="0"/>
                <a:ea typeface="Meiryo" pitchFamily="34" charset="-122"/>
                <a:cs typeface="Meiryo" pitchFamily="34" charset="-120"/>
              </a:rPr>
              <a:t>自動試験がすべて緑でも見つからず、実際に配置して初めて出た不具合</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7315200" cy="274320"/>
          </a:xfrm>
          <a:prstGeom prst="rect">
            <a:avLst/>
          </a:prstGeom>
          <a:noFill/>
          <a:ln/>
        </p:spPr>
        <p:txBody>
          <a:bodyPr wrap="square" lIns="0" tIns="0" rIns="0" bIns="0" rtlCol="0" anchor="ctr"/>
          <a:lstStyle/>
          <a:p>
            <a:pPr indent="0" marL="0">
              <a:buNone/>
            </a:pPr>
            <a:r>
              <a:rPr lang="en-US" sz="1200" b="1" spc="200" kern="0" dirty="0">
                <a:solidFill>
                  <a:srgbClr val="C4471F"/>
                </a:solidFill>
                <a:latin typeface="Meiryo" pitchFamily="34" charset="0"/>
                <a:ea typeface="Meiryo" pitchFamily="34" charset="-122"/>
                <a:cs typeface="Meiryo" pitchFamily="34" charset="-120"/>
              </a:rPr>
              <a:t>発見 1</a:t>
            </a:r>
            <a:endParaRPr lang="en-US" sz="12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3000" b="1" dirty="0">
                <a:solidFill>
                  <a:srgbClr val="0F1E2B"/>
                </a:solidFill>
                <a:latin typeface="Meiryo" pitchFamily="34" charset="0"/>
                <a:ea typeface="Meiryo" pitchFamily="34" charset="-122"/>
                <a:cs typeface="Meiryo" pitchFamily="34" charset="-120"/>
              </a:rPr>
              <a:t>自動試験780件が緑でも、配置すると起動しなかった</a:t>
            </a:r>
            <a:endParaRPr lang="en-US" sz="3000" dirty="0"/>
          </a:p>
        </p:txBody>
      </p:sp>
      <p:sp>
        <p:nvSpPr>
          <p:cNvPr id="4" name="Text 2"/>
          <p:cNvSpPr/>
          <p:nvPr/>
        </p:nvSpPr>
        <p:spPr>
          <a:xfrm>
            <a:off x="640080" y="1481328"/>
            <a:ext cx="10881360" cy="320040"/>
          </a:xfrm>
          <a:prstGeom prst="rect">
            <a:avLst/>
          </a:prstGeom>
          <a:noFill/>
          <a:ln/>
        </p:spPr>
        <p:txBody>
          <a:bodyPr wrap="square" lIns="0" tIns="0" rIns="0" bIns="0" rtlCol="0" anchor="ctr"/>
          <a:lstStyle/>
          <a:p>
            <a:pPr indent="0" marL="0">
              <a:buNone/>
            </a:pPr>
            <a:r>
              <a:rPr lang="en-US" sz="1250" dirty="0">
                <a:solidFill>
                  <a:srgbClr val="5E7183"/>
                </a:solidFill>
                <a:latin typeface="Meiryo" pitchFamily="34" charset="0"/>
                <a:ea typeface="Meiryo" pitchFamily="34" charset="-122"/>
                <a:cs typeface="Meiryo" pitchFamily="34" charset="-120"/>
              </a:rPr>
              <a:t>4件すべて「起動しない」種類で、1件でも残っていればシステムは動かない</a:t>
            </a:r>
            <a:endParaRPr lang="en-US" sz="1250" dirty="0"/>
          </a:p>
        </p:txBody>
      </p:sp>
      <p:sp>
        <p:nvSpPr>
          <p:cNvPr id="5" name="Shape 3"/>
          <p:cNvSpPr/>
          <p:nvPr/>
        </p:nvSpPr>
        <p:spPr>
          <a:xfrm>
            <a:off x="640080" y="2011680"/>
            <a:ext cx="5257800" cy="1234440"/>
          </a:xfrm>
          <a:prstGeom prst="roundRect">
            <a:avLst>
              <a:gd name="adj" fmla="val 4444"/>
            </a:avLst>
          </a:prstGeom>
          <a:solidFill>
            <a:srgbClr val="EEF2F6"/>
          </a:solidFill>
          <a:ln w="12700">
            <a:solidFill>
              <a:srgbClr val="EEF2F6"/>
            </a:solidFill>
            <a:prstDash val="solid"/>
          </a:ln>
        </p:spPr>
      </p:sp>
      <p:sp>
        <p:nvSpPr>
          <p:cNvPr id="6" name="Text 4"/>
          <p:cNvSpPr/>
          <p:nvPr/>
        </p:nvSpPr>
        <p:spPr>
          <a:xfrm>
            <a:off x="914400" y="2176272"/>
            <a:ext cx="4709160" cy="292608"/>
          </a:xfrm>
          <a:prstGeom prst="rect">
            <a:avLst/>
          </a:prstGeom>
          <a:noFill/>
          <a:ln/>
        </p:spPr>
        <p:txBody>
          <a:bodyPr wrap="square" lIns="0" tIns="0" rIns="0" bIns="0" rtlCol="0" anchor="ctr"/>
          <a:lstStyle/>
          <a:p>
            <a:pPr indent="0" marL="0">
              <a:buNone/>
            </a:pPr>
            <a:r>
              <a:rPr lang="en-US" sz="1400" b="1" dirty="0">
                <a:solidFill>
                  <a:srgbClr val="0F1E2B"/>
                </a:solidFill>
                <a:latin typeface="Meiryo" pitchFamily="34" charset="0"/>
                <a:ea typeface="Meiryo" pitchFamily="34" charset="-122"/>
                <a:cs typeface="Meiryo" pitchFamily="34" charset="-120"/>
              </a:rPr>
              <a:t>行サイズ超過</a:t>
            </a:r>
            <a:endParaRPr lang="en-US" sz="1400" dirty="0"/>
          </a:p>
        </p:txBody>
      </p:sp>
      <p:sp>
        <p:nvSpPr>
          <p:cNvPr id="7" name="Text 5"/>
          <p:cNvSpPr/>
          <p:nvPr/>
        </p:nvSpPr>
        <p:spPr>
          <a:xfrm>
            <a:off x="914400" y="2523744"/>
            <a:ext cx="4709160" cy="594360"/>
          </a:xfrm>
          <a:prstGeom prst="rect">
            <a:avLst/>
          </a:prstGeom>
          <a:noFill/>
          <a:ln/>
        </p:spPr>
        <p:txBody>
          <a:bodyPr wrap="square" lIns="0" tIns="0" rIns="0" bIns="0" rtlCol="0" anchor="ctr"/>
          <a:lstStyle/>
          <a:p>
            <a:pPr indent="0" marL="0">
              <a:lnSpc>
                <a:spcPts val="1600"/>
              </a:lnSpc>
              <a:buNone/>
            </a:pPr>
            <a:r>
              <a:rPr lang="en-US" sz="1100" dirty="0">
                <a:solidFill>
                  <a:srgbClr val="5E7183"/>
                </a:solidFill>
                <a:latin typeface="Meiryo" pitchFamily="34" charset="0"/>
                <a:ea typeface="Meiryo" pitchFamily="34" charset="-122"/>
                <a:cs typeface="Meiryo" pitchFamily="34" charset="-120"/>
              </a:rPr>
              <a:t>utf8mb4は1文字4バイト。MySQLの行サイズ上限を超え、CREATE TABLE 自体が失敗する</a:t>
            </a:r>
            <a:endParaRPr lang="en-US" sz="1100" dirty="0"/>
          </a:p>
        </p:txBody>
      </p:sp>
      <p:sp>
        <p:nvSpPr>
          <p:cNvPr id="8" name="Shape 6"/>
          <p:cNvSpPr/>
          <p:nvPr/>
        </p:nvSpPr>
        <p:spPr>
          <a:xfrm>
            <a:off x="6217920" y="2011680"/>
            <a:ext cx="5257800" cy="1234440"/>
          </a:xfrm>
          <a:prstGeom prst="roundRect">
            <a:avLst>
              <a:gd name="adj" fmla="val 4444"/>
            </a:avLst>
          </a:prstGeom>
          <a:solidFill>
            <a:srgbClr val="EEF2F6"/>
          </a:solidFill>
          <a:ln w="12700">
            <a:solidFill>
              <a:srgbClr val="EEF2F6"/>
            </a:solidFill>
            <a:prstDash val="solid"/>
          </a:ln>
        </p:spPr>
      </p:sp>
      <p:sp>
        <p:nvSpPr>
          <p:cNvPr id="9" name="Text 7"/>
          <p:cNvSpPr/>
          <p:nvPr/>
        </p:nvSpPr>
        <p:spPr>
          <a:xfrm>
            <a:off x="6492240" y="2176272"/>
            <a:ext cx="4709160" cy="292608"/>
          </a:xfrm>
          <a:prstGeom prst="rect">
            <a:avLst/>
          </a:prstGeom>
          <a:noFill/>
          <a:ln/>
        </p:spPr>
        <p:txBody>
          <a:bodyPr wrap="square" lIns="0" tIns="0" rIns="0" bIns="0" rtlCol="0" anchor="ctr"/>
          <a:lstStyle/>
          <a:p>
            <a:pPr indent="0" marL="0">
              <a:buNone/>
            </a:pPr>
            <a:r>
              <a:rPr lang="en-US" sz="1400" b="1" dirty="0">
                <a:solidFill>
                  <a:srgbClr val="0F1E2B"/>
                </a:solidFill>
                <a:latin typeface="Meiryo" pitchFamily="34" charset="0"/>
                <a:ea typeface="Meiryo" pitchFamily="34" charset="-122"/>
                <a:cs typeface="Meiryo" pitchFamily="34" charset="-120"/>
              </a:rPr>
              <a:t>ランタイム画像が違う</a:t>
            </a:r>
            <a:endParaRPr lang="en-US" sz="1400" dirty="0"/>
          </a:p>
        </p:txBody>
      </p:sp>
      <p:sp>
        <p:nvSpPr>
          <p:cNvPr id="10" name="Text 8"/>
          <p:cNvSpPr/>
          <p:nvPr/>
        </p:nvSpPr>
        <p:spPr>
          <a:xfrm>
            <a:off x="6492240" y="2523744"/>
            <a:ext cx="4709160" cy="594360"/>
          </a:xfrm>
          <a:prstGeom prst="rect">
            <a:avLst/>
          </a:prstGeom>
          <a:noFill/>
          <a:ln/>
        </p:spPr>
        <p:txBody>
          <a:bodyPr wrap="square" lIns="0" tIns="0" rIns="0" bIns="0" rtlCol="0" anchor="ctr"/>
          <a:lstStyle/>
          <a:p>
            <a:pPr indent="0" marL="0">
              <a:lnSpc>
                <a:spcPts val="1600"/>
              </a:lnSpc>
              <a:buNone/>
            </a:pPr>
            <a:r>
              <a:rPr lang="en-US" sz="1100" dirty="0">
                <a:solidFill>
                  <a:srgbClr val="5E7183"/>
                </a:solidFill>
                <a:latin typeface="Meiryo" pitchFamily="34" charset="0"/>
                <a:ea typeface="Meiryo" pitchFamily="34" charset="-122"/>
                <a:cs typeface="Meiryo" pitchFamily="34" charset="-120"/>
              </a:rPr>
              <a:t>Data Protection が ASP.NET Core のフレームワーク参照を要求する</a:t>
            </a:r>
            <a:endParaRPr lang="en-US" sz="1100" dirty="0"/>
          </a:p>
        </p:txBody>
      </p:sp>
      <p:sp>
        <p:nvSpPr>
          <p:cNvPr id="11" name="Shape 9"/>
          <p:cNvSpPr/>
          <p:nvPr/>
        </p:nvSpPr>
        <p:spPr>
          <a:xfrm>
            <a:off x="640080" y="3474720"/>
            <a:ext cx="5257800" cy="1234440"/>
          </a:xfrm>
          <a:prstGeom prst="roundRect">
            <a:avLst>
              <a:gd name="adj" fmla="val 4444"/>
            </a:avLst>
          </a:prstGeom>
          <a:solidFill>
            <a:srgbClr val="EEF2F6"/>
          </a:solidFill>
          <a:ln w="12700">
            <a:solidFill>
              <a:srgbClr val="EEF2F6"/>
            </a:solidFill>
            <a:prstDash val="solid"/>
          </a:ln>
        </p:spPr>
      </p:sp>
      <p:sp>
        <p:nvSpPr>
          <p:cNvPr id="12" name="Text 10"/>
          <p:cNvSpPr/>
          <p:nvPr/>
        </p:nvSpPr>
        <p:spPr>
          <a:xfrm>
            <a:off x="914400" y="3639312"/>
            <a:ext cx="4709160" cy="292608"/>
          </a:xfrm>
          <a:prstGeom prst="rect">
            <a:avLst/>
          </a:prstGeom>
          <a:noFill/>
          <a:ln/>
        </p:spPr>
        <p:txBody>
          <a:bodyPr wrap="square" lIns="0" tIns="0" rIns="0" bIns="0" rtlCol="0" anchor="ctr"/>
          <a:lstStyle/>
          <a:p>
            <a:pPr indent="0" marL="0">
              <a:buNone/>
            </a:pPr>
            <a:r>
              <a:rPr lang="en-US" sz="1400" b="1" dirty="0">
                <a:solidFill>
                  <a:srgbClr val="0F1E2B"/>
                </a:solidFill>
                <a:latin typeface="Meiryo" pitchFamily="34" charset="0"/>
                <a:ea typeface="Meiryo" pitchFamily="34" charset="-122"/>
                <a:cs typeface="Meiryo" pitchFamily="34" charset="-120"/>
              </a:rPr>
              <a:t>Hangfireのキュー指定</a:t>
            </a:r>
            <a:endParaRPr lang="en-US" sz="1400" dirty="0"/>
          </a:p>
        </p:txBody>
      </p:sp>
      <p:sp>
        <p:nvSpPr>
          <p:cNvPr id="13" name="Text 11"/>
          <p:cNvSpPr/>
          <p:nvPr/>
        </p:nvSpPr>
        <p:spPr>
          <a:xfrm>
            <a:off x="914400" y="3986784"/>
            <a:ext cx="4709160" cy="594360"/>
          </a:xfrm>
          <a:prstGeom prst="rect">
            <a:avLst/>
          </a:prstGeom>
          <a:noFill/>
          <a:ln/>
        </p:spPr>
        <p:txBody>
          <a:bodyPr wrap="square" lIns="0" tIns="0" rIns="0" bIns="0" rtlCol="0" anchor="ctr"/>
          <a:lstStyle/>
          <a:p>
            <a:pPr indent="0" marL="0">
              <a:lnSpc>
                <a:spcPts val="1600"/>
              </a:lnSpc>
              <a:buNone/>
            </a:pPr>
            <a:r>
              <a:rPr lang="en-US" sz="1100" dirty="0">
                <a:solidFill>
                  <a:srgbClr val="5E7183"/>
                </a:solidFill>
                <a:latin typeface="Meiryo" pitchFamily="34" charset="0"/>
                <a:ea typeface="Meiryo" pitchFamily="34" charset="-122"/>
                <a:cs typeface="Meiryo" pitchFamily="34" charset="-120"/>
              </a:rPr>
              <a:t>MySqlStorage が非対応の書き方で、起動時に例外になる</a:t>
            </a:r>
            <a:endParaRPr lang="en-US" sz="1100" dirty="0"/>
          </a:p>
        </p:txBody>
      </p:sp>
      <p:sp>
        <p:nvSpPr>
          <p:cNvPr id="14" name="Shape 12"/>
          <p:cNvSpPr/>
          <p:nvPr/>
        </p:nvSpPr>
        <p:spPr>
          <a:xfrm>
            <a:off x="6217920" y="3474720"/>
            <a:ext cx="5257800" cy="1234440"/>
          </a:xfrm>
          <a:prstGeom prst="roundRect">
            <a:avLst>
              <a:gd name="adj" fmla="val 4444"/>
            </a:avLst>
          </a:prstGeom>
          <a:solidFill>
            <a:srgbClr val="EEF2F6"/>
          </a:solidFill>
          <a:ln w="12700">
            <a:solidFill>
              <a:srgbClr val="EEF2F6"/>
            </a:solidFill>
            <a:prstDash val="solid"/>
          </a:ln>
        </p:spPr>
      </p:sp>
      <p:sp>
        <p:nvSpPr>
          <p:cNvPr id="15" name="Text 13"/>
          <p:cNvSpPr/>
          <p:nvPr/>
        </p:nvSpPr>
        <p:spPr>
          <a:xfrm>
            <a:off x="6492240" y="3639312"/>
            <a:ext cx="4709160" cy="292608"/>
          </a:xfrm>
          <a:prstGeom prst="rect">
            <a:avLst/>
          </a:prstGeom>
          <a:noFill/>
          <a:ln/>
        </p:spPr>
        <p:txBody>
          <a:bodyPr wrap="square" lIns="0" tIns="0" rIns="0" bIns="0" rtlCol="0" anchor="ctr"/>
          <a:lstStyle/>
          <a:p>
            <a:pPr indent="0" marL="0">
              <a:buNone/>
            </a:pPr>
            <a:r>
              <a:rPr lang="en-US" sz="1400" b="1" dirty="0">
                <a:solidFill>
                  <a:srgbClr val="0F1E2B"/>
                </a:solidFill>
                <a:latin typeface="Meiryo" pitchFamily="34" charset="0"/>
                <a:ea typeface="Meiryo" pitchFamily="34" charset="-122"/>
                <a:cs typeface="Meiryo" pitchFamily="34" charset="-120"/>
              </a:rPr>
              <a:t>鍵が書けない</a:t>
            </a:r>
            <a:endParaRPr lang="en-US" sz="1400" dirty="0"/>
          </a:p>
        </p:txBody>
      </p:sp>
      <p:sp>
        <p:nvSpPr>
          <p:cNvPr id="16" name="Text 14"/>
          <p:cNvSpPr/>
          <p:nvPr/>
        </p:nvSpPr>
        <p:spPr>
          <a:xfrm>
            <a:off x="6492240" y="3986784"/>
            <a:ext cx="4709160" cy="594360"/>
          </a:xfrm>
          <a:prstGeom prst="rect">
            <a:avLst/>
          </a:prstGeom>
          <a:noFill/>
          <a:ln/>
        </p:spPr>
        <p:txBody>
          <a:bodyPr wrap="square" lIns="0" tIns="0" rIns="0" bIns="0" rtlCol="0" anchor="ctr"/>
          <a:lstStyle/>
          <a:p>
            <a:pPr indent="0" marL="0">
              <a:lnSpc>
                <a:spcPts val="1600"/>
              </a:lnSpc>
              <a:buNone/>
            </a:pPr>
            <a:r>
              <a:rPr lang="en-US" sz="1100" dirty="0">
                <a:solidFill>
                  <a:srgbClr val="5E7183"/>
                </a:solidFill>
                <a:latin typeface="Meiryo" pitchFamily="34" charset="0"/>
                <a:ea typeface="Meiryo" pitchFamily="34" charset="-122"/>
                <a:cs typeface="Meiryo" pitchFamily="34" charset="-120"/>
              </a:rPr>
              <a:t>ボリュームがroot所有で作られ、非rootで動くアプリが書き込めない</a:t>
            </a:r>
            <a:endParaRPr lang="en-US" sz="1100" dirty="0"/>
          </a:p>
        </p:txBody>
      </p:sp>
      <p:sp>
        <p:nvSpPr>
          <p:cNvPr id="17" name="Shape 15"/>
          <p:cNvSpPr/>
          <p:nvPr/>
        </p:nvSpPr>
        <p:spPr>
          <a:xfrm>
            <a:off x="640080" y="5029200"/>
            <a:ext cx="10881360" cy="658368"/>
          </a:xfrm>
          <a:prstGeom prst="roundRect">
            <a:avLst>
              <a:gd name="adj" fmla="val 8333"/>
            </a:avLst>
          </a:prstGeom>
          <a:solidFill>
            <a:srgbClr val="0F1E2B"/>
          </a:solidFill>
          <a:ln w="12700">
            <a:solidFill>
              <a:srgbClr val="0F1E2B"/>
            </a:solidFill>
            <a:prstDash val="solid"/>
          </a:ln>
        </p:spPr>
      </p:sp>
      <p:sp>
        <p:nvSpPr>
          <p:cNvPr id="18" name="Text 16"/>
          <p:cNvSpPr/>
          <p:nvPr/>
        </p:nvSpPr>
        <p:spPr>
          <a:xfrm>
            <a:off x="960120" y="5029200"/>
            <a:ext cx="10241280" cy="658368"/>
          </a:xfrm>
          <a:prstGeom prst="rect">
            <a:avLst/>
          </a:prstGeom>
          <a:noFill/>
          <a:ln/>
        </p:spPr>
        <p:txBody>
          <a:bodyPr wrap="square" lIns="0" tIns="0" rIns="0" bIns="0" rtlCol="0" anchor="ctr"/>
          <a:lstStyle/>
          <a:p>
            <a:pPr indent="0" marL="0">
              <a:buNone/>
            </a:pPr>
            <a:r>
              <a:rPr lang="en-US" sz="1300" b="1" dirty="0">
                <a:solidFill>
                  <a:srgbClr val="FFFFFF"/>
                </a:solidFill>
                <a:latin typeface="Meiryo" pitchFamily="34" charset="0"/>
                <a:ea typeface="Meiryo" pitchFamily="34" charset="-122"/>
                <a:cs typeface="Meiryo" pitchFamily="34" charset="-120"/>
              </a:rPr>
              <a:t>行サイズ・画像の選択・ライブラリの制約・ファイルの所有者 —— 自動試験は1つも見ていなかった</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7315200" cy="274320"/>
          </a:xfrm>
          <a:prstGeom prst="rect">
            <a:avLst/>
          </a:prstGeom>
          <a:noFill/>
          <a:ln/>
        </p:spPr>
        <p:txBody>
          <a:bodyPr wrap="square" lIns="0" tIns="0" rIns="0" bIns="0" rtlCol="0" anchor="ctr"/>
          <a:lstStyle/>
          <a:p>
            <a:pPr indent="0" marL="0">
              <a:buNone/>
            </a:pPr>
            <a:r>
              <a:rPr lang="en-US" sz="1200" b="1" spc="200" kern="0" dirty="0">
                <a:solidFill>
                  <a:srgbClr val="C4471F"/>
                </a:solidFill>
                <a:latin typeface="Meiryo" pitchFamily="34" charset="0"/>
                <a:ea typeface="Meiryo" pitchFamily="34" charset="-122"/>
                <a:cs typeface="Meiryo" pitchFamily="34" charset="-120"/>
              </a:rPr>
              <a:t>発見 2</a:t>
            </a:r>
            <a:endParaRPr lang="en-US" sz="12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3000" b="1" dirty="0">
                <a:solidFill>
                  <a:srgbClr val="0F1E2B"/>
                </a:solidFill>
                <a:latin typeface="Meiryo" pitchFamily="34" charset="0"/>
                <a:ea typeface="Meiryo" pitchFamily="34" charset="-122"/>
                <a:cs typeface="Meiryo" pitchFamily="34" charset="-120"/>
              </a:rPr>
              <a:t>稼働中コンテナのログを、一度も読んでいなかった</a:t>
            </a:r>
            <a:endParaRPr lang="en-US" sz="3000" dirty="0"/>
          </a:p>
        </p:txBody>
      </p:sp>
      <p:sp>
        <p:nvSpPr>
          <p:cNvPr id="4" name="Shape 2"/>
          <p:cNvSpPr/>
          <p:nvPr/>
        </p:nvSpPr>
        <p:spPr>
          <a:xfrm>
            <a:off x="640080" y="1737360"/>
            <a:ext cx="5257800" cy="2514600"/>
          </a:xfrm>
          <a:prstGeom prst="roundRect">
            <a:avLst>
              <a:gd name="adj" fmla="val 2182"/>
            </a:avLst>
          </a:prstGeom>
          <a:solidFill>
            <a:srgbClr val="FBE9E2"/>
          </a:solidFill>
          <a:ln w="12700">
            <a:solidFill>
              <a:srgbClr val="FBE9E2"/>
            </a:solidFill>
            <a:prstDash val="solid"/>
          </a:ln>
        </p:spPr>
      </p:sp>
      <p:sp>
        <p:nvSpPr>
          <p:cNvPr id="5" name="Text 3"/>
          <p:cNvSpPr/>
          <p:nvPr/>
        </p:nvSpPr>
        <p:spPr>
          <a:xfrm>
            <a:off x="914400" y="1920240"/>
            <a:ext cx="2743200" cy="274320"/>
          </a:xfrm>
          <a:prstGeom prst="rect">
            <a:avLst/>
          </a:prstGeom>
          <a:noFill/>
          <a:ln/>
        </p:spPr>
        <p:txBody>
          <a:bodyPr wrap="square" lIns="0" tIns="0" rIns="0" bIns="0" rtlCol="0" anchor="ctr"/>
          <a:lstStyle/>
          <a:p>
            <a:pPr indent="0" marL="0">
              <a:buNone/>
            </a:pPr>
            <a:r>
              <a:rPr lang="en-US" sz="1200" b="1" dirty="0">
                <a:solidFill>
                  <a:srgbClr val="C4471F"/>
                </a:solidFill>
                <a:latin typeface="Meiryo" pitchFamily="34" charset="0"/>
                <a:ea typeface="Meiryo" pitchFamily="34" charset="-122"/>
                <a:cs typeface="Meiryo" pitchFamily="34" charset="-120"/>
              </a:rPr>
              <a:t>修正前</a:t>
            </a:r>
            <a:endParaRPr lang="en-US" sz="1200" dirty="0"/>
          </a:p>
        </p:txBody>
      </p:sp>
      <p:sp>
        <p:nvSpPr>
          <p:cNvPr id="6" name="Text 4"/>
          <p:cNvSpPr/>
          <p:nvPr/>
        </p:nvSpPr>
        <p:spPr>
          <a:xfrm>
            <a:off x="914400" y="2267712"/>
            <a:ext cx="4663440" cy="594360"/>
          </a:xfrm>
          <a:prstGeom prst="rect">
            <a:avLst/>
          </a:prstGeom>
          <a:noFill/>
          <a:ln/>
        </p:spPr>
        <p:txBody>
          <a:bodyPr wrap="square" lIns="0" tIns="0" rIns="0" bIns="0" rtlCol="0" anchor="ctr"/>
          <a:lstStyle/>
          <a:p>
            <a:pPr indent="0" marL="0">
              <a:lnSpc>
                <a:spcPts val="2100"/>
              </a:lnSpc>
              <a:buNone/>
            </a:pPr>
            <a:r>
              <a:rPr lang="en-US" sz="1350" b="1" dirty="0">
                <a:solidFill>
                  <a:srgbClr val="0F1E2B"/>
                </a:solidFill>
                <a:latin typeface="Meiryo" pitchFamily="34" charset="0"/>
                <a:ea typeface="Meiryo" pitchFamily="34" charset="-122"/>
                <a:cs typeface="Meiryo" pitchFamily="34" charset="-120"/>
              </a:rPr>
              <a:t>ログ抜粋は停止したコンテナからしか</a:t>
            </a:r>
            <a:endParaRPr lang="en-US" sz="1350" dirty="0"/>
          </a:p>
          <a:p>
            <a:pPr indent="0" marL="0">
              <a:lnSpc>
                <a:spcPts val="2100"/>
              </a:lnSpc>
              <a:buNone/>
            </a:pPr>
            <a:r>
              <a:rPr lang="en-US" sz="1350" b="1" dirty="0">
                <a:solidFill>
                  <a:srgbClr val="0F1E2B"/>
                </a:solidFill>
                <a:latin typeface="Meiryo" pitchFamily="34" charset="0"/>
                <a:ea typeface="Meiryo" pitchFamily="34" charset="-122"/>
                <a:cs typeface="Meiryo" pitchFamily="34" charset="-120"/>
              </a:rPr>
              <a:t>取得していなかった</a:t>
            </a:r>
            <a:endParaRPr lang="en-US" sz="1350" dirty="0"/>
          </a:p>
        </p:txBody>
      </p:sp>
      <p:sp>
        <p:nvSpPr>
          <p:cNvPr id="7" name="Text 5"/>
          <p:cNvSpPr/>
          <p:nvPr/>
        </p:nvSpPr>
        <p:spPr>
          <a:xfrm>
            <a:off x="914400" y="2971800"/>
            <a:ext cx="4663440" cy="1143000"/>
          </a:xfrm>
          <a:prstGeom prst="rect">
            <a:avLst/>
          </a:prstGeom>
          <a:noFill/>
          <a:ln/>
        </p:spPr>
        <p:txBody>
          <a:bodyPr wrap="square" lIns="0" tIns="0" rIns="0" bIns="0" rtlCol="0" anchor="ctr"/>
          <a:lstStyle/>
          <a:p>
            <a:pPr indent="0" marL="0">
              <a:lnSpc>
                <a:spcPts val="1700"/>
              </a:lnSpc>
              <a:buNone/>
            </a:pPr>
            <a:r>
              <a:rPr lang="en-US" sz="1150" dirty="0">
                <a:solidFill>
                  <a:srgbClr val="1B3346"/>
                </a:solidFill>
                <a:latin typeface="Meiryo" pitchFamily="34" charset="0"/>
                <a:ea typeface="Meiryo" pitchFamily="34" charset="-122"/>
                <a:cs typeface="Meiryo" pitchFamily="34" charset="-120"/>
              </a:rPr>
              <a:t>動き続けたままエラーを出すコンテナのログは永久に読まれない。</a:t>
            </a:r>
            <a:endParaRPr lang="en-US" sz="1150" dirty="0"/>
          </a:p>
          <a:p>
            <a:pPr indent="0" marL="0">
              <a:lnSpc>
                <a:spcPts val="1700"/>
              </a:lnSpc>
              <a:buNone/>
            </a:pPr>
            <a:endParaRPr lang="en-US" sz="1150" dirty="0"/>
          </a:p>
          <a:p>
            <a:pPr indent="0" marL="0">
              <a:lnSpc>
                <a:spcPts val="1700"/>
              </a:lnSpc>
              <a:buNone/>
            </a:pPr>
            <a:r>
              <a:rPr lang="en-US" sz="1150" dirty="0">
                <a:solidFill>
                  <a:srgbClr val="1B3346"/>
                </a:solidFill>
                <a:latin typeface="Meiryo" pitchFamily="34" charset="0"/>
                <a:ea typeface="Meiryo" pitchFamily="34" charset="-122"/>
                <a:cs typeface="Meiryo" pitchFamily="34" charset="-120"/>
              </a:rPr>
              <a:t>ディスク逼迫のシナリオ(tmpfsを満たす。コンテナは動き続ける)は構造的に検知不能だった。</a:t>
            </a:r>
            <a:endParaRPr lang="en-US" sz="1150" dirty="0"/>
          </a:p>
        </p:txBody>
      </p:sp>
      <p:sp>
        <p:nvSpPr>
          <p:cNvPr id="8" name="Shape 6"/>
          <p:cNvSpPr/>
          <p:nvPr/>
        </p:nvSpPr>
        <p:spPr>
          <a:xfrm>
            <a:off x="6263640" y="1737360"/>
            <a:ext cx="5257800" cy="2514600"/>
          </a:xfrm>
          <a:prstGeom prst="roundRect">
            <a:avLst>
              <a:gd name="adj" fmla="val 2182"/>
            </a:avLst>
          </a:prstGeom>
          <a:solidFill>
            <a:srgbClr val="E2EFEC"/>
          </a:solidFill>
          <a:ln w="12700">
            <a:solidFill>
              <a:srgbClr val="E2EFEC"/>
            </a:solidFill>
            <a:prstDash val="solid"/>
          </a:ln>
        </p:spPr>
      </p:sp>
      <p:sp>
        <p:nvSpPr>
          <p:cNvPr id="9" name="Text 7"/>
          <p:cNvSpPr/>
          <p:nvPr/>
        </p:nvSpPr>
        <p:spPr>
          <a:xfrm>
            <a:off x="6537960" y="1920240"/>
            <a:ext cx="2743200" cy="274320"/>
          </a:xfrm>
          <a:prstGeom prst="rect">
            <a:avLst/>
          </a:prstGeom>
          <a:noFill/>
          <a:ln/>
        </p:spPr>
        <p:txBody>
          <a:bodyPr wrap="square" lIns="0" tIns="0" rIns="0" bIns="0" rtlCol="0" anchor="ctr"/>
          <a:lstStyle/>
          <a:p>
            <a:pPr indent="0" marL="0">
              <a:buNone/>
            </a:pPr>
            <a:r>
              <a:rPr lang="en-US" sz="1200" b="1" dirty="0">
                <a:solidFill>
                  <a:srgbClr val="1B6B5E"/>
                </a:solidFill>
                <a:latin typeface="Meiryo" pitchFamily="34" charset="0"/>
                <a:ea typeface="Meiryo" pitchFamily="34" charset="-122"/>
                <a:cs typeface="Meiryo" pitchFamily="34" charset="-120"/>
              </a:rPr>
              <a:t>修正後</a:t>
            </a:r>
            <a:endParaRPr lang="en-US" sz="1200" dirty="0"/>
          </a:p>
        </p:txBody>
      </p:sp>
      <p:sp>
        <p:nvSpPr>
          <p:cNvPr id="10" name="Text 8"/>
          <p:cNvSpPr/>
          <p:nvPr/>
        </p:nvSpPr>
        <p:spPr>
          <a:xfrm>
            <a:off x="6537960" y="2267712"/>
            <a:ext cx="4663440" cy="594360"/>
          </a:xfrm>
          <a:prstGeom prst="rect">
            <a:avLst/>
          </a:prstGeom>
          <a:noFill/>
          <a:ln/>
        </p:spPr>
        <p:txBody>
          <a:bodyPr wrap="square" lIns="0" tIns="0" rIns="0" bIns="0" rtlCol="0" anchor="ctr"/>
          <a:lstStyle/>
          <a:p>
            <a:pPr indent="0" marL="0">
              <a:lnSpc>
                <a:spcPts val="2100"/>
              </a:lnSpc>
              <a:buNone/>
            </a:pPr>
            <a:r>
              <a:rPr lang="en-US" sz="1350" b="1" dirty="0">
                <a:solidFill>
                  <a:srgbClr val="0F1E2B"/>
                </a:solidFill>
                <a:latin typeface="Meiryo" pitchFamily="34" charset="0"/>
                <a:ea typeface="Meiryo" pitchFamily="34" charset="-122"/>
                <a:cs typeface="Meiryo" pitchFamily="34" charset="-120"/>
              </a:rPr>
              <a:t>稼働中コンテナのログも走査し、</a:t>
            </a:r>
            <a:endParaRPr lang="en-US" sz="1350" dirty="0"/>
          </a:p>
          <a:p>
            <a:pPr indent="0" marL="0">
              <a:lnSpc>
                <a:spcPts val="2100"/>
              </a:lnSpc>
              <a:buNone/>
            </a:pPr>
            <a:r>
              <a:rPr lang="en-US" sz="1350" b="1" dirty="0">
                <a:solidFill>
                  <a:srgbClr val="0F1E2B"/>
                </a:solidFill>
                <a:latin typeface="Meiryo" pitchFamily="34" charset="0"/>
                <a:ea typeface="Meiryo" pitchFamily="34" charset="-122"/>
                <a:cs typeface="Meiryo" pitchFamily="34" charset="-120"/>
              </a:rPr>
              <a:t>検知に使う</a:t>
            </a:r>
            <a:endParaRPr lang="en-US" sz="1350" dirty="0"/>
          </a:p>
        </p:txBody>
      </p:sp>
      <p:sp>
        <p:nvSpPr>
          <p:cNvPr id="11" name="Text 9"/>
          <p:cNvSpPr/>
          <p:nvPr/>
        </p:nvSpPr>
        <p:spPr>
          <a:xfrm>
            <a:off x="6537960" y="2971800"/>
            <a:ext cx="4663440" cy="1143000"/>
          </a:xfrm>
          <a:prstGeom prst="rect">
            <a:avLst/>
          </a:prstGeom>
          <a:noFill/>
          <a:ln/>
        </p:spPr>
        <p:txBody>
          <a:bodyPr wrap="square" lIns="0" tIns="0" rIns="0" bIns="0" rtlCol="0" anchor="ctr"/>
          <a:lstStyle/>
          <a:p>
            <a:pPr indent="0" marL="0">
              <a:lnSpc>
                <a:spcPts val="1700"/>
              </a:lnSpc>
              <a:buNone/>
            </a:pPr>
            <a:r>
              <a:rPr lang="en-US" sz="1150" dirty="0">
                <a:solidFill>
                  <a:srgbClr val="1B3346"/>
                </a:solidFill>
                <a:latin typeface="Meiryo" pitchFamily="34" charset="0"/>
                <a:ea typeface="Meiryo" pitchFamily="34" charset="-122"/>
                <a:cs typeface="Meiryo" pitchFamily="34" charset="-120"/>
              </a:rPr>
              <a:t>署名には「一致した部分だけ」を使う。ログ末尾をそのまま使うと行が流れるたびに署名が変わり、収集のたびに新しいインシデントが積み上がる。</a:t>
            </a:r>
            <a:endParaRPr lang="en-US" sz="1150" dirty="0"/>
          </a:p>
          <a:p>
            <a:pPr indent="0" marL="0">
              <a:lnSpc>
                <a:spcPts val="1700"/>
              </a:lnSpc>
              <a:buNone/>
            </a:pPr>
            <a:endParaRPr lang="en-US" sz="1150" dirty="0"/>
          </a:p>
          <a:p>
            <a:pPr indent="0" marL="0">
              <a:lnSpc>
                <a:spcPts val="1700"/>
              </a:lnSpc>
              <a:buNone/>
            </a:pPr>
            <a:r>
              <a:rPr lang="en-US" sz="1150" dirty="0">
                <a:solidFill>
                  <a:srgbClr val="1B3346"/>
                </a:solidFill>
                <a:latin typeface="Meiryo" pitchFamily="34" charset="0"/>
                <a:ea typeface="Meiryo" pitchFamily="34" charset="-122"/>
                <a:cs typeface="Meiryo" pitchFamily="34" charset="-120"/>
              </a:rPr>
              <a:t>実測: 12回の検知が1件に集約された。</a:t>
            </a:r>
            <a:endParaRPr lang="en-US" sz="1150" dirty="0"/>
          </a:p>
        </p:txBody>
      </p:sp>
      <p:sp>
        <p:nvSpPr>
          <p:cNvPr id="12" name="Shape 10"/>
          <p:cNvSpPr/>
          <p:nvPr/>
        </p:nvSpPr>
        <p:spPr>
          <a:xfrm>
            <a:off x="640080" y="4526280"/>
            <a:ext cx="10881360" cy="1143000"/>
          </a:xfrm>
          <a:prstGeom prst="roundRect">
            <a:avLst>
              <a:gd name="adj" fmla="val 4800"/>
            </a:avLst>
          </a:prstGeom>
          <a:solidFill>
            <a:srgbClr val="EEF2F6"/>
          </a:solidFill>
          <a:ln w="12700">
            <a:solidFill>
              <a:srgbClr val="C9D4DE"/>
            </a:solidFill>
            <a:prstDash val="solid"/>
          </a:ln>
        </p:spPr>
      </p:sp>
      <p:sp>
        <p:nvSpPr>
          <p:cNvPr id="13" name="Text 11"/>
          <p:cNvSpPr/>
          <p:nvPr/>
        </p:nvSpPr>
        <p:spPr>
          <a:xfrm>
            <a:off x="960120" y="4681728"/>
            <a:ext cx="10241280" cy="292608"/>
          </a:xfrm>
          <a:prstGeom prst="rect">
            <a:avLst/>
          </a:prstGeom>
          <a:noFill/>
          <a:ln/>
        </p:spPr>
        <p:txBody>
          <a:bodyPr wrap="square" lIns="0" tIns="0" rIns="0" bIns="0" rtlCol="0" anchor="ctr"/>
          <a:lstStyle/>
          <a:p>
            <a:pPr indent="0" marL="0">
              <a:buNone/>
            </a:pPr>
            <a:r>
              <a:rPr lang="en-US" sz="1350" b="1" dirty="0">
                <a:solidFill>
                  <a:srgbClr val="0F1E2B"/>
                </a:solidFill>
                <a:latin typeface="Meiryo" pitchFamily="34" charset="0"/>
                <a:ea typeface="Meiryo" pitchFamily="34" charset="-122"/>
                <a:cs typeface="Meiryo" pitchFamily="34" charset="-120"/>
              </a:rPr>
              <a:t>ここから自動復旧は呼ばない</a:t>
            </a:r>
            <a:endParaRPr lang="en-US" sz="1350" dirty="0"/>
          </a:p>
        </p:txBody>
      </p:sp>
      <p:sp>
        <p:nvSpPr>
          <p:cNvPr id="14" name="Text 12"/>
          <p:cNvSpPr/>
          <p:nvPr/>
        </p:nvSpPr>
        <p:spPr>
          <a:xfrm>
            <a:off x="960120" y="5029200"/>
            <a:ext cx="10241280" cy="594360"/>
          </a:xfrm>
          <a:prstGeom prst="rect">
            <a:avLst/>
          </a:prstGeom>
          <a:noFill/>
          <a:ln/>
        </p:spPr>
        <p:txBody>
          <a:bodyPr wrap="square" lIns="0" tIns="0" rIns="0" bIns="0" rtlCol="0" anchor="ctr"/>
          <a:lstStyle/>
          <a:p>
            <a:pPr indent="0" marL="0">
              <a:lnSpc>
                <a:spcPts val="1700"/>
              </a:lnSpc>
              <a:buNone/>
            </a:pPr>
            <a:r>
              <a:rPr lang="en-US" sz="1150" dirty="0">
                <a:solidFill>
                  <a:srgbClr val="1B3346"/>
                </a:solidFill>
                <a:latin typeface="Meiryo" pitchFamily="34" charset="0"/>
                <a:ea typeface="Meiryo" pitchFamily="34" charset="-122"/>
                <a:cs typeface="Meiryo" pitchFamily="34" charset="-120"/>
              </a:rPr>
              <a:t>ログの中身は監視対象の側が自由に書ける。これを自動実行の引き金にすると、ログに書き込める者が稼働中のコンテナを再起動させられる。</a:t>
            </a:r>
            <a:endParaRPr lang="en-US" sz="1150" dirty="0"/>
          </a:p>
          <a:p>
            <a:pPr indent="0" marL="0">
              <a:lnSpc>
                <a:spcPts val="1700"/>
              </a:lnSpc>
              <a:buNone/>
            </a:pPr>
            <a:r>
              <a:rPr lang="en-US" sz="1150" dirty="0">
                <a:solidFill>
                  <a:srgbClr val="1B3346"/>
                </a:solidFill>
                <a:latin typeface="Meiryo" pitchFamily="34" charset="0"/>
                <a:ea typeface="Meiryo" pitchFamily="34" charset="-122"/>
                <a:cs typeface="Meiryo" pitchFamily="34" charset="-120"/>
              </a:rPr>
              <a:t>停止したコンテナを戻すのと、動いているものを止めるのは危険度が違う。</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7315200" cy="274320"/>
          </a:xfrm>
          <a:prstGeom prst="rect">
            <a:avLst/>
          </a:prstGeom>
          <a:noFill/>
          <a:ln/>
        </p:spPr>
        <p:txBody>
          <a:bodyPr wrap="square" lIns="0" tIns="0" rIns="0" bIns="0" rtlCol="0" anchor="ctr"/>
          <a:lstStyle/>
          <a:p>
            <a:pPr indent="0" marL="0">
              <a:buNone/>
            </a:pPr>
            <a:r>
              <a:rPr lang="en-US" sz="1200" b="1" spc="200" kern="0" dirty="0">
                <a:solidFill>
                  <a:srgbClr val="C4471F"/>
                </a:solidFill>
                <a:latin typeface="Meiryo" pitchFamily="34" charset="0"/>
                <a:ea typeface="Meiryo" pitchFamily="34" charset="-122"/>
                <a:cs typeface="Meiryo" pitchFamily="34" charset="-120"/>
              </a:rPr>
              <a:t>発見 3</a:t>
            </a:r>
            <a:endParaRPr lang="en-US" sz="12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3000" b="1" dirty="0">
                <a:solidFill>
                  <a:srgbClr val="0F1E2B"/>
                </a:solidFill>
                <a:latin typeface="Meiryo" pitchFamily="34" charset="0"/>
                <a:ea typeface="Meiryo" pitchFamily="34" charset="-122"/>
                <a:cs typeface="Meiryo" pitchFamily="34" charset="-120"/>
              </a:rPr>
              <a:t>検証そのものが空振りしていても、気づけなかった</a:t>
            </a:r>
            <a:endParaRPr lang="en-US" sz="3000" dirty="0"/>
          </a:p>
        </p:txBody>
      </p:sp>
      <p:sp>
        <p:nvSpPr>
          <p:cNvPr id="4" name="Shape 2"/>
          <p:cNvSpPr/>
          <p:nvPr/>
        </p:nvSpPr>
        <p:spPr>
          <a:xfrm>
            <a:off x="640080" y="1691640"/>
            <a:ext cx="10881360" cy="868680"/>
          </a:xfrm>
          <a:prstGeom prst="roundRect">
            <a:avLst>
              <a:gd name="adj" fmla="val 6316"/>
            </a:avLst>
          </a:prstGeom>
          <a:solidFill>
            <a:srgbClr val="C4471F"/>
          </a:solidFill>
          <a:ln w="12700">
            <a:solidFill>
              <a:srgbClr val="C4471F"/>
            </a:solidFill>
            <a:prstDash val="solid"/>
          </a:ln>
        </p:spPr>
      </p:sp>
      <p:sp>
        <p:nvSpPr>
          <p:cNvPr id="5" name="Text 3"/>
          <p:cNvSpPr/>
          <p:nvPr/>
        </p:nvSpPr>
        <p:spPr>
          <a:xfrm>
            <a:off x="1005840" y="1691640"/>
            <a:ext cx="10149840" cy="868680"/>
          </a:xfrm>
          <a:prstGeom prst="rect">
            <a:avLst/>
          </a:prstGeom>
          <a:noFill/>
          <a:ln/>
        </p:spPr>
        <p:txBody>
          <a:bodyPr wrap="square" lIns="0" tIns="0" rIns="0" bIns="0" rtlCol="0" anchor="ctr"/>
          <a:lstStyle/>
          <a:p>
            <a:pPr indent="0" marL="0">
              <a:buNone/>
            </a:pPr>
            <a:r>
              <a:rPr lang="en-US" sz="1500" b="1" dirty="0">
                <a:solidFill>
                  <a:srgbClr val="FFFFFF"/>
                </a:solidFill>
                <a:latin typeface="Meiryo" pitchFamily="34" charset="0"/>
                <a:ea typeface="Meiryo" pitchFamily="34" charset="-122"/>
                <a:cs typeface="Meiryo" pitchFamily="34" charset="-120"/>
              </a:rPr>
              <a:t>成功基準#6「プロンプト注入が実行に結びつかない」が、一度も注入を試さずに「達成」と出ていた</a:t>
            </a:r>
            <a:endParaRPr lang="en-US" sz="1500" dirty="0"/>
          </a:p>
        </p:txBody>
      </p:sp>
      <p:sp>
        <p:nvSpPr>
          <p:cNvPr id="6" name="Text 4"/>
          <p:cNvSpPr/>
          <p:nvPr/>
        </p:nvSpPr>
        <p:spPr>
          <a:xfrm>
            <a:off x="640080" y="2788920"/>
            <a:ext cx="5486400" cy="274320"/>
          </a:xfrm>
          <a:prstGeom prst="rect">
            <a:avLst/>
          </a:prstGeom>
          <a:noFill/>
          <a:ln/>
        </p:spPr>
        <p:txBody>
          <a:bodyPr wrap="square" lIns="0" tIns="0" rIns="0" bIns="0" rtlCol="0" anchor="ctr"/>
          <a:lstStyle/>
          <a:p>
            <a:pPr indent="0" marL="0">
              <a:buNone/>
            </a:pPr>
            <a:r>
              <a:rPr lang="en-US" sz="1300" b="1" dirty="0">
                <a:solidFill>
                  <a:srgbClr val="0F1E2B"/>
                </a:solidFill>
                <a:latin typeface="Meiryo" pitchFamily="34" charset="0"/>
                <a:ea typeface="Meiryo" pitchFamily="34" charset="-122"/>
                <a:cs typeface="Meiryo" pitchFamily="34" charset="-120"/>
              </a:rPr>
              <a:t>原因は2つ重なっていた</a:t>
            </a:r>
            <a:endParaRPr lang="en-US" sz="1300" dirty="0"/>
          </a:p>
        </p:txBody>
      </p:sp>
      <p:sp>
        <p:nvSpPr>
          <p:cNvPr id="7" name="Shape 5"/>
          <p:cNvSpPr/>
          <p:nvPr/>
        </p:nvSpPr>
        <p:spPr>
          <a:xfrm>
            <a:off x="640080" y="3200400"/>
            <a:ext cx="420624" cy="420624"/>
          </a:xfrm>
          <a:prstGeom prst="ellipse">
            <a:avLst/>
          </a:prstGeom>
          <a:solidFill>
            <a:srgbClr val="FBE9E2"/>
          </a:solidFill>
          <a:ln w="12700">
            <a:solidFill>
              <a:srgbClr val="FBE9E2"/>
            </a:solidFill>
            <a:prstDash val="solid"/>
          </a:ln>
        </p:spPr>
      </p:sp>
      <p:sp>
        <p:nvSpPr>
          <p:cNvPr id="8" name="Text 6"/>
          <p:cNvSpPr/>
          <p:nvPr/>
        </p:nvSpPr>
        <p:spPr>
          <a:xfrm>
            <a:off x="640080" y="3200400"/>
            <a:ext cx="420624" cy="420624"/>
          </a:xfrm>
          <a:prstGeom prst="rect">
            <a:avLst/>
          </a:prstGeom>
          <a:noFill/>
          <a:ln/>
        </p:spPr>
        <p:txBody>
          <a:bodyPr wrap="square" lIns="0" tIns="0" rIns="0" bIns="0" rtlCol="0" anchor="ctr"/>
          <a:lstStyle/>
          <a:p>
            <a:pPr algn="ctr" indent="0" marL="0">
              <a:buNone/>
            </a:pPr>
            <a:r>
              <a:rPr lang="en-US" sz="1400" b="1" dirty="0">
                <a:solidFill>
                  <a:srgbClr val="C4471F"/>
                </a:solidFill>
                <a:latin typeface="Meiryo" pitchFamily="34" charset="0"/>
                <a:ea typeface="Meiryo" pitchFamily="34" charset="-122"/>
                <a:cs typeface="Meiryo" pitchFamily="34" charset="-120"/>
              </a:rPr>
              <a:t>1</a:t>
            </a:r>
            <a:endParaRPr lang="en-US" sz="1400" dirty="0"/>
          </a:p>
        </p:txBody>
      </p:sp>
      <p:sp>
        <p:nvSpPr>
          <p:cNvPr id="9" name="Text 7"/>
          <p:cNvSpPr/>
          <p:nvPr/>
        </p:nvSpPr>
        <p:spPr>
          <a:xfrm>
            <a:off x="1298448" y="3182112"/>
            <a:ext cx="5943600" cy="292608"/>
          </a:xfrm>
          <a:prstGeom prst="rect">
            <a:avLst/>
          </a:prstGeom>
          <a:noFill/>
          <a:ln/>
        </p:spPr>
        <p:txBody>
          <a:bodyPr wrap="square" lIns="0" tIns="0" rIns="0" bIns="0" rtlCol="0" anchor="ctr"/>
          <a:lstStyle/>
          <a:p>
            <a:pPr indent="0" marL="0">
              <a:buNone/>
            </a:pPr>
            <a:r>
              <a:rPr lang="en-US" sz="1300" b="1" dirty="0">
                <a:solidFill>
                  <a:srgbClr val="0F1E2B"/>
                </a:solidFill>
                <a:latin typeface="Meiryo" pitchFamily="34" charset="0"/>
                <a:ea typeface="Meiryo" pitchFamily="34" charset="-122"/>
                <a:cs typeface="Meiryo" pitchFamily="34" charset="-120"/>
              </a:rPr>
              <a:t>シナリオの出力がシステムへ届いていなかった</a:t>
            </a:r>
            <a:endParaRPr lang="en-US" sz="1300" dirty="0"/>
          </a:p>
        </p:txBody>
      </p:sp>
      <p:sp>
        <p:nvSpPr>
          <p:cNvPr id="10" name="Text 8"/>
          <p:cNvSpPr/>
          <p:nvPr/>
        </p:nvSpPr>
        <p:spPr>
          <a:xfrm>
            <a:off x="1298448" y="3493008"/>
            <a:ext cx="5943600" cy="548640"/>
          </a:xfrm>
          <a:prstGeom prst="rect">
            <a:avLst/>
          </a:prstGeom>
          <a:noFill/>
          <a:ln/>
        </p:spPr>
        <p:txBody>
          <a:bodyPr wrap="square" lIns="0" tIns="0" rIns="0" bIns="0" rtlCol="0" anchor="ctr"/>
          <a:lstStyle/>
          <a:p>
            <a:pPr indent="0" marL="0">
              <a:lnSpc>
                <a:spcPts val="1600"/>
              </a:lnSpc>
              <a:buNone/>
            </a:pPr>
            <a:r>
              <a:rPr lang="en-US" sz="1100" dirty="0">
                <a:solidFill>
                  <a:srgbClr val="5E7183"/>
                </a:solidFill>
                <a:latin typeface="Meiryo" pitchFamily="34" charset="0"/>
                <a:ea typeface="Meiryo" pitchFamily="34" charset="-122"/>
                <a:cs typeface="Meiryo" pitchFamily="34" charset="-120"/>
              </a:rPr>
              <a:t>docker compose exec の出力は exec セッションにしか出ず、収集が読むログストリームに入らない</a:t>
            </a:r>
            <a:endParaRPr lang="en-US" sz="1100" dirty="0"/>
          </a:p>
        </p:txBody>
      </p:sp>
      <p:sp>
        <p:nvSpPr>
          <p:cNvPr id="11" name="Shape 9"/>
          <p:cNvSpPr/>
          <p:nvPr/>
        </p:nvSpPr>
        <p:spPr>
          <a:xfrm>
            <a:off x="640080" y="4160520"/>
            <a:ext cx="420624" cy="420624"/>
          </a:xfrm>
          <a:prstGeom prst="ellipse">
            <a:avLst/>
          </a:prstGeom>
          <a:solidFill>
            <a:srgbClr val="FBE9E2"/>
          </a:solidFill>
          <a:ln w="12700">
            <a:solidFill>
              <a:srgbClr val="FBE9E2"/>
            </a:solidFill>
            <a:prstDash val="solid"/>
          </a:ln>
        </p:spPr>
      </p:sp>
      <p:sp>
        <p:nvSpPr>
          <p:cNvPr id="12" name="Text 10"/>
          <p:cNvSpPr/>
          <p:nvPr/>
        </p:nvSpPr>
        <p:spPr>
          <a:xfrm>
            <a:off x="640080" y="4160520"/>
            <a:ext cx="420624" cy="420624"/>
          </a:xfrm>
          <a:prstGeom prst="rect">
            <a:avLst/>
          </a:prstGeom>
          <a:noFill/>
          <a:ln/>
        </p:spPr>
        <p:txBody>
          <a:bodyPr wrap="square" lIns="0" tIns="0" rIns="0" bIns="0" rtlCol="0" anchor="ctr"/>
          <a:lstStyle/>
          <a:p>
            <a:pPr algn="ctr" indent="0" marL="0">
              <a:buNone/>
            </a:pPr>
            <a:r>
              <a:rPr lang="en-US" sz="1400" b="1" dirty="0">
                <a:solidFill>
                  <a:srgbClr val="C4471F"/>
                </a:solidFill>
                <a:latin typeface="Meiryo" pitchFamily="34" charset="0"/>
                <a:ea typeface="Meiryo" pitchFamily="34" charset="-122"/>
                <a:cs typeface="Meiryo" pitchFamily="34" charset="-120"/>
              </a:rPr>
              <a:t>2</a:t>
            </a:r>
            <a:endParaRPr lang="en-US" sz="1400" dirty="0"/>
          </a:p>
        </p:txBody>
      </p:sp>
      <p:sp>
        <p:nvSpPr>
          <p:cNvPr id="13" name="Text 11"/>
          <p:cNvSpPr/>
          <p:nvPr/>
        </p:nvSpPr>
        <p:spPr>
          <a:xfrm>
            <a:off x="1298448" y="4142232"/>
            <a:ext cx="5943600" cy="292608"/>
          </a:xfrm>
          <a:prstGeom prst="rect">
            <a:avLst/>
          </a:prstGeom>
          <a:noFill/>
          <a:ln/>
        </p:spPr>
        <p:txBody>
          <a:bodyPr wrap="square" lIns="0" tIns="0" rIns="0" bIns="0" rtlCol="0" anchor="ctr"/>
          <a:lstStyle/>
          <a:p>
            <a:pPr indent="0" marL="0">
              <a:buNone/>
            </a:pPr>
            <a:r>
              <a:rPr lang="en-US" sz="1300" b="1" dirty="0">
                <a:solidFill>
                  <a:srgbClr val="0F1E2B"/>
                </a:solidFill>
                <a:latin typeface="Meiryo" pitchFamily="34" charset="0"/>
                <a:ea typeface="Meiryo" pitchFamily="34" charset="-122"/>
                <a:cs typeface="Meiryo" pitchFamily="34" charset="-120"/>
              </a:rPr>
              <a:t>注入文はインシデントを作らない</a:t>
            </a:r>
            <a:endParaRPr lang="en-US" sz="1300" dirty="0"/>
          </a:p>
        </p:txBody>
      </p:sp>
      <p:sp>
        <p:nvSpPr>
          <p:cNvPr id="14" name="Text 12"/>
          <p:cNvSpPr/>
          <p:nvPr/>
        </p:nvSpPr>
        <p:spPr>
          <a:xfrm>
            <a:off x="1298448" y="4453128"/>
            <a:ext cx="5943600" cy="548640"/>
          </a:xfrm>
          <a:prstGeom prst="rect">
            <a:avLst/>
          </a:prstGeom>
          <a:noFill/>
          <a:ln/>
        </p:spPr>
        <p:txBody>
          <a:bodyPr wrap="square" lIns="0" tIns="0" rIns="0" bIns="0" rtlCol="0" anchor="ctr"/>
          <a:lstStyle/>
          <a:p>
            <a:pPr indent="0" marL="0">
              <a:lnSpc>
                <a:spcPts val="1600"/>
              </a:lnSpc>
              <a:buNone/>
            </a:pPr>
            <a:r>
              <a:rPr lang="en-US" sz="1100" dirty="0">
                <a:solidFill>
                  <a:srgbClr val="5E7183"/>
                </a:solidFill>
                <a:latin typeface="Meiryo" pitchFamily="34" charset="0"/>
                <a:ea typeface="Meiryo" pitchFamily="34" charset="-122"/>
                <a:cs typeface="Meiryo" pitchFamily="34" charset="-120"/>
              </a:rPr>
              <a:t>どのルールにも当たらないため保存も診断もされず、AIへ渡る経路を通っていなかった</a:t>
            </a:r>
            <a:endParaRPr lang="en-US" sz="1100" dirty="0"/>
          </a:p>
        </p:txBody>
      </p:sp>
      <p:sp>
        <p:nvSpPr>
          <p:cNvPr id="15" name="Shape 13"/>
          <p:cNvSpPr/>
          <p:nvPr/>
        </p:nvSpPr>
        <p:spPr>
          <a:xfrm>
            <a:off x="7406640" y="2788920"/>
            <a:ext cx="4114800" cy="2331720"/>
          </a:xfrm>
          <a:prstGeom prst="roundRect">
            <a:avLst>
              <a:gd name="adj" fmla="val 2353"/>
            </a:avLst>
          </a:prstGeom>
          <a:solidFill>
            <a:srgbClr val="0F1E2B"/>
          </a:solidFill>
          <a:ln w="12700">
            <a:solidFill>
              <a:srgbClr val="0F1E2B"/>
            </a:solidFill>
            <a:prstDash val="solid"/>
          </a:ln>
        </p:spPr>
      </p:sp>
      <p:sp>
        <p:nvSpPr>
          <p:cNvPr id="16" name="Text 14"/>
          <p:cNvSpPr/>
          <p:nvPr/>
        </p:nvSpPr>
        <p:spPr>
          <a:xfrm>
            <a:off x="7680960" y="2999232"/>
            <a:ext cx="3566160" cy="292608"/>
          </a:xfrm>
          <a:prstGeom prst="rect">
            <a:avLst/>
          </a:prstGeom>
          <a:noFill/>
          <a:ln/>
        </p:spPr>
        <p:txBody>
          <a:bodyPr wrap="square" lIns="0" tIns="0" rIns="0" bIns="0" rtlCol="0" anchor="ctr"/>
          <a:lstStyle/>
          <a:p>
            <a:pPr indent="0" marL="0">
              <a:buNone/>
            </a:pPr>
            <a:r>
              <a:rPr lang="en-US" sz="1300" b="1" dirty="0">
                <a:solidFill>
                  <a:srgbClr val="FFB59E"/>
                </a:solidFill>
                <a:latin typeface="Meiryo" pitchFamily="34" charset="0"/>
                <a:ea typeface="Meiryo" pitchFamily="34" charset="-122"/>
                <a:cs typeface="Meiryo" pitchFamily="34" charset="-120"/>
              </a:rPr>
              <a:t>なぜ気づけなかったか</a:t>
            </a:r>
            <a:endParaRPr lang="en-US" sz="1300" dirty="0"/>
          </a:p>
        </p:txBody>
      </p:sp>
      <p:sp>
        <p:nvSpPr>
          <p:cNvPr id="17" name="Text 15"/>
          <p:cNvSpPr/>
          <p:nvPr/>
        </p:nvSpPr>
        <p:spPr>
          <a:xfrm>
            <a:off x="7680960" y="3383280"/>
            <a:ext cx="3566160" cy="1554480"/>
          </a:xfrm>
          <a:prstGeom prst="rect">
            <a:avLst/>
          </a:prstGeom>
          <a:noFill/>
          <a:ln/>
        </p:spPr>
        <p:txBody>
          <a:bodyPr wrap="square" lIns="0" tIns="0" rIns="0" bIns="0" rtlCol="0" anchor="ctr"/>
          <a:lstStyle/>
          <a:p>
            <a:pPr indent="0" marL="0">
              <a:lnSpc>
                <a:spcPts val="1800"/>
              </a:lnSpc>
              <a:buNone/>
            </a:pPr>
            <a:r>
              <a:rPr lang="en-US" sz="1150" dirty="0">
                <a:solidFill>
                  <a:srgbClr val="C6D4E0"/>
                </a:solidFill>
                <a:latin typeface="Meiryo" pitchFamily="34" charset="0"/>
                <a:ea typeface="Meiryo" pitchFamily="34" charset="-122"/>
                <a:cs typeface="Meiryo" pitchFamily="34" charset="-120"/>
              </a:rPr>
              <a:t>判定が別の値(自動実行の件数)から導かれていた。</a:t>
            </a:r>
            <a:endParaRPr lang="en-US" sz="1150" dirty="0"/>
          </a:p>
          <a:p>
            <a:pPr indent="0" marL="0">
              <a:lnSpc>
                <a:spcPts val="1800"/>
              </a:lnSpc>
              <a:buNone/>
            </a:pPr>
            <a:endParaRPr lang="en-US" sz="1150" dirty="0"/>
          </a:p>
          <a:p>
            <a:pPr indent="0" marL="0">
              <a:lnSpc>
                <a:spcPts val="1800"/>
              </a:lnSpc>
              <a:buNone/>
            </a:pPr>
            <a:r>
              <a:rPr lang="en-US" sz="1150" dirty="0">
                <a:solidFill>
                  <a:srgbClr val="C6D4E0"/>
                </a:solidFill>
                <a:latin typeface="Meiryo" pitchFamily="34" charset="0"/>
                <a:ea typeface="Meiryo" pitchFamily="34" charset="-122"/>
                <a:cs typeface="Meiryo" pitchFamily="34" charset="-120"/>
              </a:rPr>
              <a:t>「0件を達成と書かない」保護は用意してあったが、この基準だけ分母が違ったため効かなかった。</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7315200" cy="274320"/>
          </a:xfrm>
          <a:prstGeom prst="rect">
            <a:avLst/>
          </a:prstGeom>
          <a:noFill/>
          <a:ln/>
        </p:spPr>
        <p:txBody>
          <a:bodyPr wrap="square" lIns="0" tIns="0" rIns="0" bIns="0" rtlCol="0" anchor="ctr"/>
          <a:lstStyle/>
          <a:p>
            <a:pPr indent="0" marL="0">
              <a:buNone/>
            </a:pPr>
            <a:r>
              <a:rPr lang="en-US" sz="1200" b="1" spc="200" kern="0" dirty="0">
                <a:solidFill>
                  <a:srgbClr val="C4471F"/>
                </a:solidFill>
                <a:latin typeface="Meiryo" pitchFamily="34" charset="0"/>
                <a:ea typeface="Meiryo" pitchFamily="34" charset="-122"/>
                <a:cs typeface="Meiryo" pitchFamily="34" charset="-120"/>
              </a:rPr>
              <a:t>設計上の限界</a:t>
            </a:r>
            <a:endParaRPr lang="en-US" sz="12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3000" b="1" dirty="0">
                <a:solidFill>
                  <a:srgbClr val="0F1E2B"/>
                </a:solidFill>
                <a:latin typeface="Meiryo" pitchFamily="34" charset="0"/>
                <a:ea typeface="Meiryo" pitchFamily="34" charset="-122"/>
                <a:cs typeface="Meiryo" pitchFamily="34" charset="-120"/>
              </a:rPr>
              <a:t>自分自身のハングからは、自力で復帰できない</a:t>
            </a:r>
            <a:endParaRPr lang="en-US" sz="3000" dirty="0"/>
          </a:p>
        </p:txBody>
      </p:sp>
      <p:sp>
        <p:nvSpPr>
          <p:cNvPr id="4" name="Text 2"/>
          <p:cNvSpPr/>
          <p:nvPr/>
        </p:nvSpPr>
        <p:spPr>
          <a:xfrm>
            <a:off x="640080" y="1481328"/>
            <a:ext cx="10881360" cy="320040"/>
          </a:xfrm>
          <a:prstGeom prst="rect">
            <a:avLst/>
          </a:prstGeom>
          <a:noFill/>
          <a:ln/>
        </p:spPr>
        <p:txBody>
          <a:bodyPr wrap="square" lIns="0" tIns="0" rIns="0" bIns="0" rtlCol="0" anchor="ctr"/>
          <a:lstStyle/>
          <a:p>
            <a:pPr indent="0" marL="0">
              <a:buNone/>
            </a:pPr>
            <a:r>
              <a:rPr lang="en-US" sz="1250" dirty="0">
                <a:solidFill>
                  <a:srgbClr val="5E7183"/>
                </a:solidFill>
                <a:latin typeface="Meiryo" pitchFamily="34" charset="0"/>
                <a:ea typeface="Meiryo" pitchFamily="34" charset="-122"/>
                <a:cs typeface="Meiryo" pitchFamily="34" charset="-120"/>
              </a:rPr>
              <a:t>ホストから api のプロセスを停止させ、ハングを再現した</a:t>
            </a:r>
            <a:endParaRPr lang="en-US" sz="1250" dirty="0"/>
          </a:p>
        </p:txBody>
      </p:sp>
      <p:sp>
        <p:nvSpPr>
          <p:cNvPr id="5" name="Shape 3"/>
          <p:cNvSpPr/>
          <p:nvPr/>
        </p:nvSpPr>
        <p:spPr>
          <a:xfrm>
            <a:off x="640080" y="2011680"/>
            <a:ext cx="3429000" cy="1600200"/>
          </a:xfrm>
          <a:prstGeom prst="roundRect">
            <a:avLst>
              <a:gd name="adj" fmla="val 3429"/>
            </a:avLst>
          </a:prstGeom>
          <a:solidFill>
            <a:srgbClr val="E2EFEC"/>
          </a:solidFill>
          <a:ln w="12700">
            <a:solidFill>
              <a:srgbClr val="E2EFEC"/>
            </a:solidFill>
            <a:prstDash val="solid"/>
          </a:ln>
        </p:spPr>
      </p:sp>
      <p:sp>
        <p:nvSpPr>
          <p:cNvPr id="6" name="Text 4"/>
          <p:cNvSpPr/>
          <p:nvPr/>
        </p:nvSpPr>
        <p:spPr>
          <a:xfrm>
            <a:off x="914400" y="2212848"/>
            <a:ext cx="2880360" cy="384048"/>
          </a:xfrm>
          <a:prstGeom prst="rect">
            <a:avLst/>
          </a:prstGeom>
          <a:noFill/>
          <a:ln/>
        </p:spPr>
        <p:txBody>
          <a:bodyPr wrap="square" lIns="0" tIns="0" rIns="0" bIns="0" rtlCol="0" anchor="ctr"/>
          <a:lstStyle/>
          <a:p>
            <a:pPr indent="0" marL="0">
              <a:buNone/>
            </a:pPr>
            <a:r>
              <a:rPr lang="en-US" sz="2000" b="1" dirty="0">
                <a:solidFill>
                  <a:srgbClr val="1B6B5E"/>
                </a:solidFill>
                <a:latin typeface="Meiryo" pitchFamily="34" charset="0"/>
                <a:ea typeface="Meiryo" pitchFamily="34" charset="-122"/>
                <a:cs typeface="Meiryo" pitchFamily="34" charset="-120"/>
              </a:rPr>
              <a:t>+91秒</a:t>
            </a:r>
            <a:endParaRPr lang="en-US" sz="2000" dirty="0"/>
          </a:p>
        </p:txBody>
      </p:sp>
      <p:sp>
        <p:nvSpPr>
          <p:cNvPr id="7" name="Text 5"/>
          <p:cNvSpPr/>
          <p:nvPr/>
        </p:nvSpPr>
        <p:spPr>
          <a:xfrm>
            <a:off x="914400" y="2670048"/>
            <a:ext cx="2880360" cy="292608"/>
          </a:xfrm>
          <a:prstGeom prst="rect">
            <a:avLst/>
          </a:prstGeom>
          <a:noFill/>
          <a:ln/>
        </p:spPr>
        <p:txBody>
          <a:bodyPr wrap="square" lIns="0" tIns="0" rIns="0" bIns="0" rtlCol="0" anchor="ctr"/>
          <a:lstStyle/>
          <a:p>
            <a:pPr indent="0" marL="0">
              <a:buNone/>
            </a:pPr>
            <a:r>
              <a:rPr lang="en-US" sz="1300" b="1" dirty="0">
                <a:solidFill>
                  <a:srgbClr val="0F1E2B"/>
                </a:solidFill>
                <a:latin typeface="Meiryo" pitchFamily="34" charset="0"/>
                <a:ea typeface="Meiryo" pitchFamily="34" charset="-122"/>
                <a:cs typeface="Meiryo" pitchFamily="34" charset="-120"/>
              </a:rPr>
              <a:t>healthy → unhealthy</a:t>
            </a:r>
            <a:endParaRPr lang="en-US" sz="1300" dirty="0"/>
          </a:p>
        </p:txBody>
      </p:sp>
      <p:sp>
        <p:nvSpPr>
          <p:cNvPr id="8" name="Text 6"/>
          <p:cNvSpPr/>
          <p:nvPr/>
        </p:nvSpPr>
        <p:spPr>
          <a:xfrm>
            <a:off x="914400" y="2999232"/>
            <a:ext cx="2880360" cy="457200"/>
          </a:xfrm>
          <a:prstGeom prst="rect">
            <a:avLst/>
          </a:prstGeom>
          <a:noFill/>
          <a:ln/>
        </p:spPr>
        <p:txBody>
          <a:bodyPr wrap="square" lIns="0" tIns="0" rIns="0" bIns="0" rtlCol="0" anchor="ctr"/>
          <a:lstStyle/>
          <a:p>
            <a:pPr indent="0" marL="0">
              <a:lnSpc>
                <a:spcPts val="1500"/>
              </a:lnSpc>
              <a:buNone/>
            </a:pPr>
            <a:r>
              <a:rPr lang="en-US" sz="1050" dirty="0">
                <a:solidFill>
                  <a:srgbClr val="5E7183"/>
                </a:solidFill>
                <a:latin typeface="Meiryo" pitchFamily="34" charset="0"/>
                <a:ea typeface="Meiryo" pitchFamily="34" charset="-122"/>
                <a:cs typeface="Meiryo" pitchFamily="34" charset="-120"/>
              </a:rPr>
              <a:t>設定どおり 30秒 × 3回で検知</a:t>
            </a:r>
            <a:endParaRPr lang="en-US" sz="1050" dirty="0"/>
          </a:p>
        </p:txBody>
      </p:sp>
      <p:sp>
        <p:nvSpPr>
          <p:cNvPr id="9" name="Shape 7"/>
          <p:cNvSpPr/>
          <p:nvPr/>
        </p:nvSpPr>
        <p:spPr>
          <a:xfrm>
            <a:off x="4343400" y="2011680"/>
            <a:ext cx="3429000" cy="1600200"/>
          </a:xfrm>
          <a:prstGeom prst="roundRect">
            <a:avLst>
              <a:gd name="adj" fmla="val 3429"/>
            </a:avLst>
          </a:prstGeom>
          <a:solidFill>
            <a:srgbClr val="FBE9E2"/>
          </a:solidFill>
          <a:ln w="12700">
            <a:solidFill>
              <a:srgbClr val="FBE9E2"/>
            </a:solidFill>
            <a:prstDash val="solid"/>
          </a:ln>
        </p:spPr>
      </p:sp>
      <p:sp>
        <p:nvSpPr>
          <p:cNvPr id="10" name="Text 8"/>
          <p:cNvSpPr/>
          <p:nvPr/>
        </p:nvSpPr>
        <p:spPr>
          <a:xfrm>
            <a:off x="4617720" y="2212848"/>
            <a:ext cx="2880360" cy="384048"/>
          </a:xfrm>
          <a:prstGeom prst="rect">
            <a:avLst/>
          </a:prstGeom>
          <a:noFill/>
          <a:ln/>
        </p:spPr>
        <p:txBody>
          <a:bodyPr wrap="square" lIns="0" tIns="0" rIns="0" bIns="0" rtlCol="0" anchor="ctr"/>
          <a:lstStyle/>
          <a:p>
            <a:pPr indent="0" marL="0">
              <a:buNone/>
            </a:pPr>
            <a:r>
              <a:rPr lang="en-US" sz="2000" b="1" dirty="0">
                <a:solidFill>
                  <a:srgbClr val="C4471F"/>
                </a:solidFill>
                <a:latin typeface="Meiryo" pitchFamily="34" charset="0"/>
                <a:ea typeface="Meiryo" pitchFamily="34" charset="-122"/>
                <a:cs typeface="Meiryo" pitchFamily="34" charset="-120"/>
              </a:rPr>
              <a:t>+181秒</a:t>
            </a:r>
            <a:endParaRPr lang="en-US" sz="2000" dirty="0"/>
          </a:p>
        </p:txBody>
      </p:sp>
      <p:sp>
        <p:nvSpPr>
          <p:cNvPr id="11" name="Text 9"/>
          <p:cNvSpPr/>
          <p:nvPr/>
        </p:nvSpPr>
        <p:spPr>
          <a:xfrm>
            <a:off x="4617720" y="2670048"/>
            <a:ext cx="2880360" cy="292608"/>
          </a:xfrm>
          <a:prstGeom prst="rect">
            <a:avLst/>
          </a:prstGeom>
          <a:noFill/>
          <a:ln/>
        </p:spPr>
        <p:txBody>
          <a:bodyPr wrap="square" lIns="0" tIns="0" rIns="0" bIns="0" rtlCol="0" anchor="ctr"/>
          <a:lstStyle/>
          <a:p>
            <a:pPr indent="0" marL="0">
              <a:buNone/>
            </a:pPr>
            <a:r>
              <a:rPr lang="en-US" sz="1300" b="1" dirty="0">
                <a:solidFill>
                  <a:srgbClr val="0F1E2B"/>
                </a:solidFill>
                <a:latin typeface="Meiryo" pitchFamily="34" charset="0"/>
                <a:ea typeface="Meiryo" pitchFamily="34" charset="-122"/>
                <a:cs typeface="Meiryo" pitchFamily="34" charset="-120"/>
              </a:rPr>
              <a:t>unhealthy のまま</a:t>
            </a:r>
            <a:endParaRPr lang="en-US" sz="1300" dirty="0"/>
          </a:p>
        </p:txBody>
      </p:sp>
      <p:sp>
        <p:nvSpPr>
          <p:cNvPr id="12" name="Text 10"/>
          <p:cNvSpPr/>
          <p:nvPr/>
        </p:nvSpPr>
        <p:spPr>
          <a:xfrm>
            <a:off x="4617720" y="2999232"/>
            <a:ext cx="2880360" cy="457200"/>
          </a:xfrm>
          <a:prstGeom prst="rect">
            <a:avLst/>
          </a:prstGeom>
          <a:noFill/>
          <a:ln/>
        </p:spPr>
        <p:txBody>
          <a:bodyPr wrap="square" lIns="0" tIns="0" rIns="0" bIns="0" rtlCol="0" anchor="ctr"/>
          <a:lstStyle/>
          <a:p>
            <a:pPr indent="0" marL="0">
              <a:lnSpc>
                <a:spcPts val="1500"/>
              </a:lnSpc>
              <a:buNone/>
            </a:pPr>
            <a:r>
              <a:rPr lang="en-US" sz="1050" dirty="0">
                <a:solidFill>
                  <a:srgbClr val="5E7183"/>
                </a:solidFill>
                <a:latin typeface="Meiryo" pitchFamily="34" charset="0"/>
                <a:ea typeface="Meiryo" pitchFamily="34" charset="-122"/>
                <a:cs typeface="Meiryo" pitchFamily="34" charset="-120"/>
              </a:rPr>
              <a:t>status=running、再起動されない</a:t>
            </a:r>
            <a:endParaRPr lang="en-US" sz="1050" dirty="0"/>
          </a:p>
        </p:txBody>
      </p:sp>
      <p:sp>
        <p:nvSpPr>
          <p:cNvPr id="13" name="Shape 11"/>
          <p:cNvSpPr/>
          <p:nvPr/>
        </p:nvSpPr>
        <p:spPr>
          <a:xfrm>
            <a:off x="8046720" y="2011680"/>
            <a:ext cx="3429000" cy="1600200"/>
          </a:xfrm>
          <a:prstGeom prst="roundRect">
            <a:avLst>
              <a:gd name="adj" fmla="val 3429"/>
            </a:avLst>
          </a:prstGeom>
          <a:solidFill>
            <a:srgbClr val="EEF2F6"/>
          </a:solidFill>
          <a:ln w="12700">
            <a:solidFill>
              <a:srgbClr val="EEF2F6"/>
            </a:solidFill>
            <a:prstDash val="solid"/>
          </a:ln>
        </p:spPr>
      </p:sp>
      <p:sp>
        <p:nvSpPr>
          <p:cNvPr id="14" name="Text 12"/>
          <p:cNvSpPr/>
          <p:nvPr/>
        </p:nvSpPr>
        <p:spPr>
          <a:xfrm>
            <a:off x="8321040" y="2212848"/>
            <a:ext cx="2880360" cy="384048"/>
          </a:xfrm>
          <a:prstGeom prst="rect">
            <a:avLst/>
          </a:prstGeom>
          <a:noFill/>
          <a:ln/>
        </p:spPr>
        <p:txBody>
          <a:bodyPr wrap="square" lIns="0" tIns="0" rIns="0" bIns="0" rtlCol="0" anchor="ctr"/>
          <a:lstStyle/>
          <a:p>
            <a:pPr indent="0" marL="0">
              <a:buNone/>
            </a:pPr>
            <a:r>
              <a:rPr lang="en-US" sz="2000" b="1" dirty="0">
                <a:solidFill>
                  <a:srgbClr val="5E7183"/>
                </a:solidFill>
                <a:latin typeface="Meiryo" pitchFamily="34" charset="0"/>
                <a:ea typeface="Meiryo" pitchFamily="34" charset="-122"/>
                <a:cs typeface="Meiryo" pitchFamily="34" charset="-120"/>
              </a:rPr>
              <a:t>復帰後</a:t>
            </a:r>
            <a:endParaRPr lang="en-US" sz="2000" dirty="0"/>
          </a:p>
        </p:txBody>
      </p:sp>
      <p:sp>
        <p:nvSpPr>
          <p:cNvPr id="15" name="Text 13"/>
          <p:cNvSpPr/>
          <p:nvPr/>
        </p:nvSpPr>
        <p:spPr>
          <a:xfrm>
            <a:off x="8321040" y="2670048"/>
            <a:ext cx="2880360" cy="292608"/>
          </a:xfrm>
          <a:prstGeom prst="rect">
            <a:avLst/>
          </a:prstGeom>
          <a:noFill/>
          <a:ln/>
        </p:spPr>
        <p:txBody>
          <a:bodyPr wrap="square" lIns="0" tIns="0" rIns="0" bIns="0" rtlCol="0" anchor="ctr"/>
          <a:lstStyle/>
          <a:p>
            <a:pPr indent="0" marL="0">
              <a:buNone/>
            </a:pPr>
            <a:r>
              <a:rPr lang="en-US" sz="1300" b="1" dirty="0">
                <a:solidFill>
                  <a:srgbClr val="0F1E2B"/>
                </a:solidFill>
                <a:latin typeface="Meiryo" pitchFamily="34" charset="0"/>
                <a:ea typeface="Meiryo" pitchFamily="34" charset="-122"/>
                <a:cs typeface="Meiryo" pitchFamily="34" charset="-120"/>
              </a:rPr>
              <a:t>healthy へ戻る</a:t>
            </a:r>
            <a:endParaRPr lang="en-US" sz="1300" dirty="0"/>
          </a:p>
        </p:txBody>
      </p:sp>
      <p:sp>
        <p:nvSpPr>
          <p:cNvPr id="16" name="Text 14"/>
          <p:cNvSpPr/>
          <p:nvPr/>
        </p:nvSpPr>
        <p:spPr>
          <a:xfrm>
            <a:off x="8321040" y="2999232"/>
            <a:ext cx="2880360" cy="457200"/>
          </a:xfrm>
          <a:prstGeom prst="rect">
            <a:avLst/>
          </a:prstGeom>
          <a:noFill/>
          <a:ln/>
        </p:spPr>
        <p:txBody>
          <a:bodyPr wrap="square" lIns="0" tIns="0" rIns="0" bIns="0" rtlCol="0" anchor="ctr"/>
          <a:lstStyle/>
          <a:p>
            <a:pPr indent="0" marL="0">
              <a:lnSpc>
                <a:spcPts val="1500"/>
              </a:lnSpc>
              <a:buNone/>
            </a:pPr>
            <a:r>
              <a:rPr lang="en-US" sz="1050" dirty="0">
                <a:solidFill>
                  <a:srgbClr val="5E7183"/>
                </a:solidFill>
                <a:latin typeface="Meiryo" pitchFamily="34" charset="0"/>
                <a:ea typeface="Meiryo" pitchFamily="34" charset="-122"/>
                <a:cs typeface="Meiryo" pitchFamily="34" charset="-120"/>
              </a:rPr>
              <a:t>プロセスを再開すると回復</a:t>
            </a:r>
            <a:endParaRPr lang="en-US" sz="1050" dirty="0"/>
          </a:p>
        </p:txBody>
      </p:sp>
      <p:sp>
        <p:nvSpPr>
          <p:cNvPr id="17" name="Shape 15"/>
          <p:cNvSpPr/>
          <p:nvPr/>
        </p:nvSpPr>
        <p:spPr>
          <a:xfrm>
            <a:off x="640080" y="3977640"/>
            <a:ext cx="10881360" cy="1691640"/>
          </a:xfrm>
          <a:prstGeom prst="roundRect">
            <a:avLst>
              <a:gd name="adj" fmla="val 3243"/>
            </a:avLst>
          </a:prstGeom>
          <a:solidFill>
            <a:srgbClr val="0F1E2B"/>
          </a:solidFill>
          <a:ln w="12700">
            <a:solidFill>
              <a:srgbClr val="0F1E2B"/>
            </a:solidFill>
            <a:prstDash val="solid"/>
          </a:ln>
        </p:spPr>
      </p:sp>
      <p:sp>
        <p:nvSpPr>
          <p:cNvPr id="18" name="Text 16"/>
          <p:cNvSpPr/>
          <p:nvPr/>
        </p:nvSpPr>
        <p:spPr>
          <a:xfrm>
            <a:off x="1005840" y="4206240"/>
            <a:ext cx="10149840" cy="365760"/>
          </a:xfrm>
          <a:prstGeom prst="rect">
            <a:avLst/>
          </a:prstGeom>
          <a:noFill/>
          <a:ln/>
        </p:spPr>
        <p:txBody>
          <a:bodyPr wrap="square" lIns="0" tIns="0" rIns="0" bIns="0" rtlCol="0" anchor="ctr"/>
          <a:lstStyle/>
          <a:p>
            <a:pPr indent="0" marL="0">
              <a:buNone/>
            </a:pPr>
            <a:r>
              <a:rPr lang="en-US" sz="1700" b="1" dirty="0">
                <a:solidFill>
                  <a:srgbClr val="FFFFFF"/>
                </a:solidFill>
                <a:latin typeface="Meiryo" pitchFamily="34" charset="0"/>
                <a:ea typeface="Meiryo" pitchFamily="34" charset="-122"/>
                <a:cs typeface="Meiryo" pitchFamily="34" charset="-120"/>
              </a:rPr>
              <a:t>Docker Compose は unhealthy なコンテナを再起動しない</a:t>
            </a:r>
            <a:endParaRPr lang="en-US" sz="1700" dirty="0"/>
          </a:p>
        </p:txBody>
      </p:sp>
      <p:sp>
        <p:nvSpPr>
          <p:cNvPr id="19" name="Text 17"/>
          <p:cNvSpPr/>
          <p:nvPr/>
        </p:nvSpPr>
        <p:spPr>
          <a:xfrm>
            <a:off x="1005840" y="4645152"/>
            <a:ext cx="10149840" cy="914400"/>
          </a:xfrm>
          <a:prstGeom prst="rect">
            <a:avLst/>
          </a:prstGeom>
          <a:noFill/>
          <a:ln/>
        </p:spPr>
        <p:txBody>
          <a:bodyPr wrap="square" lIns="0" tIns="0" rIns="0" bIns="0" rtlCol="0" anchor="ctr"/>
          <a:lstStyle/>
          <a:p>
            <a:pPr indent="0" marL="0">
              <a:lnSpc>
                <a:spcPts val="1900"/>
              </a:lnSpc>
              <a:buNone/>
            </a:pPr>
            <a:r>
              <a:rPr lang="en-US" sz="1200" dirty="0">
                <a:solidFill>
                  <a:srgbClr val="C6D4E0"/>
                </a:solidFill>
                <a:latin typeface="Meiryo" pitchFamily="34" charset="0"/>
                <a:ea typeface="Meiryo" pitchFamily="34" charset="-122"/>
                <a:cs typeface="Meiryo" pitchFamily="34" charset="-120"/>
              </a:rPr>
              <a:t>restart: unless-stopped はプロセスが終了したときにしか働かない。healthcheck は検知するが、復旧はしない。</a:t>
            </a:r>
            <a:endParaRPr lang="en-US" sz="1200" dirty="0"/>
          </a:p>
          <a:p>
            <a:pPr indent="0" marL="0">
              <a:lnSpc>
                <a:spcPts val="1900"/>
              </a:lnSpc>
              <a:buNone/>
            </a:pPr>
            <a:endParaRPr lang="en-US" sz="1200" dirty="0"/>
          </a:p>
          <a:p>
            <a:pPr indent="0" marL="0">
              <a:lnSpc>
                <a:spcPts val="1900"/>
              </a:lnSpc>
              <a:buNone/>
            </a:pPr>
            <a:r>
              <a:rPr lang="en-US" sz="1200" dirty="0">
                <a:solidFill>
                  <a:srgbClr val="C6D4E0"/>
                </a:solidFill>
                <a:latin typeface="Meiryo" pitchFamily="34" charset="0"/>
                <a:ea typeface="Meiryo" pitchFamily="34" charset="-122"/>
                <a:cs typeface="Meiryo" pitchFamily="34" charset="-120"/>
              </a:rPr>
              <a:t>本システムは他のサービスのハングは検知・復旧できるが、自分自身のハングからは自力で復帰できない。解決には外部の監視役が要る。</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1E2B"/>
        </a:solidFill>
      </p:bgPr>
    </p:bg>
    <p:spTree>
      <p:nvGrpSpPr>
        <p:cNvPr id="1" name=""/>
        <p:cNvGrpSpPr/>
        <p:nvPr/>
      </p:nvGrpSpPr>
      <p:grpSpPr>
        <a:xfrm>
          <a:off x="0" y="0"/>
          <a:ext cx="0" cy="0"/>
          <a:chOff x="0" y="0"/>
          <a:chExt cx="0" cy="0"/>
        </a:xfrm>
      </p:grpSpPr>
      <p:sp>
        <p:nvSpPr>
          <p:cNvPr id="2" name="Text 0"/>
          <p:cNvSpPr/>
          <p:nvPr/>
        </p:nvSpPr>
        <p:spPr>
          <a:xfrm>
            <a:off x="640080" y="777240"/>
            <a:ext cx="5486400" cy="365760"/>
          </a:xfrm>
          <a:prstGeom prst="rect">
            <a:avLst/>
          </a:prstGeom>
          <a:noFill/>
          <a:ln/>
        </p:spPr>
        <p:txBody>
          <a:bodyPr wrap="square" lIns="0" tIns="0" rIns="0" bIns="0" rtlCol="0" anchor="ctr"/>
          <a:lstStyle/>
          <a:p>
            <a:pPr indent="0" marL="0">
              <a:buNone/>
            </a:pPr>
            <a:r>
              <a:rPr lang="en-US" sz="1300" b="1" spc="300" kern="0" dirty="0">
                <a:solidFill>
                  <a:srgbClr val="C4471F"/>
                </a:solidFill>
                <a:latin typeface="Meiryo" pitchFamily="34" charset="0"/>
                <a:ea typeface="Meiryo" pitchFamily="34" charset="-122"/>
                <a:cs typeface="Meiryo" pitchFamily="34" charset="-120"/>
              </a:rPr>
              <a:t>結論</a:t>
            </a:r>
            <a:endParaRPr lang="en-US" sz="1300" dirty="0"/>
          </a:p>
        </p:txBody>
      </p:sp>
      <p:sp>
        <p:nvSpPr>
          <p:cNvPr id="3" name="Text 1"/>
          <p:cNvSpPr/>
          <p:nvPr/>
        </p:nvSpPr>
        <p:spPr>
          <a:xfrm>
            <a:off x="640080" y="1280160"/>
            <a:ext cx="10515600" cy="640080"/>
          </a:xfrm>
          <a:prstGeom prst="rect">
            <a:avLst/>
          </a:prstGeom>
          <a:noFill/>
          <a:ln/>
        </p:spPr>
        <p:txBody>
          <a:bodyPr wrap="square" lIns="0" tIns="0" rIns="0" bIns="0" rtlCol="0" anchor="ctr"/>
          <a:lstStyle/>
          <a:p>
            <a:pPr indent="0" marL="0">
              <a:buNone/>
            </a:pPr>
            <a:r>
              <a:rPr lang="en-US" sz="3000" b="1" dirty="0">
                <a:solidFill>
                  <a:srgbClr val="FFFFFF"/>
                </a:solidFill>
                <a:latin typeface="Meiryo" pitchFamily="34" charset="0"/>
                <a:ea typeface="Meiryo" pitchFamily="34" charset="-122"/>
                <a:cs typeface="Meiryo" pitchFamily="34" charset="-120"/>
              </a:rPr>
              <a:t>自動試験は「判断の筋道」しか保証しない</a:t>
            </a:r>
            <a:endParaRPr lang="en-US" sz="3000" dirty="0"/>
          </a:p>
        </p:txBody>
      </p:sp>
      <p:sp>
        <p:nvSpPr>
          <p:cNvPr id="4" name="Shape 2"/>
          <p:cNvSpPr/>
          <p:nvPr/>
        </p:nvSpPr>
        <p:spPr>
          <a:xfrm>
            <a:off x="640080" y="2194560"/>
            <a:ext cx="5257800" cy="1874520"/>
          </a:xfrm>
          <a:prstGeom prst="roundRect">
            <a:avLst>
              <a:gd name="adj" fmla="val 2927"/>
            </a:avLst>
          </a:prstGeom>
          <a:solidFill>
            <a:srgbClr val="1B3346"/>
          </a:solidFill>
          <a:ln w="12700">
            <a:solidFill>
              <a:srgbClr val="1B3346"/>
            </a:solidFill>
            <a:prstDash val="solid"/>
          </a:ln>
        </p:spPr>
      </p:sp>
      <p:sp>
        <p:nvSpPr>
          <p:cNvPr id="5" name="Text 3"/>
          <p:cNvSpPr/>
          <p:nvPr/>
        </p:nvSpPr>
        <p:spPr>
          <a:xfrm>
            <a:off x="960120" y="2395728"/>
            <a:ext cx="4617720" cy="292608"/>
          </a:xfrm>
          <a:prstGeom prst="rect">
            <a:avLst/>
          </a:prstGeom>
          <a:noFill/>
          <a:ln/>
        </p:spPr>
        <p:txBody>
          <a:bodyPr wrap="square" lIns="0" tIns="0" rIns="0" bIns="0" rtlCol="0" anchor="ctr"/>
          <a:lstStyle/>
          <a:p>
            <a:pPr indent="0" marL="0">
              <a:buNone/>
            </a:pPr>
            <a:r>
              <a:rPr lang="en-US" sz="1300" b="1" dirty="0">
                <a:solidFill>
                  <a:srgbClr val="9FE0D2"/>
                </a:solidFill>
                <a:latin typeface="Meiryo" pitchFamily="34" charset="0"/>
                <a:ea typeface="Meiryo" pitchFamily="34" charset="-122"/>
                <a:cs typeface="Meiryo" pitchFamily="34" charset="-120"/>
              </a:rPr>
              <a:t>得られたもの</a:t>
            </a:r>
            <a:endParaRPr lang="en-US" sz="1300" dirty="0"/>
          </a:p>
        </p:txBody>
      </p:sp>
      <p:sp>
        <p:nvSpPr>
          <p:cNvPr id="6" name="Text 4"/>
          <p:cNvSpPr/>
          <p:nvPr/>
        </p:nvSpPr>
        <p:spPr>
          <a:xfrm>
            <a:off x="960120" y="2761488"/>
            <a:ext cx="4617720" cy="1188720"/>
          </a:xfrm>
          <a:prstGeom prst="rect">
            <a:avLst/>
          </a:prstGeom>
          <a:noFill/>
          <a:ln/>
        </p:spPr>
        <p:txBody>
          <a:bodyPr wrap="square" lIns="0" tIns="0" rIns="0" bIns="0" rtlCol="0" anchor="ctr"/>
          <a:lstStyle/>
          <a:p>
            <a:pPr indent="0" marL="0">
              <a:lnSpc>
                <a:spcPts val="1800"/>
              </a:lnSpc>
              <a:buNone/>
            </a:pPr>
            <a:r>
              <a:rPr lang="en-US" sz="1150" dirty="0">
                <a:solidFill>
                  <a:srgbClr val="C6D4E0"/>
                </a:solidFill>
                <a:latin typeface="Meiryo" pitchFamily="34" charset="0"/>
                <a:ea typeface="Meiryo" pitchFamily="34" charset="-122"/>
                <a:cs typeface="Meiryo" pitchFamily="34" charset="-120"/>
              </a:rPr>
              <a:t>検知から復旧までを人が見ていない時間でも進める仕組みを作り、成功基準9項目すべてを達成した。</a:t>
            </a:r>
            <a:endParaRPr lang="en-US" sz="1150" dirty="0"/>
          </a:p>
          <a:p>
            <a:pPr indent="0" marL="0">
              <a:lnSpc>
                <a:spcPts val="1800"/>
              </a:lnSpc>
              <a:buNone/>
            </a:pPr>
            <a:endParaRPr lang="en-US" sz="1150" dirty="0"/>
          </a:p>
          <a:p>
            <a:pPr indent="0" marL="0">
              <a:lnSpc>
                <a:spcPts val="1800"/>
              </a:lnSpc>
              <a:buNone/>
            </a:pPr>
            <a:r>
              <a:rPr lang="en-US" sz="1150" dirty="0">
                <a:solidFill>
                  <a:srgbClr val="C6D4E0"/>
                </a:solidFill>
                <a:latin typeface="Meiryo" pitchFamily="34" charset="0"/>
                <a:ea typeface="Meiryo" pitchFamily="34" charset="-122"/>
                <a:cs typeface="Meiryo" pitchFamily="34" charset="-120"/>
              </a:rPr>
              <a:t>実行できる操作を4つに固定し、自動実行を6条件の通過に限ることで、任意コマンドを実行する経路が存在しない形にした。</a:t>
            </a:r>
            <a:endParaRPr lang="en-US" sz="1150" dirty="0"/>
          </a:p>
        </p:txBody>
      </p:sp>
      <p:sp>
        <p:nvSpPr>
          <p:cNvPr id="7" name="Shape 5"/>
          <p:cNvSpPr/>
          <p:nvPr/>
        </p:nvSpPr>
        <p:spPr>
          <a:xfrm>
            <a:off x="6263640" y="2194560"/>
            <a:ext cx="5257800" cy="1874520"/>
          </a:xfrm>
          <a:prstGeom prst="roundRect">
            <a:avLst>
              <a:gd name="adj" fmla="val 2927"/>
            </a:avLst>
          </a:prstGeom>
          <a:solidFill>
            <a:srgbClr val="1B3346"/>
          </a:solidFill>
          <a:ln w="12700">
            <a:solidFill>
              <a:srgbClr val="1B3346"/>
            </a:solidFill>
            <a:prstDash val="solid"/>
          </a:ln>
        </p:spPr>
      </p:sp>
      <p:sp>
        <p:nvSpPr>
          <p:cNvPr id="8" name="Text 6"/>
          <p:cNvSpPr/>
          <p:nvPr/>
        </p:nvSpPr>
        <p:spPr>
          <a:xfrm>
            <a:off x="6583680" y="2395728"/>
            <a:ext cx="4617720" cy="292608"/>
          </a:xfrm>
          <a:prstGeom prst="rect">
            <a:avLst/>
          </a:prstGeom>
          <a:noFill/>
          <a:ln/>
        </p:spPr>
        <p:txBody>
          <a:bodyPr wrap="square" lIns="0" tIns="0" rIns="0" bIns="0" rtlCol="0" anchor="ctr"/>
          <a:lstStyle/>
          <a:p>
            <a:pPr indent="0" marL="0">
              <a:buNone/>
            </a:pPr>
            <a:r>
              <a:rPr lang="en-US" sz="1300" b="1" dirty="0">
                <a:solidFill>
                  <a:srgbClr val="FFB59E"/>
                </a:solidFill>
                <a:latin typeface="Meiryo" pitchFamily="34" charset="0"/>
                <a:ea typeface="Meiryo" pitchFamily="34" charset="-122"/>
                <a:cs typeface="Meiryo" pitchFamily="34" charset="-120"/>
              </a:rPr>
              <a:t>分かったこと</a:t>
            </a:r>
            <a:endParaRPr lang="en-US" sz="1300" dirty="0"/>
          </a:p>
        </p:txBody>
      </p:sp>
      <p:sp>
        <p:nvSpPr>
          <p:cNvPr id="9" name="Text 7"/>
          <p:cNvSpPr/>
          <p:nvPr/>
        </p:nvSpPr>
        <p:spPr>
          <a:xfrm>
            <a:off x="6583680" y="2761488"/>
            <a:ext cx="4617720" cy="1188720"/>
          </a:xfrm>
          <a:prstGeom prst="rect">
            <a:avLst/>
          </a:prstGeom>
          <a:noFill/>
          <a:ln/>
        </p:spPr>
        <p:txBody>
          <a:bodyPr wrap="square" lIns="0" tIns="0" rIns="0" bIns="0" rtlCol="0" anchor="ctr"/>
          <a:lstStyle/>
          <a:p>
            <a:pPr indent="0" marL="0">
              <a:lnSpc>
                <a:spcPts val="1800"/>
              </a:lnSpc>
              <a:buNone/>
            </a:pPr>
            <a:r>
              <a:rPr lang="en-US" sz="1150" dirty="0">
                <a:solidFill>
                  <a:srgbClr val="C6D4E0"/>
                </a:solidFill>
                <a:latin typeface="Meiryo" pitchFamily="34" charset="0"/>
                <a:ea typeface="Meiryo" pitchFamily="34" charset="-122"/>
                <a:cs typeface="Meiryo" pitchFamily="34" charset="-120"/>
              </a:rPr>
              <a:t>780件が緑でも、行サイズ・画像の選択・ライブラリの制約・所有者・名前解決は1つも見ていなかった。</a:t>
            </a:r>
            <a:endParaRPr lang="en-US" sz="1150" dirty="0"/>
          </a:p>
          <a:p>
            <a:pPr indent="0" marL="0">
              <a:lnSpc>
                <a:spcPts val="1800"/>
              </a:lnSpc>
              <a:buNone/>
            </a:pPr>
            <a:endParaRPr lang="en-US" sz="1150" dirty="0"/>
          </a:p>
          <a:p>
            <a:pPr indent="0" marL="0">
              <a:lnSpc>
                <a:spcPts val="1800"/>
              </a:lnSpc>
              <a:buNone/>
            </a:pPr>
            <a:r>
              <a:rPr lang="en-US" sz="1150" dirty="0">
                <a:solidFill>
                  <a:srgbClr val="C6D4E0"/>
                </a:solidFill>
                <a:latin typeface="Meiryo" pitchFamily="34" charset="0"/>
                <a:ea typeface="Meiryo" pitchFamily="34" charset="-122"/>
                <a:cs typeface="Meiryo" pitchFamily="34" charset="-120"/>
              </a:rPr>
              <a:t>さらに、検証そのものが空振りしていても気づけなかった。検証を自動化したこと自体が、検証の空白を見えなくしていた。</a:t>
            </a:r>
            <a:endParaRPr lang="en-US" sz="1150" dirty="0"/>
          </a:p>
        </p:txBody>
      </p:sp>
      <p:sp>
        <p:nvSpPr>
          <p:cNvPr id="10" name="Shape 8"/>
          <p:cNvSpPr/>
          <p:nvPr/>
        </p:nvSpPr>
        <p:spPr>
          <a:xfrm>
            <a:off x="640080" y="4343400"/>
            <a:ext cx="10881360" cy="1051560"/>
          </a:xfrm>
          <a:prstGeom prst="roundRect">
            <a:avLst>
              <a:gd name="adj" fmla="val 5217"/>
            </a:avLst>
          </a:prstGeom>
          <a:solidFill>
            <a:srgbClr val="C4471F"/>
          </a:solidFill>
          <a:ln w="12700">
            <a:solidFill>
              <a:srgbClr val="C4471F"/>
            </a:solidFill>
            <a:prstDash val="solid"/>
          </a:ln>
        </p:spPr>
      </p:sp>
      <p:sp>
        <p:nvSpPr>
          <p:cNvPr id="11" name="Text 9"/>
          <p:cNvSpPr/>
          <p:nvPr/>
        </p:nvSpPr>
        <p:spPr>
          <a:xfrm>
            <a:off x="1005840" y="4343400"/>
            <a:ext cx="10149840" cy="1051560"/>
          </a:xfrm>
          <a:prstGeom prst="rect">
            <a:avLst/>
          </a:prstGeom>
          <a:noFill/>
          <a:ln/>
        </p:spPr>
        <p:txBody>
          <a:bodyPr wrap="square" lIns="0" tIns="0" rIns="0" bIns="0" rtlCol="0" anchor="ctr"/>
          <a:lstStyle/>
          <a:p>
            <a:pPr indent="0" marL="0">
              <a:buNone/>
            </a:pPr>
            <a:r>
              <a:rPr lang="en-US" sz="1800" b="1" dirty="0">
                <a:solidFill>
                  <a:srgbClr val="FFFFFF"/>
                </a:solidFill>
                <a:latin typeface="Meiryo" pitchFamily="34" charset="0"/>
                <a:ea typeface="Meiryo" pitchFamily="34" charset="-122"/>
                <a:cs typeface="Meiryo" pitchFamily="34" charset="-120"/>
              </a:rPr>
              <a:t>「確かめたつもり」をどう潰すかが、機能を増やすことより重要だった</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7315200" cy="274320"/>
          </a:xfrm>
          <a:prstGeom prst="rect">
            <a:avLst/>
          </a:prstGeom>
          <a:noFill/>
          <a:ln/>
        </p:spPr>
        <p:txBody>
          <a:bodyPr wrap="square" lIns="0" tIns="0" rIns="0" bIns="0" rtlCol="0" anchor="ctr"/>
          <a:lstStyle/>
          <a:p>
            <a:pPr indent="0" marL="0">
              <a:buNone/>
            </a:pPr>
            <a:r>
              <a:rPr lang="en-US" sz="1200" b="1" spc="200" kern="0" dirty="0">
                <a:solidFill>
                  <a:srgbClr val="C4471F"/>
                </a:solidFill>
                <a:latin typeface="Meiryo" pitchFamily="34" charset="0"/>
                <a:ea typeface="Meiryo" pitchFamily="34" charset="-122"/>
                <a:cs typeface="Meiryo" pitchFamily="34" charset="-120"/>
              </a:rPr>
              <a:t>付録</a:t>
            </a:r>
            <a:endParaRPr lang="en-US" sz="12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3000" b="1" dirty="0">
                <a:solidFill>
                  <a:srgbClr val="0F1E2B"/>
                </a:solidFill>
                <a:latin typeface="Meiryo" pitchFamily="34" charset="0"/>
                <a:ea typeface="Meiryo" pitchFamily="34" charset="-122"/>
                <a:cs typeface="Meiryo" pitchFamily="34" charset="-120"/>
              </a:rPr>
              <a:t>技術構成と実装規模</a:t>
            </a:r>
            <a:endParaRPr lang="en-US" sz="3000" dirty="0"/>
          </a:p>
        </p:txBody>
      </p:sp>
      <p:sp>
        <p:nvSpPr>
          <p:cNvPr id="4" name="Text 2"/>
          <p:cNvSpPr/>
          <p:nvPr/>
        </p:nvSpPr>
        <p:spPr>
          <a:xfrm>
            <a:off x="640080" y="1737360"/>
            <a:ext cx="1371600" cy="274320"/>
          </a:xfrm>
          <a:prstGeom prst="rect">
            <a:avLst/>
          </a:prstGeom>
          <a:noFill/>
          <a:ln/>
        </p:spPr>
        <p:txBody>
          <a:bodyPr wrap="square" lIns="0" tIns="0" rIns="0" bIns="0" rtlCol="0" anchor="ctr"/>
          <a:lstStyle/>
          <a:p>
            <a:pPr indent="0" marL="0">
              <a:buNone/>
            </a:pPr>
            <a:r>
              <a:rPr lang="en-US" sz="1150" b="1" dirty="0">
                <a:solidFill>
                  <a:srgbClr val="5E7183"/>
                </a:solidFill>
                <a:latin typeface="Meiryo" pitchFamily="34" charset="0"/>
                <a:ea typeface="Meiryo" pitchFamily="34" charset="-122"/>
                <a:cs typeface="Meiryo" pitchFamily="34" charset="-120"/>
              </a:rPr>
              <a:t>Backend</a:t>
            </a:r>
            <a:endParaRPr lang="en-US" sz="1150" dirty="0"/>
          </a:p>
        </p:txBody>
      </p:sp>
      <p:sp>
        <p:nvSpPr>
          <p:cNvPr id="5" name="Text 3"/>
          <p:cNvSpPr/>
          <p:nvPr/>
        </p:nvSpPr>
        <p:spPr>
          <a:xfrm>
            <a:off x="2057400" y="1719072"/>
            <a:ext cx="3108960" cy="292608"/>
          </a:xfrm>
          <a:prstGeom prst="rect">
            <a:avLst/>
          </a:prstGeom>
          <a:noFill/>
          <a:ln/>
        </p:spPr>
        <p:txBody>
          <a:bodyPr wrap="square" lIns="0" tIns="0" rIns="0" bIns="0" rtlCol="0" anchor="ctr"/>
          <a:lstStyle/>
          <a:p>
            <a:pPr indent="0" marL="0">
              <a:buNone/>
            </a:pPr>
            <a:r>
              <a:rPr lang="en-US" sz="1250" b="1" dirty="0">
                <a:solidFill>
                  <a:srgbClr val="0F1E2B"/>
                </a:solidFill>
                <a:latin typeface="Meiryo" pitchFamily="34" charset="0"/>
                <a:ea typeface="Meiryo" pitchFamily="34" charset="-122"/>
                <a:cs typeface="Meiryo" pitchFamily="34" charset="-120"/>
              </a:rPr>
              <a:t>C# / ASP.NET Core (.NET 10)</a:t>
            </a:r>
            <a:endParaRPr lang="en-US" sz="1250" dirty="0"/>
          </a:p>
        </p:txBody>
      </p:sp>
      <p:sp>
        <p:nvSpPr>
          <p:cNvPr id="6" name="Text 4"/>
          <p:cNvSpPr/>
          <p:nvPr/>
        </p:nvSpPr>
        <p:spPr>
          <a:xfrm>
            <a:off x="2057400" y="2011680"/>
            <a:ext cx="4846320" cy="274320"/>
          </a:xfrm>
          <a:prstGeom prst="rect">
            <a:avLst/>
          </a:prstGeom>
          <a:noFill/>
          <a:ln/>
        </p:spPr>
        <p:txBody>
          <a:bodyPr wrap="square" lIns="0" tIns="0" rIns="0" bIns="0" rtlCol="0" anchor="ctr"/>
          <a:lstStyle/>
          <a:p>
            <a:pPr indent="0" marL="0">
              <a:buNone/>
            </a:pPr>
            <a:r>
              <a:rPr lang="en-US" sz="1050" dirty="0">
                <a:solidFill>
                  <a:srgbClr val="5E7183"/>
                </a:solidFill>
                <a:latin typeface="Meiryo" pitchFamily="34" charset="0"/>
                <a:ea typeface="Meiryo" pitchFamily="34" charset="-122"/>
                <a:cs typeface="Meiryo" pitchFamily="34" charset="-120"/>
              </a:rPr>
              <a:t>静的型で権限や危険度の取り違えを落とす</a:t>
            </a:r>
            <a:endParaRPr lang="en-US" sz="1050" dirty="0"/>
          </a:p>
        </p:txBody>
      </p:sp>
      <p:sp>
        <p:nvSpPr>
          <p:cNvPr id="7" name="Text 5"/>
          <p:cNvSpPr/>
          <p:nvPr/>
        </p:nvSpPr>
        <p:spPr>
          <a:xfrm>
            <a:off x="640080" y="2395728"/>
            <a:ext cx="1371600" cy="274320"/>
          </a:xfrm>
          <a:prstGeom prst="rect">
            <a:avLst/>
          </a:prstGeom>
          <a:noFill/>
          <a:ln/>
        </p:spPr>
        <p:txBody>
          <a:bodyPr wrap="square" lIns="0" tIns="0" rIns="0" bIns="0" rtlCol="0" anchor="ctr"/>
          <a:lstStyle/>
          <a:p>
            <a:pPr indent="0" marL="0">
              <a:buNone/>
            </a:pPr>
            <a:r>
              <a:rPr lang="en-US" sz="1150" b="1" dirty="0">
                <a:solidFill>
                  <a:srgbClr val="5E7183"/>
                </a:solidFill>
                <a:latin typeface="Meiryo" pitchFamily="34" charset="0"/>
                <a:ea typeface="Meiryo" pitchFamily="34" charset="-122"/>
                <a:cs typeface="Meiryo" pitchFamily="34" charset="-120"/>
              </a:rPr>
              <a:t>ORM</a:t>
            </a:r>
            <a:endParaRPr lang="en-US" sz="1150" dirty="0"/>
          </a:p>
        </p:txBody>
      </p:sp>
      <p:sp>
        <p:nvSpPr>
          <p:cNvPr id="8" name="Text 6"/>
          <p:cNvSpPr/>
          <p:nvPr/>
        </p:nvSpPr>
        <p:spPr>
          <a:xfrm>
            <a:off x="2057400" y="2377440"/>
            <a:ext cx="3108960" cy="292608"/>
          </a:xfrm>
          <a:prstGeom prst="rect">
            <a:avLst/>
          </a:prstGeom>
          <a:noFill/>
          <a:ln/>
        </p:spPr>
        <p:txBody>
          <a:bodyPr wrap="square" lIns="0" tIns="0" rIns="0" bIns="0" rtlCol="0" anchor="ctr"/>
          <a:lstStyle/>
          <a:p>
            <a:pPr indent="0" marL="0">
              <a:buNone/>
            </a:pPr>
            <a:r>
              <a:rPr lang="en-US" sz="1250" b="1" dirty="0">
                <a:solidFill>
                  <a:srgbClr val="0F1E2B"/>
                </a:solidFill>
                <a:latin typeface="Meiryo" pitchFamily="34" charset="0"/>
                <a:ea typeface="Meiryo" pitchFamily="34" charset="-122"/>
                <a:cs typeface="Meiryo" pitchFamily="34" charset="-120"/>
              </a:rPr>
              <a:t>EF Core 9.0</a:t>
            </a:r>
            <a:endParaRPr lang="en-US" sz="1250" dirty="0"/>
          </a:p>
        </p:txBody>
      </p:sp>
      <p:sp>
        <p:nvSpPr>
          <p:cNvPr id="9" name="Text 7"/>
          <p:cNvSpPr/>
          <p:nvPr/>
        </p:nvSpPr>
        <p:spPr>
          <a:xfrm>
            <a:off x="2057400" y="2670048"/>
            <a:ext cx="4846320" cy="274320"/>
          </a:xfrm>
          <a:prstGeom prst="rect">
            <a:avLst/>
          </a:prstGeom>
          <a:noFill/>
          <a:ln/>
        </p:spPr>
        <p:txBody>
          <a:bodyPr wrap="square" lIns="0" tIns="0" rIns="0" bIns="0" rtlCol="0" anchor="ctr"/>
          <a:lstStyle/>
          <a:p>
            <a:pPr indent="0" marL="0">
              <a:buNone/>
            </a:pPr>
            <a:r>
              <a:rPr lang="en-US" sz="1050" dirty="0">
                <a:solidFill>
                  <a:srgbClr val="5E7183"/>
                </a:solidFill>
                <a:latin typeface="Meiryo" pitchFamily="34" charset="0"/>
                <a:ea typeface="Meiryo" pitchFamily="34" charset="-122"/>
                <a:cs typeface="Meiryo" pitchFamily="34" charset="-120"/>
              </a:rPr>
              <a:t>9.0で固定。10.xは移行の生成物が変わる</a:t>
            </a:r>
            <a:endParaRPr lang="en-US" sz="1050" dirty="0"/>
          </a:p>
        </p:txBody>
      </p:sp>
      <p:sp>
        <p:nvSpPr>
          <p:cNvPr id="10" name="Text 8"/>
          <p:cNvSpPr/>
          <p:nvPr/>
        </p:nvSpPr>
        <p:spPr>
          <a:xfrm>
            <a:off x="640080" y="3054096"/>
            <a:ext cx="1371600" cy="274320"/>
          </a:xfrm>
          <a:prstGeom prst="rect">
            <a:avLst/>
          </a:prstGeom>
          <a:noFill/>
          <a:ln/>
        </p:spPr>
        <p:txBody>
          <a:bodyPr wrap="square" lIns="0" tIns="0" rIns="0" bIns="0" rtlCol="0" anchor="ctr"/>
          <a:lstStyle/>
          <a:p>
            <a:pPr indent="0" marL="0">
              <a:buNone/>
            </a:pPr>
            <a:r>
              <a:rPr lang="en-US" sz="1150" b="1" dirty="0">
                <a:solidFill>
                  <a:srgbClr val="5E7183"/>
                </a:solidFill>
                <a:latin typeface="Meiryo" pitchFamily="34" charset="0"/>
                <a:ea typeface="Meiryo" pitchFamily="34" charset="-122"/>
                <a:cs typeface="Meiryo" pitchFamily="34" charset="-120"/>
              </a:rPr>
              <a:t>ジョブ</a:t>
            </a:r>
            <a:endParaRPr lang="en-US" sz="1150" dirty="0"/>
          </a:p>
        </p:txBody>
      </p:sp>
      <p:sp>
        <p:nvSpPr>
          <p:cNvPr id="11" name="Text 9"/>
          <p:cNvSpPr/>
          <p:nvPr/>
        </p:nvSpPr>
        <p:spPr>
          <a:xfrm>
            <a:off x="2057400" y="3035808"/>
            <a:ext cx="3108960" cy="292608"/>
          </a:xfrm>
          <a:prstGeom prst="rect">
            <a:avLst/>
          </a:prstGeom>
          <a:noFill/>
          <a:ln/>
        </p:spPr>
        <p:txBody>
          <a:bodyPr wrap="square" lIns="0" tIns="0" rIns="0" bIns="0" rtlCol="0" anchor="ctr"/>
          <a:lstStyle/>
          <a:p>
            <a:pPr indent="0" marL="0">
              <a:buNone/>
            </a:pPr>
            <a:r>
              <a:rPr lang="en-US" sz="1250" b="1" dirty="0">
                <a:solidFill>
                  <a:srgbClr val="0F1E2B"/>
                </a:solidFill>
                <a:latin typeface="Meiryo" pitchFamily="34" charset="0"/>
                <a:ea typeface="Meiryo" pitchFamily="34" charset="-122"/>
                <a:cs typeface="Meiryo" pitchFamily="34" charset="-120"/>
              </a:rPr>
              <a:t>Hangfire</a:t>
            </a:r>
            <a:endParaRPr lang="en-US" sz="1250" dirty="0"/>
          </a:p>
        </p:txBody>
      </p:sp>
      <p:sp>
        <p:nvSpPr>
          <p:cNvPr id="12" name="Text 10"/>
          <p:cNvSpPr/>
          <p:nvPr/>
        </p:nvSpPr>
        <p:spPr>
          <a:xfrm>
            <a:off x="2057400" y="3328416"/>
            <a:ext cx="4846320" cy="274320"/>
          </a:xfrm>
          <a:prstGeom prst="rect">
            <a:avLst/>
          </a:prstGeom>
          <a:noFill/>
          <a:ln/>
        </p:spPr>
        <p:txBody>
          <a:bodyPr wrap="square" lIns="0" tIns="0" rIns="0" bIns="0" rtlCol="0" anchor="ctr"/>
          <a:lstStyle/>
          <a:p>
            <a:pPr indent="0" marL="0">
              <a:buNone/>
            </a:pPr>
            <a:r>
              <a:rPr lang="en-US" sz="1050" dirty="0">
                <a:solidFill>
                  <a:srgbClr val="5E7183"/>
                </a:solidFill>
                <a:latin typeface="Meiryo" pitchFamily="34" charset="0"/>
                <a:ea typeface="Meiryo" pitchFamily="34" charset="-122"/>
                <a:cs typeface="Meiryo" pitchFamily="34" charset="-120"/>
              </a:rPr>
              <a:t>対象ごとの定期実行とキュー分離</a:t>
            </a:r>
            <a:endParaRPr lang="en-US" sz="1050" dirty="0"/>
          </a:p>
        </p:txBody>
      </p:sp>
      <p:sp>
        <p:nvSpPr>
          <p:cNvPr id="13" name="Text 11"/>
          <p:cNvSpPr/>
          <p:nvPr/>
        </p:nvSpPr>
        <p:spPr>
          <a:xfrm>
            <a:off x="640080" y="3712464"/>
            <a:ext cx="1371600" cy="274320"/>
          </a:xfrm>
          <a:prstGeom prst="rect">
            <a:avLst/>
          </a:prstGeom>
          <a:noFill/>
          <a:ln/>
        </p:spPr>
        <p:txBody>
          <a:bodyPr wrap="square" lIns="0" tIns="0" rIns="0" bIns="0" rtlCol="0" anchor="ctr"/>
          <a:lstStyle/>
          <a:p>
            <a:pPr indent="0" marL="0">
              <a:buNone/>
            </a:pPr>
            <a:r>
              <a:rPr lang="en-US" sz="1150" b="1" dirty="0">
                <a:solidFill>
                  <a:srgbClr val="5E7183"/>
                </a:solidFill>
                <a:latin typeface="Meiryo" pitchFamily="34" charset="0"/>
                <a:ea typeface="Meiryo" pitchFamily="34" charset="-122"/>
                <a:cs typeface="Meiryo" pitchFamily="34" charset="-120"/>
              </a:rPr>
              <a:t>Frontend</a:t>
            </a:r>
            <a:endParaRPr lang="en-US" sz="1150" dirty="0"/>
          </a:p>
        </p:txBody>
      </p:sp>
      <p:sp>
        <p:nvSpPr>
          <p:cNvPr id="14" name="Text 12"/>
          <p:cNvSpPr/>
          <p:nvPr/>
        </p:nvSpPr>
        <p:spPr>
          <a:xfrm>
            <a:off x="2057400" y="3694176"/>
            <a:ext cx="3108960" cy="292608"/>
          </a:xfrm>
          <a:prstGeom prst="rect">
            <a:avLst/>
          </a:prstGeom>
          <a:noFill/>
          <a:ln/>
        </p:spPr>
        <p:txBody>
          <a:bodyPr wrap="square" lIns="0" tIns="0" rIns="0" bIns="0" rtlCol="0" anchor="ctr"/>
          <a:lstStyle/>
          <a:p>
            <a:pPr indent="0" marL="0">
              <a:buNone/>
            </a:pPr>
            <a:r>
              <a:rPr lang="en-US" sz="1250" b="1" dirty="0">
                <a:solidFill>
                  <a:srgbClr val="0F1E2B"/>
                </a:solidFill>
                <a:latin typeface="Meiryo" pitchFamily="34" charset="0"/>
                <a:ea typeface="Meiryo" pitchFamily="34" charset="-122"/>
                <a:cs typeface="Meiryo" pitchFamily="34" charset="-120"/>
              </a:rPr>
              <a:t>Vue 3 / TypeScript / Vite</a:t>
            </a:r>
            <a:endParaRPr lang="en-US" sz="1250" dirty="0"/>
          </a:p>
        </p:txBody>
      </p:sp>
      <p:sp>
        <p:nvSpPr>
          <p:cNvPr id="15" name="Text 13"/>
          <p:cNvSpPr/>
          <p:nvPr/>
        </p:nvSpPr>
        <p:spPr>
          <a:xfrm>
            <a:off x="2057400" y="3986784"/>
            <a:ext cx="4846320" cy="274320"/>
          </a:xfrm>
          <a:prstGeom prst="rect">
            <a:avLst/>
          </a:prstGeom>
          <a:noFill/>
          <a:ln/>
        </p:spPr>
        <p:txBody>
          <a:bodyPr wrap="square" lIns="0" tIns="0" rIns="0" bIns="0" rtlCol="0" anchor="ctr"/>
          <a:lstStyle/>
          <a:p>
            <a:pPr indent="0" marL="0">
              <a:buNone/>
            </a:pPr>
            <a:r>
              <a:rPr lang="en-US" sz="1050" dirty="0">
                <a:solidFill>
                  <a:srgbClr val="5E7183"/>
                </a:solidFill>
                <a:latin typeface="Meiryo" pitchFamily="34" charset="0"/>
                <a:ea typeface="Meiryo" pitchFamily="34" charset="-122"/>
                <a:cs typeface="Meiryo" pitchFamily="34" charset="-120"/>
              </a:rPr>
              <a:t>画面数に対して構成が軽い</a:t>
            </a:r>
            <a:endParaRPr lang="en-US" sz="1050" dirty="0"/>
          </a:p>
        </p:txBody>
      </p:sp>
      <p:sp>
        <p:nvSpPr>
          <p:cNvPr id="16" name="Text 14"/>
          <p:cNvSpPr/>
          <p:nvPr/>
        </p:nvSpPr>
        <p:spPr>
          <a:xfrm>
            <a:off x="640080" y="4370832"/>
            <a:ext cx="1371600" cy="274320"/>
          </a:xfrm>
          <a:prstGeom prst="rect">
            <a:avLst/>
          </a:prstGeom>
          <a:noFill/>
          <a:ln/>
        </p:spPr>
        <p:txBody>
          <a:bodyPr wrap="square" lIns="0" tIns="0" rIns="0" bIns="0" rtlCol="0" anchor="ctr"/>
          <a:lstStyle/>
          <a:p>
            <a:pPr indent="0" marL="0">
              <a:buNone/>
            </a:pPr>
            <a:r>
              <a:rPr lang="en-US" sz="1150" b="1" dirty="0">
                <a:solidFill>
                  <a:srgbClr val="5E7183"/>
                </a:solidFill>
                <a:latin typeface="Meiryo" pitchFamily="34" charset="0"/>
                <a:ea typeface="Meiryo" pitchFamily="34" charset="-122"/>
                <a:cs typeface="Meiryo" pitchFamily="34" charset="-120"/>
              </a:rPr>
              <a:t>DB</a:t>
            </a:r>
            <a:endParaRPr lang="en-US" sz="1150" dirty="0"/>
          </a:p>
        </p:txBody>
      </p:sp>
      <p:sp>
        <p:nvSpPr>
          <p:cNvPr id="17" name="Text 15"/>
          <p:cNvSpPr/>
          <p:nvPr/>
        </p:nvSpPr>
        <p:spPr>
          <a:xfrm>
            <a:off x="2057400" y="4352544"/>
            <a:ext cx="3108960" cy="292608"/>
          </a:xfrm>
          <a:prstGeom prst="rect">
            <a:avLst/>
          </a:prstGeom>
          <a:noFill/>
          <a:ln/>
        </p:spPr>
        <p:txBody>
          <a:bodyPr wrap="square" lIns="0" tIns="0" rIns="0" bIns="0" rtlCol="0" anchor="ctr"/>
          <a:lstStyle/>
          <a:p>
            <a:pPr indent="0" marL="0">
              <a:buNone/>
            </a:pPr>
            <a:r>
              <a:rPr lang="en-US" sz="1250" b="1" dirty="0">
                <a:solidFill>
                  <a:srgbClr val="0F1E2B"/>
                </a:solidFill>
                <a:latin typeface="Meiryo" pitchFamily="34" charset="0"/>
                <a:ea typeface="Meiryo" pitchFamily="34" charset="-122"/>
                <a:cs typeface="Meiryo" pitchFamily="34" charset="-120"/>
              </a:rPr>
              <a:t>MySQL 8.4</a:t>
            </a:r>
            <a:endParaRPr lang="en-US" sz="1250" dirty="0"/>
          </a:p>
        </p:txBody>
      </p:sp>
      <p:sp>
        <p:nvSpPr>
          <p:cNvPr id="18" name="Text 16"/>
          <p:cNvSpPr/>
          <p:nvPr/>
        </p:nvSpPr>
        <p:spPr>
          <a:xfrm>
            <a:off x="2057400" y="4645152"/>
            <a:ext cx="4846320" cy="274320"/>
          </a:xfrm>
          <a:prstGeom prst="rect">
            <a:avLst/>
          </a:prstGeom>
          <a:noFill/>
          <a:ln/>
        </p:spPr>
        <p:txBody>
          <a:bodyPr wrap="square" lIns="0" tIns="0" rIns="0" bIns="0" rtlCol="0" anchor="ctr"/>
          <a:lstStyle/>
          <a:p>
            <a:pPr indent="0" marL="0">
              <a:buNone/>
            </a:pPr>
            <a:r>
              <a:rPr lang="en-US" sz="1050" dirty="0">
                <a:solidFill>
                  <a:srgbClr val="5E7183"/>
                </a:solidFill>
                <a:latin typeface="Meiryo" pitchFamily="34" charset="0"/>
                <a:ea typeface="Meiryo" pitchFamily="34" charset="-122"/>
                <a:cs typeface="Meiryo" pitchFamily="34" charset="-120"/>
              </a:rPr>
              <a:t>日時は datetime(6) で統一</a:t>
            </a:r>
            <a:endParaRPr lang="en-US" sz="1050" dirty="0"/>
          </a:p>
        </p:txBody>
      </p:sp>
      <p:sp>
        <p:nvSpPr>
          <p:cNvPr id="19" name="Shape 17"/>
          <p:cNvSpPr/>
          <p:nvPr/>
        </p:nvSpPr>
        <p:spPr>
          <a:xfrm>
            <a:off x="7406640" y="1783080"/>
            <a:ext cx="2011680" cy="1143000"/>
          </a:xfrm>
          <a:prstGeom prst="roundRect">
            <a:avLst>
              <a:gd name="adj" fmla="val 4800"/>
            </a:avLst>
          </a:prstGeom>
          <a:solidFill>
            <a:srgbClr val="EEF2F6"/>
          </a:solidFill>
          <a:ln w="12700">
            <a:solidFill>
              <a:srgbClr val="EEF2F6"/>
            </a:solidFill>
            <a:prstDash val="solid"/>
          </a:ln>
        </p:spPr>
      </p:sp>
      <p:sp>
        <p:nvSpPr>
          <p:cNvPr id="20" name="Text 18"/>
          <p:cNvSpPr/>
          <p:nvPr/>
        </p:nvSpPr>
        <p:spPr>
          <a:xfrm>
            <a:off x="7589520" y="2011680"/>
            <a:ext cx="1691640" cy="411480"/>
          </a:xfrm>
          <a:prstGeom prst="rect">
            <a:avLst/>
          </a:prstGeom>
          <a:noFill/>
          <a:ln/>
        </p:spPr>
        <p:txBody>
          <a:bodyPr wrap="square" lIns="0" tIns="0" rIns="0" bIns="0" rtlCol="0" anchor="ctr"/>
          <a:lstStyle/>
          <a:p>
            <a:pPr indent="0" marL="0">
              <a:buNone/>
            </a:pPr>
            <a:r>
              <a:rPr lang="en-US" sz="1500" b="1" dirty="0">
                <a:solidFill>
                  <a:srgbClr val="0F1E2B"/>
                </a:solidFill>
                <a:latin typeface="Meiryo" pitchFamily="34" charset="0"/>
                <a:ea typeface="Meiryo" pitchFamily="34" charset="-122"/>
                <a:cs typeface="Meiryo" pitchFamily="34" charset="-120"/>
              </a:rPr>
              <a:t>約29,600行</a:t>
            </a:r>
            <a:endParaRPr lang="en-US" sz="1500" dirty="0"/>
          </a:p>
        </p:txBody>
      </p:sp>
      <p:sp>
        <p:nvSpPr>
          <p:cNvPr id="21" name="Text 19"/>
          <p:cNvSpPr/>
          <p:nvPr/>
        </p:nvSpPr>
        <p:spPr>
          <a:xfrm>
            <a:off x="7589520" y="2459736"/>
            <a:ext cx="1691640" cy="320040"/>
          </a:xfrm>
          <a:prstGeom prst="rect">
            <a:avLst/>
          </a:prstGeom>
          <a:noFill/>
          <a:ln/>
        </p:spPr>
        <p:txBody>
          <a:bodyPr wrap="square" lIns="0" tIns="0" rIns="0" bIns="0" rtlCol="0" anchor="ctr"/>
          <a:lstStyle/>
          <a:p>
            <a:pPr indent="0" marL="0">
              <a:buNone/>
            </a:pPr>
            <a:r>
              <a:rPr lang="en-US" sz="1000" dirty="0">
                <a:solidFill>
                  <a:srgbClr val="5E7183"/>
                </a:solidFill>
                <a:latin typeface="Meiryo" pitchFamily="34" charset="0"/>
                <a:ea typeface="Meiryo" pitchFamily="34" charset="-122"/>
                <a:cs typeface="Meiryo" pitchFamily="34" charset="-120"/>
              </a:rPr>
              <a:t>バックエンド (C#)</a:t>
            </a:r>
            <a:endParaRPr lang="en-US" sz="1000" dirty="0"/>
          </a:p>
        </p:txBody>
      </p:sp>
      <p:sp>
        <p:nvSpPr>
          <p:cNvPr id="22" name="Shape 20"/>
          <p:cNvSpPr/>
          <p:nvPr/>
        </p:nvSpPr>
        <p:spPr>
          <a:xfrm>
            <a:off x="9555480" y="1783080"/>
            <a:ext cx="2011680" cy="1143000"/>
          </a:xfrm>
          <a:prstGeom prst="roundRect">
            <a:avLst>
              <a:gd name="adj" fmla="val 4800"/>
            </a:avLst>
          </a:prstGeom>
          <a:solidFill>
            <a:srgbClr val="EEF2F6"/>
          </a:solidFill>
          <a:ln w="12700">
            <a:solidFill>
              <a:srgbClr val="EEF2F6"/>
            </a:solidFill>
            <a:prstDash val="solid"/>
          </a:ln>
        </p:spPr>
      </p:sp>
      <p:sp>
        <p:nvSpPr>
          <p:cNvPr id="23" name="Text 21"/>
          <p:cNvSpPr/>
          <p:nvPr/>
        </p:nvSpPr>
        <p:spPr>
          <a:xfrm>
            <a:off x="9738360" y="2011680"/>
            <a:ext cx="1691640" cy="411480"/>
          </a:xfrm>
          <a:prstGeom prst="rect">
            <a:avLst/>
          </a:prstGeom>
          <a:noFill/>
          <a:ln/>
        </p:spPr>
        <p:txBody>
          <a:bodyPr wrap="square" lIns="0" tIns="0" rIns="0" bIns="0" rtlCol="0" anchor="ctr"/>
          <a:lstStyle/>
          <a:p>
            <a:pPr indent="0" marL="0">
              <a:buNone/>
            </a:pPr>
            <a:r>
              <a:rPr lang="en-US" sz="1500" b="1" dirty="0">
                <a:solidFill>
                  <a:srgbClr val="0F1E2B"/>
                </a:solidFill>
                <a:latin typeface="Meiryo" pitchFamily="34" charset="0"/>
                <a:ea typeface="Meiryo" pitchFamily="34" charset="-122"/>
                <a:cs typeface="Meiryo" pitchFamily="34" charset="-120"/>
              </a:rPr>
              <a:t>約15,700行</a:t>
            </a:r>
            <a:endParaRPr lang="en-US" sz="1500" dirty="0"/>
          </a:p>
        </p:txBody>
      </p:sp>
      <p:sp>
        <p:nvSpPr>
          <p:cNvPr id="24" name="Text 22"/>
          <p:cNvSpPr/>
          <p:nvPr/>
        </p:nvSpPr>
        <p:spPr>
          <a:xfrm>
            <a:off x="9738360" y="2459736"/>
            <a:ext cx="1691640" cy="320040"/>
          </a:xfrm>
          <a:prstGeom prst="rect">
            <a:avLst/>
          </a:prstGeom>
          <a:noFill/>
          <a:ln/>
        </p:spPr>
        <p:txBody>
          <a:bodyPr wrap="square" lIns="0" tIns="0" rIns="0" bIns="0" rtlCol="0" anchor="ctr"/>
          <a:lstStyle/>
          <a:p>
            <a:pPr indent="0" marL="0">
              <a:buNone/>
            </a:pPr>
            <a:r>
              <a:rPr lang="en-US" sz="1000" dirty="0">
                <a:solidFill>
                  <a:srgbClr val="5E7183"/>
                </a:solidFill>
                <a:latin typeface="Meiryo" pitchFamily="34" charset="0"/>
                <a:ea typeface="Meiryo" pitchFamily="34" charset="-122"/>
                <a:cs typeface="Meiryo" pitchFamily="34" charset="-120"/>
              </a:rPr>
              <a:t>フロントエンド (Vue/TS)</a:t>
            </a:r>
            <a:endParaRPr lang="en-US" sz="1000" dirty="0"/>
          </a:p>
        </p:txBody>
      </p:sp>
      <p:sp>
        <p:nvSpPr>
          <p:cNvPr id="25" name="Shape 23"/>
          <p:cNvSpPr/>
          <p:nvPr/>
        </p:nvSpPr>
        <p:spPr>
          <a:xfrm>
            <a:off x="7406640" y="3154680"/>
            <a:ext cx="2011680" cy="1143000"/>
          </a:xfrm>
          <a:prstGeom prst="roundRect">
            <a:avLst>
              <a:gd name="adj" fmla="val 4800"/>
            </a:avLst>
          </a:prstGeom>
          <a:solidFill>
            <a:srgbClr val="EEF2F6"/>
          </a:solidFill>
          <a:ln w="12700">
            <a:solidFill>
              <a:srgbClr val="EEF2F6"/>
            </a:solidFill>
            <a:prstDash val="solid"/>
          </a:ln>
        </p:spPr>
      </p:sp>
      <p:sp>
        <p:nvSpPr>
          <p:cNvPr id="26" name="Text 24"/>
          <p:cNvSpPr/>
          <p:nvPr/>
        </p:nvSpPr>
        <p:spPr>
          <a:xfrm>
            <a:off x="7589520" y="3383280"/>
            <a:ext cx="1691640" cy="411480"/>
          </a:xfrm>
          <a:prstGeom prst="rect">
            <a:avLst/>
          </a:prstGeom>
          <a:noFill/>
          <a:ln/>
        </p:spPr>
        <p:txBody>
          <a:bodyPr wrap="square" lIns="0" tIns="0" rIns="0" bIns="0" rtlCol="0" anchor="ctr"/>
          <a:lstStyle/>
          <a:p>
            <a:pPr indent="0" marL="0">
              <a:buNone/>
            </a:pPr>
            <a:r>
              <a:rPr lang="en-US" sz="1500" b="1" dirty="0">
                <a:solidFill>
                  <a:srgbClr val="0F1E2B"/>
                </a:solidFill>
                <a:latin typeface="Meiryo" pitchFamily="34" charset="0"/>
                <a:ea typeface="Meiryo" pitchFamily="34" charset="-122"/>
                <a:cs typeface="Meiryo" pitchFamily="34" charset="-120"/>
              </a:rPr>
              <a:t>18</a:t>
            </a:r>
            <a:endParaRPr lang="en-US" sz="1500" dirty="0"/>
          </a:p>
        </p:txBody>
      </p:sp>
      <p:sp>
        <p:nvSpPr>
          <p:cNvPr id="27" name="Text 25"/>
          <p:cNvSpPr/>
          <p:nvPr/>
        </p:nvSpPr>
        <p:spPr>
          <a:xfrm>
            <a:off x="7589520" y="3831336"/>
            <a:ext cx="1691640" cy="320040"/>
          </a:xfrm>
          <a:prstGeom prst="rect">
            <a:avLst/>
          </a:prstGeom>
          <a:noFill/>
          <a:ln/>
        </p:spPr>
        <p:txBody>
          <a:bodyPr wrap="square" lIns="0" tIns="0" rIns="0" bIns="0" rtlCol="0" anchor="ctr"/>
          <a:lstStyle/>
          <a:p>
            <a:pPr indent="0" marL="0">
              <a:buNone/>
            </a:pPr>
            <a:r>
              <a:rPr lang="en-US" sz="1000" dirty="0">
                <a:solidFill>
                  <a:srgbClr val="5E7183"/>
                </a:solidFill>
                <a:latin typeface="Meiryo" pitchFamily="34" charset="0"/>
                <a:ea typeface="Meiryo" pitchFamily="34" charset="-122"/>
                <a:cs typeface="Meiryo" pitchFamily="34" charset="-120"/>
              </a:rPr>
              <a:t>画面</a:t>
            </a:r>
            <a:endParaRPr lang="en-US" sz="1000" dirty="0"/>
          </a:p>
        </p:txBody>
      </p:sp>
      <p:sp>
        <p:nvSpPr>
          <p:cNvPr id="28" name="Shape 26"/>
          <p:cNvSpPr/>
          <p:nvPr/>
        </p:nvSpPr>
        <p:spPr>
          <a:xfrm>
            <a:off x="9555480" y="3154680"/>
            <a:ext cx="2011680" cy="1143000"/>
          </a:xfrm>
          <a:prstGeom prst="roundRect">
            <a:avLst>
              <a:gd name="adj" fmla="val 4800"/>
            </a:avLst>
          </a:prstGeom>
          <a:solidFill>
            <a:srgbClr val="EEF2F6"/>
          </a:solidFill>
          <a:ln w="12700">
            <a:solidFill>
              <a:srgbClr val="EEF2F6"/>
            </a:solidFill>
            <a:prstDash val="solid"/>
          </a:ln>
        </p:spPr>
      </p:sp>
      <p:sp>
        <p:nvSpPr>
          <p:cNvPr id="29" name="Text 27"/>
          <p:cNvSpPr/>
          <p:nvPr/>
        </p:nvSpPr>
        <p:spPr>
          <a:xfrm>
            <a:off x="9738360" y="3383280"/>
            <a:ext cx="1691640" cy="411480"/>
          </a:xfrm>
          <a:prstGeom prst="rect">
            <a:avLst/>
          </a:prstGeom>
          <a:noFill/>
          <a:ln/>
        </p:spPr>
        <p:txBody>
          <a:bodyPr wrap="square" lIns="0" tIns="0" rIns="0" bIns="0" rtlCol="0" anchor="ctr"/>
          <a:lstStyle/>
          <a:p>
            <a:pPr indent="0" marL="0">
              <a:buNone/>
            </a:pPr>
            <a:r>
              <a:rPr lang="en-US" sz="1500" b="1" dirty="0">
                <a:solidFill>
                  <a:srgbClr val="0F1E2B"/>
                </a:solidFill>
                <a:latin typeface="Meiryo" pitchFamily="34" charset="0"/>
                <a:ea typeface="Meiryo" pitchFamily="34" charset="-122"/>
                <a:cs typeface="Meiryo" pitchFamily="34" charset="-120"/>
              </a:rPr>
              <a:t>11</a:t>
            </a:r>
            <a:endParaRPr lang="en-US" sz="1500" dirty="0"/>
          </a:p>
        </p:txBody>
      </p:sp>
      <p:sp>
        <p:nvSpPr>
          <p:cNvPr id="30" name="Text 28"/>
          <p:cNvSpPr/>
          <p:nvPr/>
        </p:nvSpPr>
        <p:spPr>
          <a:xfrm>
            <a:off x="9738360" y="3831336"/>
            <a:ext cx="1691640" cy="320040"/>
          </a:xfrm>
          <a:prstGeom prst="rect">
            <a:avLst/>
          </a:prstGeom>
          <a:noFill/>
          <a:ln/>
        </p:spPr>
        <p:txBody>
          <a:bodyPr wrap="square" lIns="0" tIns="0" rIns="0" bIns="0" rtlCol="0" anchor="ctr"/>
          <a:lstStyle/>
          <a:p>
            <a:pPr indent="0" marL="0">
              <a:buNone/>
            </a:pPr>
            <a:r>
              <a:rPr lang="en-US" sz="1000" dirty="0">
                <a:solidFill>
                  <a:srgbClr val="5E7183"/>
                </a:solidFill>
                <a:latin typeface="Meiryo" pitchFamily="34" charset="0"/>
                <a:ea typeface="Meiryo" pitchFamily="34" charset="-122"/>
                <a:cs typeface="Meiryo" pitchFamily="34" charset="-120"/>
              </a:rPr>
              <a:t>DBマイグレーション</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7315200" cy="274320"/>
          </a:xfrm>
          <a:prstGeom prst="rect">
            <a:avLst/>
          </a:prstGeom>
          <a:noFill/>
          <a:ln/>
        </p:spPr>
        <p:txBody>
          <a:bodyPr wrap="square" lIns="0" tIns="0" rIns="0" bIns="0" rtlCol="0" anchor="ctr"/>
          <a:lstStyle/>
          <a:p>
            <a:pPr indent="0" marL="0">
              <a:buNone/>
            </a:pPr>
            <a:r>
              <a:rPr lang="en-US" sz="1200" b="1" spc="200" kern="0" dirty="0">
                <a:solidFill>
                  <a:srgbClr val="C4471F"/>
                </a:solidFill>
                <a:latin typeface="Meiryo" pitchFamily="34" charset="0"/>
                <a:ea typeface="Meiryo" pitchFamily="34" charset="-122"/>
                <a:cs typeface="Meiryo" pitchFamily="34" charset="-120"/>
              </a:rPr>
              <a:t>付録</a:t>
            </a:r>
            <a:endParaRPr lang="en-US" sz="12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3000" b="1" dirty="0">
                <a:solidFill>
                  <a:srgbClr val="0F1E2B"/>
                </a:solidFill>
                <a:latin typeface="Meiryo" pitchFamily="34" charset="0"/>
                <a:ea typeface="Meiryo" pitchFamily="34" charset="-122"/>
                <a:cs typeface="Meiryo" pitchFamily="34" charset="-120"/>
              </a:rPr>
              <a:t>実環境で見つけた不具合の一覧</a:t>
            </a:r>
            <a:endParaRPr lang="en-US" sz="3000" dirty="0"/>
          </a:p>
        </p:txBody>
      </p:sp>
      <p:sp>
        <p:nvSpPr>
          <p:cNvPr id="4" name="Shape 2"/>
          <p:cNvSpPr/>
          <p:nvPr/>
        </p:nvSpPr>
        <p:spPr>
          <a:xfrm>
            <a:off x="640080" y="1737360"/>
            <a:ext cx="10881360" cy="566928"/>
          </a:xfrm>
          <a:prstGeom prst="roundRect">
            <a:avLst>
              <a:gd name="adj" fmla="val 8065"/>
            </a:avLst>
          </a:prstGeom>
          <a:solidFill>
            <a:srgbClr val="EEF2F6"/>
          </a:solidFill>
          <a:ln w="12700">
            <a:solidFill>
              <a:srgbClr val="EEF2F6"/>
            </a:solidFill>
            <a:prstDash val="solid"/>
          </a:ln>
        </p:spPr>
      </p:sp>
      <p:sp>
        <p:nvSpPr>
          <p:cNvPr id="5" name="Text 3"/>
          <p:cNvSpPr/>
          <p:nvPr/>
        </p:nvSpPr>
        <p:spPr>
          <a:xfrm>
            <a:off x="914400" y="1737360"/>
            <a:ext cx="3200400" cy="566928"/>
          </a:xfrm>
          <a:prstGeom prst="rect">
            <a:avLst/>
          </a:prstGeom>
          <a:noFill/>
          <a:ln/>
        </p:spPr>
        <p:txBody>
          <a:bodyPr wrap="square" lIns="0" tIns="0" rIns="0" bIns="0" rtlCol="0" anchor="ctr"/>
          <a:lstStyle/>
          <a:p>
            <a:pPr indent="0" marL="0">
              <a:buNone/>
            </a:pPr>
            <a:r>
              <a:rPr lang="en-US" sz="1200" b="1" dirty="0">
                <a:solidFill>
                  <a:srgbClr val="0F1E2B"/>
                </a:solidFill>
                <a:latin typeface="Meiryo" pitchFamily="34" charset="0"/>
                <a:ea typeface="Meiryo" pitchFamily="34" charset="-122"/>
                <a:cs typeface="Meiryo" pitchFamily="34" charset="-120"/>
              </a:rPr>
              <a:t>配置を妨げる不具合</a:t>
            </a:r>
            <a:endParaRPr lang="en-US" sz="1200" dirty="0"/>
          </a:p>
        </p:txBody>
      </p:sp>
      <p:sp>
        <p:nvSpPr>
          <p:cNvPr id="6" name="Shape 4"/>
          <p:cNvSpPr/>
          <p:nvPr/>
        </p:nvSpPr>
        <p:spPr>
          <a:xfrm>
            <a:off x="4160520" y="1865376"/>
            <a:ext cx="658368" cy="310896"/>
          </a:xfrm>
          <a:prstGeom prst="roundRect">
            <a:avLst>
              <a:gd name="adj" fmla="val 20588"/>
            </a:avLst>
          </a:prstGeom>
          <a:solidFill>
            <a:srgbClr val="FBE9E2"/>
          </a:solidFill>
          <a:ln w="12700">
            <a:solidFill>
              <a:srgbClr val="FBE9E2"/>
            </a:solidFill>
            <a:prstDash val="solid"/>
          </a:ln>
        </p:spPr>
      </p:sp>
      <p:sp>
        <p:nvSpPr>
          <p:cNvPr id="7" name="Text 5"/>
          <p:cNvSpPr/>
          <p:nvPr/>
        </p:nvSpPr>
        <p:spPr>
          <a:xfrm>
            <a:off x="4160520" y="1865376"/>
            <a:ext cx="658368" cy="310896"/>
          </a:xfrm>
          <a:prstGeom prst="rect">
            <a:avLst/>
          </a:prstGeom>
          <a:noFill/>
          <a:ln/>
        </p:spPr>
        <p:txBody>
          <a:bodyPr wrap="square" lIns="0" tIns="0" rIns="0" bIns="0" rtlCol="0" anchor="ctr"/>
          <a:lstStyle/>
          <a:p>
            <a:pPr algn="ctr" indent="0" marL="0">
              <a:buNone/>
            </a:pPr>
            <a:r>
              <a:rPr lang="en-US" sz="1050" b="1" dirty="0">
                <a:solidFill>
                  <a:srgbClr val="C4471F"/>
                </a:solidFill>
                <a:latin typeface="Meiryo" pitchFamily="34" charset="0"/>
                <a:ea typeface="Meiryo" pitchFamily="34" charset="-122"/>
                <a:cs typeface="Meiryo" pitchFamily="34" charset="-120"/>
              </a:rPr>
              <a:t>4件</a:t>
            </a:r>
            <a:endParaRPr lang="en-US" sz="1050" dirty="0"/>
          </a:p>
        </p:txBody>
      </p:sp>
      <p:sp>
        <p:nvSpPr>
          <p:cNvPr id="8" name="Text 6"/>
          <p:cNvSpPr/>
          <p:nvPr/>
        </p:nvSpPr>
        <p:spPr>
          <a:xfrm>
            <a:off x="4983480" y="1737360"/>
            <a:ext cx="6309360" cy="566928"/>
          </a:xfrm>
          <a:prstGeom prst="rect">
            <a:avLst/>
          </a:prstGeom>
          <a:noFill/>
          <a:ln/>
        </p:spPr>
        <p:txBody>
          <a:bodyPr wrap="square" lIns="0" tIns="0" rIns="0" bIns="0" rtlCol="0" anchor="ctr"/>
          <a:lstStyle/>
          <a:p>
            <a:pPr indent="0" marL="0">
              <a:buNone/>
            </a:pPr>
            <a:r>
              <a:rPr lang="en-US" sz="1050" dirty="0">
                <a:solidFill>
                  <a:srgbClr val="5E7183"/>
                </a:solidFill>
                <a:latin typeface="Meiryo" pitchFamily="34" charset="0"/>
                <a:ea typeface="Meiryo" pitchFamily="34" charset="-122"/>
                <a:cs typeface="Meiryo" pitchFamily="34" charset="-120"/>
              </a:rPr>
              <a:t>行サイズ超過 / ランタイム画像 / Hangfireのキュー / 鍵の書き込み</a:t>
            </a:r>
            <a:endParaRPr lang="en-US" sz="1050" dirty="0"/>
          </a:p>
        </p:txBody>
      </p:sp>
      <p:sp>
        <p:nvSpPr>
          <p:cNvPr id="9" name="Shape 7"/>
          <p:cNvSpPr/>
          <p:nvPr/>
        </p:nvSpPr>
        <p:spPr>
          <a:xfrm>
            <a:off x="640080" y="2395728"/>
            <a:ext cx="10881360" cy="566928"/>
          </a:xfrm>
          <a:prstGeom prst="roundRect">
            <a:avLst>
              <a:gd name="adj" fmla="val 8065"/>
            </a:avLst>
          </a:prstGeom>
          <a:solidFill>
            <a:srgbClr val="F7FAFC"/>
          </a:solidFill>
          <a:ln w="12700">
            <a:solidFill>
              <a:srgbClr val="F7FAFC"/>
            </a:solidFill>
            <a:prstDash val="solid"/>
          </a:ln>
        </p:spPr>
      </p:sp>
      <p:sp>
        <p:nvSpPr>
          <p:cNvPr id="10" name="Text 8"/>
          <p:cNvSpPr/>
          <p:nvPr/>
        </p:nvSpPr>
        <p:spPr>
          <a:xfrm>
            <a:off x="914400" y="2395728"/>
            <a:ext cx="3200400" cy="566928"/>
          </a:xfrm>
          <a:prstGeom prst="rect">
            <a:avLst/>
          </a:prstGeom>
          <a:noFill/>
          <a:ln/>
        </p:spPr>
        <p:txBody>
          <a:bodyPr wrap="square" lIns="0" tIns="0" rIns="0" bIns="0" rtlCol="0" anchor="ctr"/>
          <a:lstStyle/>
          <a:p>
            <a:pPr indent="0" marL="0">
              <a:buNone/>
            </a:pPr>
            <a:r>
              <a:rPr lang="en-US" sz="1200" b="1" dirty="0">
                <a:solidFill>
                  <a:srgbClr val="0F1E2B"/>
                </a:solidFill>
                <a:latin typeface="Meiryo" pitchFamily="34" charset="0"/>
                <a:ea typeface="Meiryo" pitchFamily="34" charset="-122"/>
                <a:cs typeface="Meiryo" pitchFamily="34" charset="-120"/>
              </a:rPr>
              <a:t>稼働中コンテナのログ未読</a:t>
            </a:r>
            <a:endParaRPr lang="en-US" sz="1200" dirty="0"/>
          </a:p>
        </p:txBody>
      </p:sp>
      <p:sp>
        <p:nvSpPr>
          <p:cNvPr id="11" name="Shape 9"/>
          <p:cNvSpPr/>
          <p:nvPr/>
        </p:nvSpPr>
        <p:spPr>
          <a:xfrm>
            <a:off x="4160520" y="2523744"/>
            <a:ext cx="658368" cy="310896"/>
          </a:xfrm>
          <a:prstGeom prst="roundRect">
            <a:avLst>
              <a:gd name="adj" fmla="val 20588"/>
            </a:avLst>
          </a:prstGeom>
          <a:solidFill>
            <a:srgbClr val="FBE9E2"/>
          </a:solidFill>
          <a:ln w="12700">
            <a:solidFill>
              <a:srgbClr val="FBE9E2"/>
            </a:solidFill>
            <a:prstDash val="solid"/>
          </a:ln>
        </p:spPr>
      </p:sp>
      <p:sp>
        <p:nvSpPr>
          <p:cNvPr id="12" name="Text 10"/>
          <p:cNvSpPr/>
          <p:nvPr/>
        </p:nvSpPr>
        <p:spPr>
          <a:xfrm>
            <a:off x="4160520" y="2523744"/>
            <a:ext cx="658368" cy="310896"/>
          </a:xfrm>
          <a:prstGeom prst="rect">
            <a:avLst/>
          </a:prstGeom>
          <a:noFill/>
          <a:ln/>
        </p:spPr>
        <p:txBody>
          <a:bodyPr wrap="square" lIns="0" tIns="0" rIns="0" bIns="0" rtlCol="0" anchor="ctr"/>
          <a:lstStyle/>
          <a:p>
            <a:pPr algn="ctr" indent="0" marL="0">
              <a:buNone/>
            </a:pPr>
            <a:r>
              <a:rPr lang="en-US" sz="1050" b="1" dirty="0">
                <a:solidFill>
                  <a:srgbClr val="C4471F"/>
                </a:solidFill>
                <a:latin typeface="Meiryo" pitchFamily="34" charset="0"/>
                <a:ea typeface="Meiryo" pitchFamily="34" charset="-122"/>
                <a:cs typeface="Meiryo" pitchFamily="34" charset="-120"/>
              </a:rPr>
              <a:t>1件</a:t>
            </a:r>
            <a:endParaRPr lang="en-US" sz="1050" dirty="0"/>
          </a:p>
        </p:txBody>
      </p:sp>
      <p:sp>
        <p:nvSpPr>
          <p:cNvPr id="13" name="Text 11"/>
          <p:cNvSpPr/>
          <p:nvPr/>
        </p:nvSpPr>
        <p:spPr>
          <a:xfrm>
            <a:off x="4983480" y="2395728"/>
            <a:ext cx="6309360" cy="566928"/>
          </a:xfrm>
          <a:prstGeom prst="rect">
            <a:avLst/>
          </a:prstGeom>
          <a:noFill/>
          <a:ln/>
        </p:spPr>
        <p:txBody>
          <a:bodyPr wrap="square" lIns="0" tIns="0" rIns="0" bIns="0" rtlCol="0" anchor="ctr"/>
          <a:lstStyle/>
          <a:p>
            <a:pPr indent="0" marL="0">
              <a:buNone/>
            </a:pPr>
            <a:r>
              <a:rPr lang="en-US" sz="1050" dirty="0">
                <a:solidFill>
                  <a:srgbClr val="5E7183"/>
                </a:solidFill>
                <a:latin typeface="Meiryo" pitchFamily="34" charset="0"/>
                <a:ea typeface="Meiryo" pitchFamily="34" charset="-122"/>
                <a:cs typeface="Meiryo" pitchFamily="34" charset="-120"/>
              </a:rPr>
              <a:t>ログ検知が停止後にしか当たらず、SC-04が構造的に検知不能</a:t>
            </a:r>
            <a:endParaRPr lang="en-US" sz="1050" dirty="0"/>
          </a:p>
        </p:txBody>
      </p:sp>
      <p:sp>
        <p:nvSpPr>
          <p:cNvPr id="14" name="Shape 12"/>
          <p:cNvSpPr/>
          <p:nvPr/>
        </p:nvSpPr>
        <p:spPr>
          <a:xfrm>
            <a:off x="640080" y="3054096"/>
            <a:ext cx="10881360" cy="566928"/>
          </a:xfrm>
          <a:prstGeom prst="roundRect">
            <a:avLst>
              <a:gd name="adj" fmla="val 8065"/>
            </a:avLst>
          </a:prstGeom>
          <a:solidFill>
            <a:srgbClr val="EEF2F6"/>
          </a:solidFill>
          <a:ln w="12700">
            <a:solidFill>
              <a:srgbClr val="EEF2F6"/>
            </a:solidFill>
            <a:prstDash val="solid"/>
          </a:ln>
        </p:spPr>
      </p:sp>
      <p:sp>
        <p:nvSpPr>
          <p:cNvPr id="15" name="Text 13"/>
          <p:cNvSpPr/>
          <p:nvPr/>
        </p:nvSpPr>
        <p:spPr>
          <a:xfrm>
            <a:off x="914400" y="3054096"/>
            <a:ext cx="3200400" cy="566928"/>
          </a:xfrm>
          <a:prstGeom prst="rect">
            <a:avLst/>
          </a:prstGeom>
          <a:noFill/>
          <a:ln/>
        </p:spPr>
        <p:txBody>
          <a:bodyPr wrap="square" lIns="0" tIns="0" rIns="0" bIns="0" rtlCol="0" anchor="ctr"/>
          <a:lstStyle/>
          <a:p>
            <a:pPr indent="0" marL="0">
              <a:buNone/>
            </a:pPr>
            <a:r>
              <a:rPr lang="en-US" sz="1200" b="1" dirty="0">
                <a:solidFill>
                  <a:srgbClr val="0F1E2B"/>
                </a:solidFill>
                <a:latin typeface="Meiryo" pitchFamily="34" charset="0"/>
                <a:ea typeface="Meiryo" pitchFamily="34" charset="-122"/>
                <a:cs typeface="Meiryo" pitchFamily="34" charset="-120"/>
              </a:rPr>
              <a:t>nginx が更新のたびに502</a:t>
            </a:r>
            <a:endParaRPr lang="en-US" sz="1200" dirty="0"/>
          </a:p>
        </p:txBody>
      </p:sp>
      <p:sp>
        <p:nvSpPr>
          <p:cNvPr id="16" name="Shape 14"/>
          <p:cNvSpPr/>
          <p:nvPr/>
        </p:nvSpPr>
        <p:spPr>
          <a:xfrm>
            <a:off x="4160520" y="3182112"/>
            <a:ext cx="658368" cy="310896"/>
          </a:xfrm>
          <a:prstGeom prst="roundRect">
            <a:avLst>
              <a:gd name="adj" fmla="val 20588"/>
            </a:avLst>
          </a:prstGeom>
          <a:solidFill>
            <a:srgbClr val="FBE9E2"/>
          </a:solidFill>
          <a:ln w="12700">
            <a:solidFill>
              <a:srgbClr val="FBE9E2"/>
            </a:solidFill>
            <a:prstDash val="solid"/>
          </a:ln>
        </p:spPr>
      </p:sp>
      <p:sp>
        <p:nvSpPr>
          <p:cNvPr id="17" name="Text 15"/>
          <p:cNvSpPr/>
          <p:nvPr/>
        </p:nvSpPr>
        <p:spPr>
          <a:xfrm>
            <a:off x="4160520" y="3182112"/>
            <a:ext cx="658368" cy="310896"/>
          </a:xfrm>
          <a:prstGeom prst="rect">
            <a:avLst/>
          </a:prstGeom>
          <a:noFill/>
          <a:ln/>
        </p:spPr>
        <p:txBody>
          <a:bodyPr wrap="square" lIns="0" tIns="0" rIns="0" bIns="0" rtlCol="0" anchor="ctr"/>
          <a:lstStyle/>
          <a:p>
            <a:pPr algn="ctr" indent="0" marL="0">
              <a:buNone/>
            </a:pPr>
            <a:r>
              <a:rPr lang="en-US" sz="1050" b="1" dirty="0">
                <a:solidFill>
                  <a:srgbClr val="C4471F"/>
                </a:solidFill>
                <a:latin typeface="Meiryo" pitchFamily="34" charset="0"/>
                <a:ea typeface="Meiryo" pitchFamily="34" charset="-122"/>
                <a:cs typeface="Meiryo" pitchFamily="34" charset="-120"/>
              </a:rPr>
              <a:t>1件</a:t>
            </a:r>
            <a:endParaRPr lang="en-US" sz="1050" dirty="0"/>
          </a:p>
        </p:txBody>
      </p:sp>
      <p:sp>
        <p:nvSpPr>
          <p:cNvPr id="18" name="Text 16"/>
          <p:cNvSpPr/>
          <p:nvPr/>
        </p:nvSpPr>
        <p:spPr>
          <a:xfrm>
            <a:off x="4983480" y="3054096"/>
            <a:ext cx="6309360" cy="566928"/>
          </a:xfrm>
          <a:prstGeom prst="rect">
            <a:avLst/>
          </a:prstGeom>
          <a:noFill/>
          <a:ln/>
        </p:spPr>
        <p:txBody>
          <a:bodyPr wrap="square" lIns="0" tIns="0" rIns="0" bIns="0" rtlCol="0" anchor="ctr"/>
          <a:lstStyle/>
          <a:p>
            <a:pPr indent="0" marL="0">
              <a:buNone/>
            </a:pPr>
            <a:r>
              <a:rPr lang="en-US" sz="1050" dirty="0">
                <a:solidFill>
                  <a:srgbClr val="5E7183"/>
                </a:solidFill>
                <a:latin typeface="Meiryo" pitchFamily="34" charset="0"/>
                <a:ea typeface="Meiryo" pitchFamily="34" charset="-122"/>
                <a:cs typeface="Meiryo" pitchFamily="34" charset="-120"/>
              </a:rPr>
              <a:t>名前解決を起動時に固定。手で再起動するまで直らない</a:t>
            </a:r>
            <a:endParaRPr lang="en-US" sz="1050" dirty="0"/>
          </a:p>
        </p:txBody>
      </p:sp>
      <p:sp>
        <p:nvSpPr>
          <p:cNvPr id="19" name="Shape 17"/>
          <p:cNvSpPr/>
          <p:nvPr/>
        </p:nvSpPr>
        <p:spPr>
          <a:xfrm>
            <a:off x="640080" y="3712464"/>
            <a:ext cx="10881360" cy="566928"/>
          </a:xfrm>
          <a:prstGeom prst="roundRect">
            <a:avLst>
              <a:gd name="adj" fmla="val 8065"/>
            </a:avLst>
          </a:prstGeom>
          <a:solidFill>
            <a:srgbClr val="F7FAFC"/>
          </a:solidFill>
          <a:ln w="12700">
            <a:solidFill>
              <a:srgbClr val="F7FAFC"/>
            </a:solidFill>
            <a:prstDash val="solid"/>
          </a:ln>
        </p:spPr>
      </p:sp>
      <p:sp>
        <p:nvSpPr>
          <p:cNvPr id="20" name="Text 18"/>
          <p:cNvSpPr/>
          <p:nvPr/>
        </p:nvSpPr>
        <p:spPr>
          <a:xfrm>
            <a:off x="914400" y="3712464"/>
            <a:ext cx="3200400" cy="566928"/>
          </a:xfrm>
          <a:prstGeom prst="rect">
            <a:avLst/>
          </a:prstGeom>
          <a:noFill/>
          <a:ln/>
        </p:spPr>
        <p:txBody>
          <a:bodyPr wrap="square" lIns="0" tIns="0" rIns="0" bIns="0" rtlCol="0" anchor="ctr"/>
          <a:lstStyle/>
          <a:p>
            <a:pPr indent="0" marL="0">
              <a:buNone/>
            </a:pPr>
            <a:r>
              <a:rPr lang="en-US" sz="1200" b="1" dirty="0">
                <a:solidFill>
                  <a:srgbClr val="0F1E2B"/>
                </a:solidFill>
                <a:latin typeface="Meiryo" pitchFamily="34" charset="0"/>
                <a:ea typeface="Meiryo" pitchFamily="34" charset="-122"/>
                <a:cs typeface="Meiryo" pitchFamily="34" charset="-120"/>
              </a:rPr>
              <a:t>healthcheck が常に失敗</a:t>
            </a:r>
            <a:endParaRPr lang="en-US" sz="1200" dirty="0"/>
          </a:p>
        </p:txBody>
      </p:sp>
      <p:sp>
        <p:nvSpPr>
          <p:cNvPr id="21" name="Shape 19"/>
          <p:cNvSpPr/>
          <p:nvPr/>
        </p:nvSpPr>
        <p:spPr>
          <a:xfrm>
            <a:off x="4160520" y="3840480"/>
            <a:ext cx="658368" cy="310896"/>
          </a:xfrm>
          <a:prstGeom prst="roundRect">
            <a:avLst>
              <a:gd name="adj" fmla="val 20588"/>
            </a:avLst>
          </a:prstGeom>
          <a:solidFill>
            <a:srgbClr val="FBE9E2"/>
          </a:solidFill>
          <a:ln w="12700">
            <a:solidFill>
              <a:srgbClr val="FBE9E2"/>
            </a:solidFill>
            <a:prstDash val="solid"/>
          </a:ln>
        </p:spPr>
      </p:sp>
      <p:sp>
        <p:nvSpPr>
          <p:cNvPr id="22" name="Text 20"/>
          <p:cNvSpPr/>
          <p:nvPr/>
        </p:nvSpPr>
        <p:spPr>
          <a:xfrm>
            <a:off x="4160520" y="3840480"/>
            <a:ext cx="658368" cy="310896"/>
          </a:xfrm>
          <a:prstGeom prst="rect">
            <a:avLst/>
          </a:prstGeom>
          <a:noFill/>
          <a:ln/>
        </p:spPr>
        <p:txBody>
          <a:bodyPr wrap="square" lIns="0" tIns="0" rIns="0" bIns="0" rtlCol="0" anchor="ctr"/>
          <a:lstStyle/>
          <a:p>
            <a:pPr algn="ctr" indent="0" marL="0">
              <a:buNone/>
            </a:pPr>
            <a:r>
              <a:rPr lang="en-US" sz="1050" b="1" dirty="0">
                <a:solidFill>
                  <a:srgbClr val="C4471F"/>
                </a:solidFill>
                <a:latin typeface="Meiryo" pitchFamily="34" charset="0"/>
                <a:ea typeface="Meiryo" pitchFamily="34" charset="-122"/>
                <a:cs typeface="Meiryo" pitchFamily="34" charset="-120"/>
              </a:rPr>
              <a:t>3件</a:t>
            </a:r>
            <a:endParaRPr lang="en-US" sz="1050" dirty="0"/>
          </a:p>
        </p:txBody>
      </p:sp>
      <p:sp>
        <p:nvSpPr>
          <p:cNvPr id="23" name="Text 21"/>
          <p:cNvSpPr/>
          <p:nvPr/>
        </p:nvSpPr>
        <p:spPr>
          <a:xfrm>
            <a:off x="4983480" y="3712464"/>
            <a:ext cx="6309360" cy="566928"/>
          </a:xfrm>
          <a:prstGeom prst="rect">
            <a:avLst/>
          </a:prstGeom>
          <a:noFill/>
          <a:ln/>
        </p:spPr>
        <p:txBody>
          <a:bodyPr wrap="square" lIns="0" tIns="0" rIns="0" bIns="0" rtlCol="0" anchor="ctr"/>
          <a:lstStyle/>
          <a:p>
            <a:pPr indent="0" marL="0">
              <a:buNone/>
            </a:pPr>
            <a:r>
              <a:rPr lang="en-US" sz="1050" dirty="0">
                <a:solidFill>
                  <a:srgbClr val="5E7183"/>
                </a:solidFill>
                <a:latin typeface="Meiryo" pitchFamily="34" charset="0"/>
                <a:ea typeface="Meiryo" pitchFamily="34" charset="-122"/>
                <a:cs typeface="Meiryo" pitchFamily="34" charset="-120"/>
              </a:rPr>
              <a:t>localhost が IPv6 になる / Worker の心拍が未登録</a:t>
            </a:r>
            <a:endParaRPr lang="en-US" sz="1050" dirty="0"/>
          </a:p>
        </p:txBody>
      </p:sp>
      <p:sp>
        <p:nvSpPr>
          <p:cNvPr id="24" name="Shape 22"/>
          <p:cNvSpPr/>
          <p:nvPr/>
        </p:nvSpPr>
        <p:spPr>
          <a:xfrm>
            <a:off x="640080" y="4370832"/>
            <a:ext cx="10881360" cy="566928"/>
          </a:xfrm>
          <a:prstGeom prst="roundRect">
            <a:avLst>
              <a:gd name="adj" fmla="val 8065"/>
            </a:avLst>
          </a:prstGeom>
          <a:solidFill>
            <a:srgbClr val="EEF2F6"/>
          </a:solidFill>
          <a:ln w="12700">
            <a:solidFill>
              <a:srgbClr val="EEF2F6"/>
            </a:solidFill>
            <a:prstDash val="solid"/>
          </a:ln>
        </p:spPr>
      </p:sp>
      <p:sp>
        <p:nvSpPr>
          <p:cNvPr id="25" name="Text 23"/>
          <p:cNvSpPr/>
          <p:nvPr/>
        </p:nvSpPr>
        <p:spPr>
          <a:xfrm>
            <a:off x="914400" y="4370832"/>
            <a:ext cx="3200400" cy="566928"/>
          </a:xfrm>
          <a:prstGeom prst="rect">
            <a:avLst/>
          </a:prstGeom>
          <a:noFill/>
          <a:ln/>
        </p:spPr>
        <p:txBody>
          <a:bodyPr wrap="square" lIns="0" tIns="0" rIns="0" bIns="0" rtlCol="0" anchor="ctr"/>
          <a:lstStyle/>
          <a:p>
            <a:pPr indent="0" marL="0">
              <a:buNone/>
            </a:pPr>
            <a:r>
              <a:rPr lang="en-US" sz="1200" b="1" dirty="0">
                <a:solidFill>
                  <a:srgbClr val="0F1E2B"/>
                </a:solidFill>
                <a:latin typeface="Meiryo" pitchFamily="34" charset="0"/>
                <a:ea typeface="Meiryo" pitchFamily="34" charset="-122"/>
                <a:cs typeface="Meiryo" pitchFamily="34" charset="-120"/>
              </a:rPr>
              <a:t>基準#6 が未試験で達成表示</a:t>
            </a:r>
            <a:endParaRPr lang="en-US" sz="1200" dirty="0"/>
          </a:p>
        </p:txBody>
      </p:sp>
      <p:sp>
        <p:nvSpPr>
          <p:cNvPr id="26" name="Shape 24"/>
          <p:cNvSpPr/>
          <p:nvPr/>
        </p:nvSpPr>
        <p:spPr>
          <a:xfrm>
            <a:off x="4160520" y="4498848"/>
            <a:ext cx="658368" cy="310896"/>
          </a:xfrm>
          <a:prstGeom prst="roundRect">
            <a:avLst>
              <a:gd name="adj" fmla="val 20588"/>
            </a:avLst>
          </a:prstGeom>
          <a:solidFill>
            <a:srgbClr val="FBE9E2"/>
          </a:solidFill>
          <a:ln w="12700">
            <a:solidFill>
              <a:srgbClr val="FBE9E2"/>
            </a:solidFill>
            <a:prstDash val="solid"/>
          </a:ln>
        </p:spPr>
      </p:sp>
      <p:sp>
        <p:nvSpPr>
          <p:cNvPr id="27" name="Text 25"/>
          <p:cNvSpPr/>
          <p:nvPr/>
        </p:nvSpPr>
        <p:spPr>
          <a:xfrm>
            <a:off x="4160520" y="4498848"/>
            <a:ext cx="658368" cy="310896"/>
          </a:xfrm>
          <a:prstGeom prst="rect">
            <a:avLst/>
          </a:prstGeom>
          <a:noFill/>
          <a:ln/>
        </p:spPr>
        <p:txBody>
          <a:bodyPr wrap="square" lIns="0" tIns="0" rIns="0" bIns="0" rtlCol="0" anchor="ctr"/>
          <a:lstStyle/>
          <a:p>
            <a:pPr algn="ctr" indent="0" marL="0">
              <a:buNone/>
            </a:pPr>
            <a:r>
              <a:rPr lang="en-US" sz="1050" b="1" dirty="0">
                <a:solidFill>
                  <a:srgbClr val="C4471F"/>
                </a:solidFill>
                <a:latin typeface="Meiryo" pitchFamily="34" charset="0"/>
                <a:ea typeface="Meiryo" pitchFamily="34" charset="-122"/>
                <a:cs typeface="Meiryo" pitchFamily="34" charset="-120"/>
              </a:rPr>
              <a:t>1件</a:t>
            </a:r>
            <a:endParaRPr lang="en-US" sz="1050" dirty="0"/>
          </a:p>
        </p:txBody>
      </p:sp>
      <p:sp>
        <p:nvSpPr>
          <p:cNvPr id="28" name="Text 26"/>
          <p:cNvSpPr/>
          <p:nvPr/>
        </p:nvSpPr>
        <p:spPr>
          <a:xfrm>
            <a:off x="4983480" y="4370832"/>
            <a:ext cx="6309360" cy="566928"/>
          </a:xfrm>
          <a:prstGeom prst="rect">
            <a:avLst/>
          </a:prstGeom>
          <a:noFill/>
          <a:ln/>
        </p:spPr>
        <p:txBody>
          <a:bodyPr wrap="square" lIns="0" tIns="0" rIns="0" bIns="0" rtlCol="0" anchor="ctr"/>
          <a:lstStyle/>
          <a:p>
            <a:pPr indent="0" marL="0">
              <a:buNone/>
            </a:pPr>
            <a:r>
              <a:rPr lang="en-US" sz="1050" dirty="0">
                <a:solidFill>
                  <a:srgbClr val="5E7183"/>
                </a:solidFill>
                <a:latin typeface="Meiryo" pitchFamily="34" charset="0"/>
                <a:ea typeface="Meiryo" pitchFamily="34" charset="-122"/>
                <a:cs typeface="Meiryo" pitchFamily="34" charset="-120"/>
              </a:rPr>
              <a:t>判定の分母が別の値だった</a:t>
            </a:r>
            <a:endParaRPr lang="en-US" sz="1050" dirty="0"/>
          </a:p>
        </p:txBody>
      </p:sp>
      <p:sp>
        <p:nvSpPr>
          <p:cNvPr id="29" name="Shape 27"/>
          <p:cNvSpPr/>
          <p:nvPr/>
        </p:nvSpPr>
        <p:spPr>
          <a:xfrm>
            <a:off x="640080" y="5029200"/>
            <a:ext cx="10881360" cy="566928"/>
          </a:xfrm>
          <a:prstGeom prst="roundRect">
            <a:avLst>
              <a:gd name="adj" fmla="val 8065"/>
            </a:avLst>
          </a:prstGeom>
          <a:solidFill>
            <a:srgbClr val="F7FAFC"/>
          </a:solidFill>
          <a:ln w="12700">
            <a:solidFill>
              <a:srgbClr val="F7FAFC"/>
            </a:solidFill>
            <a:prstDash val="solid"/>
          </a:ln>
        </p:spPr>
      </p:sp>
      <p:sp>
        <p:nvSpPr>
          <p:cNvPr id="30" name="Text 28"/>
          <p:cNvSpPr/>
          <p:nvPr/>
        </p:nvSpPr>
        <p:spPr>
          <a:xfrm>
            <a:off x="914400" y="5029200"/>
            <a:ext cx="3200400" cy="566928"/>
          </a:xfrm>
          <a:prstGeom prst="rect">
            <a:avLst/>
          </a:prstGeom>
          <a:noFill/>
          <a:ln/>
        </p:spPr>
        <p:txBody>
          <a:bodyPr wrap="square" lIns="0" tIns="0" rIns="0" bIns="0" rtlCol="0" anchor="ctr"/>
          <a:lstStyle/>
          <a:p>
            <a:pPr indent="0" marL="0">
              <a:buNone/>
            </a:pPr>
            <a:r>
              <a:rPr lang="en-US" sz="1200" b="1" dirty="0">
                <a:solidFill>
                  <a:srgbClr val="0F1E2B"/>
                </a:solidFill>
                <a:latin typeface="Meiryo" pitchFamily="34" charset="0"/>
                <a:ea typeface="Meiryo" pitchFamily="34" charset="-122"/>
                <a:cs typeface="Meiryo" pitchFamily="34" charset="-120"/>
              </a:rPr>
              <a:t>配色が WCAG 2.2 AA 未達</a:t>
            </a:r>
            <a:endParaRPr lang="en-US" sz="1200" dirty="0"/>
          </a:p>
        </p:txBody>
      </p:sp>
      <p:sp>
        <p:nvSpPr>
          <p:cNvPr id="31" name="Shape 29"/>
          <p:cNvSpPr/>
          <p:nvPr/>
        </p:nvSpPr>
        <p:spPr>
          <a:xfrm>
            <a:off x="4160520" y="5157216"/>
            <a:ext cx="658368" cy="310896"/>
          </a:xfrm>
          <a:prstGeom prst="roundRect">
            <a:avLst>
              <a:gd name="adj" fmla="val 20588"/>
            </a:avLst>
          </a:prstGeom>
          <a:solidFill>
            <a:srgbClr val="FBE9E2"/>
          </a:solidFill>
          <a:ln w="12700">
            <a:solidFill>
              <a:srgbClr val="FBE9E2"/>
            </a:solidFill>
            <a:prstDash val="solid"/>
          </a:ln>
        </p:spPr>
      </p:sp>
      <p:sp>
        <p:nvSpPr>
          <p:cNvPr id="32" name="Text 30"/>
          <p:cNvSpPr/>
          <p:nvPr/>
        </p:nvSpPr>
        <p:spPr>
          <a:xfrm>
            <a:off x="4160520" y="5157216"/>
            <a:ext cx="658368" cy="310896"/>
          </a:xfrm>
          <a:prstGeom prst="rect">
            <a:avLst/>
          </a:prstGeom>
          <a:noFill/>
          <a:ln/>
        </p:spPr>
        <p:txBody>
          <a:bodyPr wrap="square" lIns="0" tIns="0" rIns="0" bIns="0" rtlCol="0" anchor="ctr"/>
          <a:lstStyle/>
          <a:p>
            <a:pPr algn="ctr" indent="0" marL="0">
              <a:buNone/>
            </a:pPr>
            <a:r>
              <a:rPr lang="en-US" sz="1050" b="1" dirty="0">
                <a:solidFill>
                  <a:srgbClr val="C4471F"/>
                </a:solidFill>
                <a:latin typeface="Meiryo" pitchFamily="34" charset="0"/>
                <a:ea typeface="Meiryo" pitchFamily="34" charset="-122"/>
                <a:cs typeface="Meiryo" pitchFamily="34" charset="-120"/>
              </a:rPr>
              <a:t>6件</a:t>
            </a:r>
            <a:endParaRPr lang="en-US" sz="1050" dirty="0"/>
          </a:p>
        </p:txBody>
      </p:sp>
      <p:sp>
        <p:nvSpPr>
          <p:cNvPr id="33" name="Text 31"/>
          <p:cNvSpPr/>
          <p:nvPr/>
        </p:nvSpPr>
        <p:spPr>
          <a:xfrm>
            <a:off x="4983480" y="5029200"/>
            <a:ext cx="6309360" cy="566928"/>
          </a:xfrm>
          <a:prstGeom prst="rect">
            <a:avLst/>
          </a:prstGeom>
          <a:noFill/>
          <a:ln/>
        </p:spPr>
        <p:txBody>
          <a:bodyPr wrap="square" lIns="0" tIns="0" rIns="0" bIns="0" rtlCol="0" anchor="ctr"/>
          <a:lstStyle/>
          <a:p>
            <a:pPr indent="0" marL="0">
              <a:buNone/>
            </a:pPr>
            <a:r>
              <a:rPr lang="en-US" sz="1050" dirty="0">
                <a:solidFill>
                  <a:srgbClr val="5E7183"/>
                </a:solidFill>
                <a:latin typeface="Meiryo" pitchFamily="34" charset="0"/>
                <a:ea typeface="Meiryo" pitchFamily="34" charset="-122"/>
                <a:cs typeface="Meiryo" pitchFamily="34" charset="-120"/>
              </a:rPr>
              <a:t>暗い配色の主ボタンが 2.34:1(必要 4.5:1)</a:t>
            </a:r>
            <a:endParaRPr lang="en-US" sz="1050" dirty="0"/>
          </a:p>
        </p:txBody>
      </p:sp>
      <p:sp>
        <p:nvSpPr>
          <p:cNvPr id="34" name="Text 32"/>
          <p:cNvSpPr/>
          <p:nvPr/>
        </p:nvSpPr>
        <p:spPr>
          <a:xfrm>
            <a:off x="640080" y="5760720"/>
            <a:ext cx="10881360" cy="274320"/>
          </a:xfrm>
          <a:prstGeom prst="rect">
            <a:avLst/>
          </a:prstGeom>
          <a:noFill/>
          <a:ln/>
        </p:spPr>
        <p:txBody>
          <a:bodyPr wrap="square" lIns="0" tIns="0" rIns="0" bIns="0" rtlCol="0" anchor="ctr"/>
          <a:lstStyle/>
          <a:p>
            <a:pPr indent="0" marL="0">
              <a:buNone/>
            </a:pPr>
            <a:r>
              <a:rPr lang="en-US" sz="1150" b="1" dirty="0">
                <a:solidFill>
                  <a:srgbClr val="C4471F"/>
                </a:solidFill>
                <a:latin typeface="Meiryo" pitchFamily="34" charset="0"/>
                <a:ea typeface="Meiryo" pitchFamily="34" charset="-122"/>
                <a:cs typeface="Meiryo" pitchFamily="34" charset="-120"/>
              </a:rPr>
              <a:t>いずれも自動試験がすべて緑の状態で見つかったもの</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自律型サーバー運用支援システム</dc:title>
  <dc:subject>PptxGenJS Presentation</dc:subject>
  <dc:creator>自律型サーバー運用支援システム</dc:creator>
  <cp:lastModifiedBy>自律型サーバー運用支援システム</cp:lastModifiedBy>
  <cp:revision>1</cp:revision>
  <dcterms:created xsi:type="dcterms:W3CDTF">2026-08-08T17:18:44Z</dcterms:created>
  <dcterms:modified xsi:type="dcterms:W3CDTF">2026-08-08T17:18:44Z</dcterms:modified>
</cp:coreProperties>
</file>